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32176F-32FC-4B2D-9DB5-BA660873AEC7}" v="4" dt="2026-04-19T20:09:23.2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6" d="100"/>
          <a:sy n="86" d="100"/>
        </p:scale>
        <p:origin x="108" y="1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esh Eeda" userId="b786a91107023b8f" providerId="LiveId" clId="{3B8757CD-98FE-45A0-86B0-42A5BD303DC6}"/>
    <pc:docChg chg="undo custSel modSld">
      <pc:chgData name="Rajesh Eeda" userId="b786a91107023b8f" providerId="LiveId" clId="{3B8757CD-98FE-45A0-86B0-42A5BD303DC6}" dt="2026-04-19T20:15:36.149" v="62" actId="207"/>
      <pc:docMkLst>
        <pc:docMk/>
      </pc:docMkLst>
      <pc:sldChg chg="delSp modSp mod">
        <pc:chgData name="Rajesh Eeda" userId="b786a91107023b8f" providerId="LiveId" clId="{3B8757CD-98FE-45A0-86B0-42A5BD303DC6}" dt="2026-04-19T20:15:36.149" v="62" actId="207"/>
        <pc:sldMkLst>
          <pc:docMk/>
          <pc:sldMk cId="0" sldId="256"/>
        </pc:sldMkLst>
        <pc:spChg chg="mod">
          <ac:chgData name="Rajesh Eeda" userId="b786a91107023b8f" providerId="LiveId" clId="{3B8757CD-98FE-45A0-86B0-42A5BD303DC6}" dt="2026-04-19T20:15:08.378" v="59" actId="207"/>
          <ac:spMkLst>
            <pc:docMk/>
            <pc:sldMk cId="0" sldId="256"/>
            <ac:spMk id="5" creationId="{00000000-0000-0000-0000-000000000000}"/>
          </ac:spMkLst>
        </pc:spChg>
        <pc:spChg chg="mod">
          <ac:chgData name="Rajesh Eeda" userId="b786a91107023b8f" providerId="LiveId" clId="{3B8757CD-98FE-45A0-86B0-42A5BD303DC6}" dt="2026-04-19T20:15:36.149" v="62" actId="207"/>
          <ac:spMkLst>
            <pc:docMk/>
            <pc:sldMk cId="0" sldId="256"/>
            <ac:spMk id="7" creationId="{00000000-0000-0000-0000-000000000000}"/>
          </ac:spMkLst>
        </pc:spChg>
        <pc:spChg chg="mod">
          <ac:chgData name="Rajesh Eeda" userId="b786a91107023b8f" providerId="LiveId" clId="{3B8757CD-98FE-45A0-86B0-42A5BD303DC6}" dt="2026-04-19T20:15:29.348" v="61" actId="207"/>
          <ac:spMkLst>
            <pc:docMk/>
            <pc:sldMk cId="0" sldId="256"/>
            <ac:spMk id="10" creationId="{00000000-0000-0000-0000-000000000000}"/>
          </ac:spMkLst>
        </pc:spChg>
        <pc:spChg chg="del mod">
          <ac:chgData name="Rajesh Eeda" userId="b786a91107023b8f" providerId="LiveId" clId="{3B8757CD-98FE-45A0-86B0-42A5BD303DC6}" dt="2026-04-19T20:09:17.954" v="23" actId="478"/>
          <ac:spMkLst>
            <pc:docMk/>
            <pc:sldMk cId="0" sldId="256"/>
            <ac:spMk id="12" creationId="{00000000-0000-0000-0000-000000000000}"/>
          </ac:spMkLst>
        </pc:spChg>
        <pc:spChg chg="mod">
          <ac:chgData name="Rajesh Eeda" userId="b786a91107023b8f" providerId="LiveId" clId="{3B8757CD-98FE-45A0-86B0-42A5BD303DC6}" dt="2026-04-19T20:09:48.376" v="29" actId="20577"/>
          <ac:spMkLst>
            <pc:docMk/>
            <pc:sldMk cId="0" sldId="256"/>
            <ac:spMk id="13" creationId="{00000000-0000-0000-0000-000000000000}"/>
          </ac:spMkLst>
        </pc:spChg>
      </pc:sldChg>
      <pc:sldChg chg="addSp modSp mod">
        <pc:chgData name="Rajesh Eeda" userId="b786a91107023b8f" providerId="LiveId" clId="{3B8757CD-98FE-45A0-86B0-42A5BD303DC6}" dt="2026-04-19T20:06:06.712" v="9" actId="14100"/>
        <pc:sldMkLst>
          <pc:docMk/>
          <pc:sldMk cId="0" sldId="264"/>
        </pc:sldMkLst>
        <pc:picChg chg="add mod">
          <ac:chgData name="Rajesh Eeda" userId="b786a91107023b8f" providerId="LiveId" clId="{3B8757CD-98FE-45A0-86B0-42A5BD303DC6}" dt="2026-04-19T20:06:06.712" v="9" actId="14100"/>
          <ac:picMkLst>
            <pc:docMk/>
            <pc:sldMk cId="0" sldId="264"/>
            <ac:picMk id="24" creationId="{B80C1143-4ECA-C56B-C15E-1C5608B85469}"/>
          </ac:picMkLst>
        </pc:picChg>
      </pc:sldChg>
      <pc:sldChg chg="modSp mod">
        <pc:chgData name="Rajesh Eeda" userId="b786a91107023b8f" providerId="LiveId" clId="{3B8757CD-98FE-45A0-86B0-42A5BD303DC6}" dt="2026-04-19T20:14:15.524" v="57" actId="108"/>
        <pc:sldMkLst>
          <pc:docMk/>
          <pc:sldMk cId="0" sldId="265"/>
        </pc:sldMkLst>
        <pc:spChg chg="mod">
          <ac:chgData name="Rajesh Eeda" userId="b786a91107023b8f" providerId="LiveId" clId="{3B8757CD-98FE-45A0-86B0-42A5BD303DC6}" dt="2026-04-19T20:06:43.929" v="11" actId="1076"/>
          <ac:spMkLst>
            <pc:docMk/>
            <pc:sldMk cId="0" sldId="265"/>
            <ac:spMk id="29" creationId="{00000000-0000-0000-0000-000000000000}"/>
          </ac:spMkLst>
        </pc:spChg>
        <pc:spChg chg="mod">
          <ac:chgData name="Rajesh Eeda" userId="b786a91107023b8f" providerId="LiveId" clId="{3B8757CD-98FE-45A0-86B0-42A5BD303DC6}" dt="2026-04-19T20:07:02.683" v="14" actId="1076"/>
          <ac:spMkLst>
            <pc:docMk/>
            <pc:sldMk cId="0" sldId="265"/>
            <ac:spMk id="30" creationId="{00000000-0000-0000-0000-000000000000}"/>
          </ac:spMkLst>
        </pc:spChg>
        <pc:spChg chg="mod">
          <ac:chgData name="Rajesh Eeda" userId="b786a91107023b8f" providerId="LiveId" clId="{3B8757CD-98FE-45A0-86B0-42A5BD303DC6}" dt="2026-04-19T20:13:48.714" v="54" actId="207"/>
          <ac:spMkLst>
            <pc:docMk/>
            <pc:sldMk cId="0" sldId="265"/>
            <ac:spMk id="31" creationId="{00000000-0000-0000-0000-000000000000}"/>
          </ac:spMkLst>
        </pc:spChg>
        <pc:spChg chg="mod">
          <ac:chgData name="Rajesh Eeda" userId="b786a91107023b8f" providerId="LiveId" clId="{3B8757CD-98FE-45A0-86B0-42A5BD303DC6}" dt="2026-04-19T20:14:15.524" v="57" actId="108"/>
          <ac:spMkLst>
            <pc:docMk/>
            <pc:sldMk cId="0" sldId="265"/>
            <ac:spMk id="32" creationId="{00000000-0000-0000-0000-000000000000}"/>
          </ac:spMkLst>
        </pc:spChg>
        <pc:spChg chg="mod">
          <ac:chgData name="Rajesh Eeda" userId="b786a91107023b8f" providerId="LiveId" clId="{3B8757CD-98FE-45A0-86B0-42A5BD303DC6}" dt="2026-04-19T20:13:40.692" v="53" actId="207"/>
          <ac:spMkLst>
            <pc:docMk/>
            <pc:sldMk cId="0" sldId="265"/>
            <ac:spMk id="33" creationId="{00000000-0000-0000-0000-000000000000}"/>
          </ac:spMkLst>
        </pc:spChg>
        <pc:spChg chg="mod">
          <ac:chgData name="Rajesh Eeda" userId="b786a91107023b8f" providerId="LiveId" clId="{3B8757CD-98FE-45A0-86B0-42A5BD303DC6}" dt="2026-04-19T20:13:15.788" v="50" actId="108"/>
          <ac:spMkLst>
            <pc:docMk/>
            <pc:sldMk cId="0" sldId="265"/>
            <ac:spMk id="34" creationId="{00000000-0000-0000-0000-000000000000}"/>
          </ac:spMkLst>
        </pc:spChg>
      </pc:sldChg>
      <pc:sldChg chg="modSp mod">
        <pc:chgData name="Rajesh Eeda" userId="b786a91107023b8f" providerId="LiveId" clId="{3B8757CD-98FE-45A0-86B0-42A5BD303DC6}" dt="2026-04-19T20:10:32.445" v="44" actId="20577"/>
        <pc:sldMkLst>
          <pc:docMk/>
          <pc:sldMk cId="0" sldId="271"/>
        </pc:sldMkLst>
        <pc:spChg chg="mod">
          <ac:chgData name="Rajesh Eeda" userId="b786a91107023b8f" providerId="LiveId" clId="{3B8757CD-98FE-45A0-86B0-42A5BD303DC6}" dt="2026-04-19T20:07:30.046" v="16" actId="1076"/>
          <ac:spMkLst>
            <pc:docMk/>
            <pc:sldMk cId="0" sldId="271"/>
            <ac:spMk id="46" creationId="{00000000-0000-0000-0000-000000000000}"/>
          </ac:spMkLst>
        </pc:spChg>
        <pc:spChg chg="mod">
          <ac:chgData name="Rajesh Eeda" userId="b786a91107023b8f" providerId="LiveId" clId="{3B8757CD-98FE-45A0-86B0-42A5BD303DC6}" dt="2026-04-19T20:07:36.958" v="18" actId="1076"/>
          <ac:spMkLst>
            <pc:docMk/>
            <pc:sldMk cId="0" sldId="271"/>
            <ac:spMk id="47" creationId="{00000000-0000-0000-0000-000000000000}"/>
          </ac:spMkLst>
        </pc:spChg>
        <pc:spChg chg="mod">
          <ac:chgData name="Rajesh Eeda" userId="b786a91107023b8f" providerId="LiveId" clId="{3B8757CD-98FE-45A0-86B0-42A5BD303DC6}" dt="2026-04-19T20:07:34.391" v="17" actId="1076"/>
          <ac:spMkLst>
            <pc:docMk/>
            <pc:sldMk cId="0" sldId="271"/>
            <ac:spMk id="48" creationId="{00000000-0000-0000-0000-000000000000}"/>
          </ac:spMkLst>
        </pc:spChg>
        <pc:spChg chg="mod">
          <ac:chgData name="Rajesh Eeda" userId="b786a91107023b8f" providerId="LiveId" clId="{3B8757CD-98FE-45A0-86B0-42A5BD303DC6}" dt="2026-04-19T20:07:46.783" v="20" actId="1076"/>
          <ac:spMkLst>
            <pc:docMk/>
            <pc:sldMk cId="0" sldId="271"/>
            <ac:spMk id="49" creationId="{00000000-0000-0000-0000-000000000000}"/>
          </ac:spMkLst>
        </pc:spChg>
        <pc:spChg chg="mod">
          <ac:chgData name="Rajesh Eeda" userId="b786a91107023b8f" providerId="LiveId" clId="{3B8757CD-98FE-45A0-86B0-42A5BD303DC6}" dt="2026-04-19T20:07:42.096" v="19" actId="1076"/>
          <ac:spMkLst>
            <pc:docMk/>
            <pc:sldMk cId="0" sldId="271"/>
            <ac:spMk id="50" creationId="{00000000-0000-0000-0000-000000000000}"/>
          </ac:spMkLst>
        </pc:spChg>
        <pc:spChg chg="mod">
          <ac:chgData name="Rajesh Eeda" userId="b786a91107023b8f" providerId="LiveId" clId="{3B8757CD-98FE-45A0-86B0-42A5BD303DC6}" dt="2026-04-19T20:10:32.445" v="44" actId="20577"/>
          <ac:spMkLst>
            <pc:docMk/>
            <pc:sldMk cId="0" sldId="271"/>
            <ac:spMk id="5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4146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3A5F"/>
          </a:solidFill>
          <a:ln w="12700">
            <a:solidFill>
              <a:srgbClr val="1E3A5F"/>
            </a:solidFill>
            <a:prstDash val="solid"/>
          </a:ln>
        </p:spPr>
        <p:txBody>
          <a:bodyPr/>
          <a:lstStyle/>
          <a:p>
            <a:endParaRPr lang="en-IN"/>
          </a:p>
        </p:txBody>
      </p:sp>
      <p:sp>
        <p:nvSpPr>
          <p:cNvPr id="3" name="Text 1"/>
          <p:cNvSpPr/>
          <p:nvPr/>
        </p:nvSpPr>
        <p:spPr>
          <a:xfrm>
            <a:off x="320040" y="73152"/>
            <a:ext cx="457200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Government of Andhra Pradesh</a:t>
            </a:r>
            <a:endParaRPr lang="en-US" sz="1100" dirty="0"/>
          </a:p>
        </p:txBody>
      </p:sp>
      <p:sp>
        <p:nvSpPr>
          <p:cNvPr id="4" name="Text 2"/>
          <p:cNvSpPr/>
          <p:nvPr/>
        </p:nvSpPr>
        <p:spPr>
          <a:xfrm>
            <a:off x="320040" y="329184"/>
            <a:ext cx="5486400" cy="201168"/>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APSDMA · RTGS · AP Water Resources Department</a:t>
            </a:r>
            <a:endParaRPr lang="en-US" sz="900" dirty="0"/>
          </a:p>
        </p:txBody>
      </p:sp>
      <p:sp>
        <p:nvSpPr>
          <p:cNvPr id="5" name="Shape 3"/>
          <p:cNvSpPr/>
          <p:nvPr/>
        </p:nvSpPr>
        <p:spPr>
          <a:xfrm>
            <a:off x="6876288" y="182880"/>
            <a:ext cx="713232" cy="274320"/>
          </a:xfrm>
          <a:prstGeom prst="rect">
            <a:avLst/>
          </a:prstGeom>
          <a:solidFill>
            <a:schemeClr val="bg1"/>
          </a:solidFill>
          <a:ln w="12700">
            <a:solidFill>
              <a:srgbClr val="0EA5E9"/>
            </a:solidFill>
            <a:prstDash val="solid"/>
          </a:ln>
        </p:spPr>
        <p:txBody>
          <a:bodyPr/>
          <a:lstStyle/>
          <a:p>
            <a:endParaRPr lang="en-IN" dirty="0">
              <a:highlight>
                <a:srgbClr val="00FFFF"/>
              </a:highlight>
            </a:endParaRPr>
          </a:p>
        </p:txBody>
      </p:sp>
      <p:sp>
        <p:nvSpPr>
          <p:cNvPr id="6" name="Text 4"/>
          <p:cNvSpPr/>
          <p:nvPr/>
        </p:nvSpPr>
        <p:spPr>
          <a:xfrm>
            <a:off x="6858000" y="182880"/>
            <a:ext cx="713232" cy="274320"/>
          </a:xfrm>
          <a:prstGeom prst="rect">
            <a:avLst/>
          </a:prstGeom>
          <a:noFill/>
          <a:ln/>
        </p:spPr>
        <p:txBody>
          <a:bodyPr wrap="square" lIns="0" tIns="0" rIns="0" bIns="0" rtlCol="0" anchor="ctr"/>
          <a:lstStyle/>
          <a:p>
            <a:pPr marL="0" indent="0" algn="ctr">
              <a:buNone/>
            </a:pPr>
            <a:r>
              <a:rPr lang="en-US" sz="750" b="1" dirty="0">
                <a:solidFill>
                  <a:srgbClr val="0A1628"/>
                </a:solidFill>
                <a:latin typeface="Calibri" pitchFamily="34" charset="0"/>
                <a:ea typeface="Calibri" pitchFamily="34" charset="-122"/>
                <a:cs typeface="Calibri" pitchFamily="34" charset="-120"/>
              </a:rPr>
              <a:t>👩 Women-Led</a:t>
            </a:r>
            <a:endParaRPr lang="en-US" sz="750" dirty="0"/>
          </a:p>
        </p:txBody>
      </p:sp>
      <p:sp>
        <p:nvSpPr>
          <p:cNvPr id="7" name="Shape 5"/>
          <p:cNvSpPr/>
          <p:nvPr/>
        </p:nvSpPr>
        <p:spPr>
          <a:xfrm>
            <a:off x="7607808" y="182880"/>
            <a:ext cx="713232" cy="274320"/>
          </a:xfrm>
          <a:prstGeom prst="rect">
            <a:avLst/>
          </a:prstGeom>
          <a:solidFill>
            <a:schemeClr val="bg1"/>
          </a:solidFill>
          <a:ln w="12700">
            <a:solidFill>
              <a:srgbClr val="0EA5E9"/>
            </a:solidFill>
            <a:prstDash val="solid"/>
          </a:ln>
        </p:spPr>
        <p:txBody>
          <a:bodyPr/>
          <a:lstStyle/>
          <a:p>
            <a:endParaRPr lang="en-IN"/>
          </a:p>
        </p:txBody>
      </p:sp>
      <p:sp>
        <p:nvSpPr>
          <p:cNvPr id="8" name="Text 6"/>
          <p:cNvSpPr/>
          <p:nvPr/>
        </p:nvSpPr>
        <p:spPr>
          <a:xfrm>
            <a:off x="7607808" y="182880"/>
            <a:ext cx="713232" cy="274320"/>
          </a:xfrm>
          <a:prstGeom prst="rect">
            <a:avLst/>
          </a:prstGeom>
          <a:noFill/>
          <a:ln/>
        </p:spPr>
        <p:txBody>
          <a:bodyPr wrap="square" lIns="0" tIns="0" rIns="0" bIns="0" rtlCol="0" anchor="ctr"/>
          <a:lstStyle/>
          <a:p>
            <a:pPr marL="0" indent="0" algn="ctr">
              <a:buNone/>
            </a:pPr>
            <a:r>
              <a:rPr lang="en-US" sz="750" b="1" dirty="0">
                <a:solidFill>
                  <a:srgbClr val="0A1628"/>
                </a:solidFill>
                <a:latin typeface="Calibri" pitchFamily="34" charset="0"/>
                <a:ea typeface="Calibri" pitchFamily="34" charset="-122"/>
                <a:cs typeface="Calibri" pitchFamily="34" charset="-120"/>
              </a:rPr>
              <a:t>🏛️ DPIIT</a:t>
            </a:r>
            <a:endParaRPr lang="en-US" sz="750" dirty="0"/>
          </a:p>
        </p:txBody>
      </p:sp>
      <p:sp>
        <p:nvSpPr>
          <p:cNvPr id="9" name="Shape 7"/>
          <p:cNvSpPr/>
          <p:nvPr/>
        </p:nvSpPr>
        <p:spPr>
          <a:xfrm>
            <a:off x="8357616" y="182880"/>
            <a:ext cx="713232" cy="274320"/>
          </a:xfrm>
          <a:prstGeom prst="rect">
            <a:avLst/>
          </a:prstGeom>
          <a:solidFill>
            <a:srgbClr val="0EA5E9"/>
          </a:solidFill>
          <a:ln w="12700">
            <a:solidFill>
              <a:srgbClr val="0EA5E9"/>
            </a:solidFill>
            <a:prstDash val="solid"/>
          </a:ln>
        </p:spPr>
        <p:txBody>
          <a:bodyPr/>
          <a:lstStyle/>
          <a:p>
            <a:endParaRPr lang="en-IN"/>
          </a:p>
        </p:txBody>
      </p:sp>
      <p:sp>
        <p:nvSpPr>
          <p:cNvPr id="10" name="Text 8"/>
          <p:cNvSpPr/>
          <p:nvPr/>
        </p:nvSpPr>
        <p:spPr>
          <a:xfrm>
            <a:off x="8357616" y="182880"/>
            <a:ext cx="713232" cy="274320"/>
          </a:xfrm>
          <a:prstGeom prst="rect">
            <a:avLst/>
          </a:prstGeom>
          <a:solidFill>
            <a:schemeClr val="bg1"/>
          </a:solidFill>
          <a:ln/>
        </p:spPr>
        <p:txBody>
          <a:bodyPr wrap="square" lIns="0" tIns="0" rIns="0" bIns="0" rtlCol="0" anchor="ctr"/>
          <a:lstStyle/>
          <a:p>
            <a:pPr marL="0" indent="0" algn="ctr">
              <a:buNone/>
            </a:pPr>
            <a:r>
              <a:rPr lang="en-US" sz="750" b="1" dirty="0">
                <a:solidFill>
                  <a:srgbClr val="0A1628"/>
                </a:solidFill>
                <a:latin typeface="Calibri" pitchFamily="34" charset="0"/>
                <a:ea typeface="Calibri" pitchFamily="34" charset="-122"/>
                <a:cs typeface="Calibri" pitchFamily="34" charset="-120"/>
              </a:rPr>
              <a:t>📋 MSME</a:t>
            </a:r>
            <a:endParaRPr lang="en-US" sz="750" dirty="0"/>
          </a:p>
        </p:txBody>
      </p:sp>
      <p:sp>
        <p:nvSpPr>
          <p:cNvPr id="11" name="Shape 9"/>
          <p:cNvSpPr/>
          <p:nvPr/>
        </p:nvSpPr>
        <p:spPr>
          <a:xfrm>
            <a:off x="0" y="685800"/>
            <a:ext cx="109728" cy="4133088"/>
          </a:xfrm>
          <a:prstGeom prst="rect">
            <a:avLst/>
          </a:prstGeom>
          <a:solidFill>
            <a:srgbClr val="0EA5E9"/>
          </a:solidFill>
          <a:ln w="12700">
            <a:solidFill>
              <a:srgbClr val="0EA5E9"/>
            </a:solidFill>
            <a:prstDash val="solid"/>
          </a:ln>
        </p:spPr>
        <p:txBody>
          <a:bodyPr/>
          <a:lstStyle/>
          <a:p>
            <a:endParaRPr lang="en-IN"/>
          </a:p>
        </p:txBody>
      </p:sp>
      <p:sp>
        <p:nvSpPr>
          <p:cNvPr id="13" name="Text 11"/>
          <p:cNvSpPr/>
          <p:nvPr/>
        </p:nvSpPr>
        <p:spPr>
          <a:xfrm>
            <a:off x="274320" y="786384"/>
            <a:ext cx="8503920" cy="1088136"/>
          </a:xfrm>
          <a:prstGeom prst="rect">
            <a:avLst/>
          </a:prstGeom>
          <a:noFill/>
          <a:ln/>
        </p:spPr>
        <p:txBody>
          <a:bodyPr wrap="square" lIns="0" tIns="0" rIns="0" bIns="0" rtlCol="0" anchor="ctr"/>
          <a:lstStyle/>
          <a:p>
            <a:endParaRPr lang="en-IN" sz="3200" b="1" cap="all" dirty="0"/>
          </a:p>
          <a:p>
            <a:r>
              <a:rPr lang="en-IN" sz="3200" b="1" cap="all" dirty="0"/>
              <a:t>Disaster Management</a:t>
            </a:r>
          </a:p>
          <a:p>
            <a:r>
              <a:rPr lang="en-US" sz="3200" b="1" dirty="0">
                <a:solidFill>
                  <a:srgbClr val="0284C7"/>
                </a:solidFill>
                <a:latin typeface="Calibri" pitchFamily="34" charset="0"/>
                <a:ea typeface="Calibri" pitchFamily="34" charset="-122"/>
                <a:cs typeface="Calibri" pitchFamily="34" charset="-120"/>
              </a:rPr>
              <a:t>Early Warning System</a:t>
            </a:r>
            <a:endParaRPr lang="en-US" sz="3200" dirty="0"/>
          </a:p>
          <a:p>
            <a:pPr marL="0" indent="0">
              <a:buNone/>
            </a:pPr>
            <a:endParaRPr lang="en-US" sz="3200" dirty="0"/>
          </a:p>
        </p:txBody>
      </p:sp>
      <p:sp>
        <p:nvSpPr>
          <p:cNvPr id="14" name="Shape 12"/>
          <p:cNvSpPr/>
          <p:nvPr/>
        </p:nvSpPr>
        <p:spPr>
          <a:xfrm>
            <a:off x="274320" y="2231136"/>
            <a:ext cx="8503920" cy="45720"/>
          </a:xfrm>
          <a:prstGeom prst="rect">
            <a:avLst/>
          </a:prstGeom>
          <a:solidFill>
            <a:srgbClr val="F59E0B"/>
          </a:solidFill>
          <a:ln w="12700">
            <a:solidFill>
              <a:srgbClr val="F59E0B"/>
            </a:solidFill>
            <a:prstDash val="solid"/>
          </a:ln>
        </p:spPr>
        <p:txBody>
          <a:bodyPr/>
          <a:lstStyle/>
          <a:p>
            <a:endParaRPr lang="en-IN"/>
          </a:p>
        </p:txBody>
      </p:sp>
      <p:sp>
        <p:nvSpPr>
          <p:cNvPr id="15" name="Text 13"/>
          <p:cNvSpPr/>
          <p:nvPr/>
        </p:nvSpPr>
        <p:spPr>
          <a:xfrm>
            <a:off x="274320" y="2359152"/>
            <a:ext cx="8503920" cy="347472"/>
          </a:xfrm>
          <a:prstGeom prst="rect">
            <a:avLst/>
          </a:prstGeom>
          <a:noFill/>
          <a:ln/>
        </p:spPr>
        <p:txBody>
          <a:bodyPr wrap="square" lIns="0" tIns="0" rIns="0" bIns="0" rtlCol="0" anchor="ctr"/>
          <a:lstStyle/>
          <a:p>
            <a:pPr marL="0" indent="0">
              <a:buNone/>
            </a:pPr>
            <a:r>
              <a:rPr lang="en-US" sz="1300" i="1" dirty="0">
                <a:solidFill>
                  <a:srgbClr val="334155"/>
                </a:solidFill>
                <a:latin typeface="Calibri" pitchFamily="34" charset="0"/>
                <a:ea typeface="Calibri" pitchFamily="34" charset="-122"/>
                <a:cs typeface="Calibri" pitchFamily="34" charset="-120"/>
              </a:rPr>
              <a:t>AI/ML-Driven Cascade Network Intelligence for River Bunds, Irrigation Canals &amp; MI Tanks</a:t>
            </a:r>
            <a:endParaRPr lang="en-US" sz="1300" dirty="0"/>
          </a:p>
        </p:txBody>
      </p:sp>
      <p:sp>
        <p:nvSpPr>
          <p:cNvPr id="16" name="Shape 14"/>
          <p:cNvSpPr/>
          <p:nvPr/>
        </p:nvSpPr>
        <p:spPr>
          <a:xfrm>
            <a:off x="274320" y="2834640"/>
            <a:ext cx="2011680" cy="960120"/>
          </a:xfrm>
          <a:prstGeom prst="rect">
            <a:avLst/>
          </a:prstGeom>
          <a:solidFill>
            <a:srgbClr val="FFFFFF"/>
          </a:solidFill>
          <a:ln w="12700">
            <a:solidFill>
              <a:srgbClr val="0284C7"/>
            </a:solidFill>
            <a:prstDash val="solid"/>
          </a:ln>
          <a:effectLst>
            <a:outerShdw blurRad="76200" dist="25400" dir="8100000" algn="bl" rotWithShape="0">
              <a:srgbClr val="000000">
                <a:alpha val="10000"/>
              </a:srgbClr>
            </a:outerShdw>
          </a:effectLst>
        </p:spPr>
        <p:txBody>
          <a:bodyPr/>
          <a:lstStyle/>
          <a:p>
            <a:endParaRPr lang="en-IN"/>
          </a:p>
        </p:txBody>
      </p:sp>
      <p:sp>
        <p:nvSpPr>
          <p:cNvPr id="17" name="Shape 15"/>
          <p:cNvSpPr/>
          <p:nvPr/>
        </p:nvSpPr>
        <p:spPr>
          <a:xfrm>
            <a:off x="274320" y="2834640"/>
            <a:ext cx="2011680" cy="54864"/>
          </a:xfrm>
          <a:prstGeom prst="rect">
            <a:avLst/>
          </a:prstGeom>
          <a:solidFill>
            <a:srgbClr val="0284C7"/>
          </a:solidFill>
          <a:ln w="12700">
            <a:solidFill>
              <a:srgbClr val="0284C7"/>
            </a:solidFill>
            <a:prstDash val="solid"/>
          </a:ln>
        </p:spPr>
        <p:txBody>
          <a:bodyPr/>
          <a:lstStyle/>
          <a:p>
            <a:endParaRPr lang="en-IN"/>
          </a:p>
        </p:txBody>
      </p:sp>
      <p:sp>
        <p:nvSpPr>
          <p:cNvPr id="18" name="Text 16"/>
          <p:cNvSpPr/>
          <p:nvPr/>
        </p:nvSpPr>
        <p:spPr>
          <a:xfrm>
            <a:off x="274320" y="2907792"/>
            <a:ext cx="2011680" cy="438912"/>
          </a:xfrm>
          <a:prstGeom prst="rect">
            <a:avLst/>
          </a:prstGeom>
          <a:noFill/>
          <a:ln/>
        </p:spPr>
        <p:txBody>
          <a:bodyPr wrap="square" lIns="0" tIns="0" rIns="0" bIns="0" rtlCol="0" anchor="ctr"/>
          <a:lstStyle/>
          <a:p>
            <a:pPr marL="0" indent="0" algn="ctr">
              <a:buNone/>
            </a:pPr>
            <a:r>
              <a:rPr lang="en-US" sz="2400" b="1" dirty="0">
                <a:solidFill>
                  <a:srgbClr val="0284C7"/>
                </a:solidFill>
                <a:latin typeface="Calibri" pitchFamily="34" charset="0"/>
                <a:ea typeface="Calibri" pitchFamily="34" charset="-122"/>
                <a:cs typeface="Calibri" pitchFamily="34" charset="-120"/>
              </a:rPr>
              <a:t>38,600</a:t>
            </a:r>
            <a:endParaRPr lang="en-US" sz="2400" dirty="0"/>
          </a:p>
        </p:txBody>
      </p:sp>
      <p:sp>
        <p:nvSpPr>
          <p:cNvPr id="19" name="Text 17"/>
          <p:cNvSpPr/>
          <p:nvPr/>
        </p:nvSpPr>
        <p:spPr>
          <a:xfrm>
            <a:off x="274320" y="3328416"/>
            <a:ext cx="2011680" cy="420624"/>
          </a:xfrm>
          <a:prstGeom prst="rect">
            <a:avLst/>
          </a:prstGeom>
          <a:noFill/>
          <a:ln/>
        </p:spPr>
        <p:txBody>
          <a:bodyPr wrap="square" lIns="0" tIns="0" rIns="0" bIns="0" rtlCol="0" anchor="ctr"/>
          <a:lstStyle/>
          <a:p>
            <a:pPr marL="0" indent="0" algn="ctr">
              <a:buNone/>
            </a:pPr>
            <a:r>
              <a:rPr lang="en-US" sz="900" dirty="0">
                <a:solidFill>
                  <a:srgbClr val="334155"/>
                </a:solidFill>
                <a:latin typeface="Calibri" pitchFamily="34" charset="0"/>
                <a:ea typeface="Calibri" pitchFamily="34" charset="-122"/>
                <a:cs typeface="Calibri" pitchFamily="34" charset="-120"/>
              </a:rPr>
              <a:t>MI Tanks</a:t>
            </a:r>
            <a:endParaRPr lang="en-US" sz="900" dirty="0"/>
          </a:p>
          <a:p>
            <a:pPr marL="0" indent="0" algn="ctr">
              <a:buNone/>
            </a:pPr>
            <a:r>
              <a:rPr lang="en-US" sz="900" dirty="0">
                <a:solidFill>
                  <a:srgbClr val="334155"/>
                </a:solidFill>
                <a:latin typeface="Calibri" pitchFamily="34" charset="0"/>
                <a:ea typeface="Calibri" pitchFamily="34" charset="-122"/>
                <a:cs typeface="Calibri" pitchFamily="34" charset="-120"/>
              </a:rPr>
              <a:t>Monitored</a:t>
            </a:r>
            <a:endParaRPr lang="en-US" sz="900" dirty="0"/>
          </a:p>
        </p:txBody>
      </p:sp>
      <p:sp>
        <p:nvSpPr>
          <p:cNvPr id="20" name="Shape 18"/>
          <p:cNvSpPr/>
          <p:nvPr/>
        </p:nvSpPr>
        <p:spPr>
          <a:xfrm>
            <a:off x="2450592" y="2834640"/>
            <a:ext cx="2011680" cy="960120"/>
          </a:xfrm>
          <a:prstGeom prst="rect">
            <a:avLst/>
          </a:prstGeom>
          <a:solidFill>
            <a:srgbClr val="FFFFFF"/>
          </a:solidFill>
          <a:ln w="12700">
            <a:solidFill>
              <a:srgbClr val="0D9488"/>
            </a:solidFill>
            <a:prstDash val="solid"/>
          </a:ln>
          <a:effectLst>
            <a:outerShdw blurRad="76200" dist="25400" dir="8100000" algn="bl" rotWithShape="0">
              <a:srgbClr val="000000">
                <a:alpha val="10000"/>
              </a:srgbClr>
            </a:outerShdw>
          </a:effectLst>
        </p:spPr>
        <p:txBody>
          <a:bodyPr/>
          <a:lstStyle/>
          <a:p>
            <a:endParaRPr lang="en-IN"/>
          </a:p>
        </p:txBody>
      </p:sp>
      <p:sp>
        <p:nvSpPr>
          <p:cNvPr id="21" name="Shape 19"/>
          <p:cNvSpPr/>
          <p:nvPr/>
        </p:nvSpPr>
        <p:spPr>
          <a:xfrm>
            <a:off x="2450592" y="2834640"/>
            <a:ext cx="2011680" cy="54864"/>
          </a:xfrm>
          <a:prstGeom prst="rect">
            <a:avLst/>
          </a:prstGeom>
          <a:solidFill>
            <a:srgbClr val="0D9488"/>
          </a:solidFill>
          <a:ln w="12700">
            <a:solidFill>
              <a:srgbClr val="0D9488"/>
            </a:solidFill>
            <a:prstDash val="solid"/>
          </a:ln>
        </p:spPr>
        <p:txBody>
          <a:bodyPr/>
          <a:lstStyle/>
          <a:p>
            <a:endParaRPr lang="en-IN"/>
          </a:p>
        </p:txBody>
      </p:sp>
      <p:sp>
        <p:nvSpPr>
          <p:cNvPr id="22" name="Text 20"/>
          <p:cNvSpPr/>
          <p:nvPr/>
        </p:nvSpPr>
        <p:spPr>
          <a:xfrm>
            <a:off x="2450592" y="2907792"/>
            <a:ext cx="2011680" cy="438912"/>
          </a:xfrm>
          <a:prstGeom prst="rect">
            <a:avLst/>
          </a:prstGeom>
          <a:noFill/>
          <a:ln/>
        </p:spPr>
        <p:txBody>
          <a:bodyPr wrap="square" lIns="0" tIns="0" rIns="0" bIns="0" rtlCol="0" anchor="ctr"/>
          <a:lstStyle/>
          <a:p>
            <a:pPr marL="0" indent="0" algn="ctr">
              <a:buNone/>
            </a:pPr>
            <a:r>
              <a:rPr lang="en-US" sz="2400" b="1" dirty="0">
                <a:solidFill>
                  <a:srgbClr val="0D9488"/>
                </a:solidFill>
                <a:latin typeface="Calibri" pitchFamily="34" charset="0"/>
                <a:ea typeface="Calibri" pitchFamily="34" charset="-122"/>
                <a:cs typeface="Calibri" pitchFamily="34" charset="-120"/>
              </a:rPr>
              <a:t>264</a:t>
            </a:r>
            <a:endParaRPr lang="en-US" sz="2400" dirty="0"/>
          </a:p>
        </p:txBody>
      </p:sp>
      <p:sp>
        <p:nvSpPr>
          <p:cNvPr id="23" name="Text 21"/>
          <p:cNvSpPr/>
          <p:nvPr/>
        </p:nvSpPr>
        <p:spPr>
          <a:xfrm>
            <a:off x="2450592" y="3328416"/>
            <a:ext cx="2011680" cy="420624"/>
          </a:xfrm>
          <a:prstGeom prst="rect">
            <a:avLst/>
          </a:prstGeom>
          <a:noFill/>
          <a:ln/>
        </p:spPr>
        <p:txBody>
          <a:bodyPr wrap="square" lIns="0" tIns="0" rIns="0" bIns="0" rtlCol="0" anchor="ctr"/>
          <a:lstStyle/>
          <a:p>
            <a:pPr marL="0" indent="0" algn="ctr">
              <a:buNone/>
            </a:pPr>
            <a:r>
              <a:rPr lang="en-US" sz="900" dirty="0">
                <a:solidFill>
                  <a:srgbClr val="334155"/>
                </a:solidFill>
                <a:latin typeface="Calibri" pitchFamily="34" charset="0"/>
                <a:ea typeface="Calibri" pitchFamily="34" charset="-122"/>
                <a:cs typeface="Calibri" pitchFamily="34" charset="-120"/>
              </a:rPr>
              <a:t>River Gauge</a:t>
            </a:r>
            <a:endParaRPr lang="en-US" sz="900" dirty="0"/>
          </a:p>
          <a:p>
            <a:pPr marL="0" indent="0" algn="ctr">
              <a:buNone/>
            </a:pPr>
            <a:r>
              <a:rPr lang="en-US" sz="900" dirty="0">
                <a:solidFill>
                  <a:srgbClr val="334155"/>
                </a:solidFill>
                <a:latin typeface="Calibri" pitchFamily="34" charset="0"/>
                <a:ea typeface="Calibri" pitchFamily="34" charset="-122"/>
                <a:cs typeface="Calibri" pitchFamily="34" charset="-120"/>
              </a:rPr>
              <a:t>Stations</a:t>
            </a:r>
            <a:endParaRPr lang="en-US" sz="900" dirty="0"/>
          </a:p>
        </p:txBody>
      </p:sp>
      <p:sp>
        <p:nvSpPr>
          <p:cNvPr id="24" name="Shape 22"/>
          <p:cNvSpPr/>
          <p:nvPr/>
        </p:nvSpPr>
        <p:spPr>
          <a:xfrm>
            <a:off x="4626864" y="2834640"/>
            <a:ext cx="2011680" cy="960120"/>
          </a:xfrm>
          <a:prstGeom prst="rect">
            <a:avLst/>
          </a:prstGeom>
          <a:solidFill>
            <a:srgbClr val="FFFFFF"/>
          </a:solidFill>
          <a:ln w="12700">
            <a:solidFill>
              <a:srgbClr val="22C55E"/>
            </a:solidFill>
            <a:prstDash val="solid"/>
          </a:ln>
          <a:effectLst>
            <a:outerShdw blurRad="76200" dist="25400" dir="8100000" algn="bl" rotWithShape="0">
              <a:srgbClr val="000000">
                <a:alpha val="10000"/>
              </a:srgbClr>
            </a:outerShdw>
          </a:effectLst>
        </p:spPr>
        <p:txBody>
          <a:bodyPr/>
          <a:lstStyle/>
          <a:p>
            <a:endParaRPr lang="en-IN"/>
          </a:p>
        </p:txBody>
      </p:sp>
      <p:sp>
        <p:nvSpPr>
          <p:cNvPr id="25" name="Shape 23"/>
          <p:cNvSpPr/>
          <p:nvPr/>
        </p:nvSpPr>
        <p:spPr>
          <a:xfrm>
            <a:off x="4626864" y="2834640"/>
            <a:ext cx="2011680" cy="54864"/>
          </a:xfrm>
          <a:prstGeom prst="rect">
            <a:avLst/>
          </a:prstGeom>
          <a:solidFill>
            <a:srgbClr val="22C55E"/>
          </a:solidFill>
          <a:ln w="12700">
            <a:solidFill>
              <a:srgbClr val="22C55E"/>
            </a:solidFill>
            <a:prstDash val="solid"/>
          </a:ln>
        </p:spPr>
        <p:txBody>
          <a:bodyPr/>
          <a:lstStyle/>
          <a:p>
            <a:endParaRPr lang="en-IN"/>
          </a:p>
        </p:txBody>
      </p:sp>
      <p:sp>
        <p:nvSpPr>
          <p:cNvPr id="26" name="Text 24"/>
          <p:cNvSpPr/>
          <p:nvPr/>
        </p:nvSpPr>
        <p:spPr>
          <a:xfrm>
            <a:off x="4626864" y="2907792"/>
            <a:ext cx="2011680" cy="438912"/>
          </a:xfrm>
          <a:prstGeom prst="rect">
            <a:avLst/>
          </a:prstGeom>
          <a:noFill/>
          <a:ln/>
        </p:spPr>
        <p:txBody>
          <a:bodyPr wrap="square" lIns="0" tIns="0" rIns="0" bIns="0" rtlCol="0" anchor="ctr"/>
          <a:lstStyle/>
          <a:p>
            <a:pPr marL="0" indent="0" algn="ctr">
              <a:buNone/>
            </a:pPr>
            <a:r>
              <a:rPr lang="en-US" sz="2400" b="1" dirty="0">
                <a:solidFill>
                  <a:srgbClr val="22C55E"/>
                </a:solidFill>
                <a:latin typeface="Calibri" pitchFamily="34" charset="0"/>
                <a:ea typeface="Calibri" pitchFamily="34" charset="-122"/>
                <a:cs typeface="Calibri" pitchFamily="34" charset="-120"/>
              </a:rPr>
              <a:t>₹0</a:t>
            </a:r>
            <a:endParaRPr lang="en-US" sz="2400" dirty="0"/>
          </a:p>
        </p:txBody>
      </p:sp>
      <p:sp>
        <p:nvSpPr>
          <p:cNvPr id="27" name="Text 25"/>
          <p:cNvSpPr/>
          <p:nvPr/>
        </p:nvSpPr>
        <p:spPr>
          <a:xfrm>
            <a:off x="4626864" y="3328416"/>
            <a:ext cx="2011680" cy="420624"/>
          </a:xfrm>
          <a:prstGeom prst="rect">
            <a:avLst/>
          </a:prstGeom>
          <a:noFill/>
          <a:ln/>
        </p:spPr>
        <p:txBody>
          <a:bodyPr wrap="square" lIns="0" tIns="0" rIns="0" bIns="0" rtlCol="0" anchor="ctr"/>
          <a:lstStyle/>
          <a:p>
            <a:pPr marL="0" indent="0" algn="ctr">
              <a:buNone/>
            </a:pPr>
            <a:r>
              <a:rPr lang="en-US" sz="900" dirty="0">
                <a:solidFill>
                  <a:srgbClr val="334155"/>
                </a:solidFill>
                <a:latin typeface="Calibri" pitchFamily="34" charset="0"/>
                <a:ea typeface="Calibri" pitchFamily="34" charset="-122"/>
                <a:cs typeface="Calibri" pitchFamily="34" charset="-120"/>
              </a:rPr>
              <a:t>Satellite</a:t>
            </a:r>
            <a:endParaRPr lang="en-US" sz="900" dirty="0"/>
          </a:p>
          <a:p>
            <a:pPr marL="0" indent="0" algn="ctr">
              <a:buNone/>
            </a:pPr>
            <a:r>
              <a:rPr lang="en-US" sz="900" dirty="0">
                <a:solidFill>
                  <a:srgbClr val="334155"/>
                </a:solidFill>
                <a:latin typeface="Calibri" pitchFamily="34" charset="0"/>
                <a:ea typeface="Calibri" pitchFamily="34" charset="-122"/>
                <a:cs typeface="Calibri" pitchFamily="34" charset="-120"/>
              </a:rPr>
              <a:t>Data Cost</a:t>
            </a:r>
            <a:endParaRPr lang="en-US" sz="900" dirty="0"/>
          </a:p>
        </p:txBody>
      </p:sp>
      <p:sp>
        <p:nvSpPr>
          <p:cNvPr id="28" name="Shape 26"/>
          <p:cNvSpPr/>
          <p:nvPr/>
        </p:nvSpPr>
        <p:spPr>
          <a:xfrm>
            <a:off x="6803136" y="2834640"/>
            <a:ext cx="2011680" cy="960120"/>
          </a:xfrm>
          <a:prstGeom prst="rect">
            <a:avLst/>
          </a:prstGeom>
          <a:solidFill>
            <a:srgbClr val="FFFFFF"/>
          </a:solidFill>
          <a:ln w="12700">
            <a:solidFill>
              <a:srgbClr val="F59E0B"/>
            </a:solidFill>
            <a:prstDash val="solid"/>
          </a:ln>
          <a:effectLst>
            <a:outerShdw blurRad="76200" dist="25400" dir="8100000" algn="bl" rotWithShape="0">
              <a:srgbClr val="000000">
                <a:alpha val="10000"/>
              </a:srgbClr>
            </a:outerShdw>
          </a:effectLst>
        </p:spPr>
        <p:txBody>
          <a:bodyPr/>
          <a:lstStyle/>
          <a:p>
            <a:endParaRPr lang="en-IN"/>
          </a:p>
        </p:txBody>
      </p:sp>
      <p:sp>
        <p:nvSpPr>
          <p:cNvPr id="29" name="Shape 27"/>
          <p:cNvSpPr/>
          <p:nvPr/>
        </p:nvSpPr>
        <p:spPr>
          <a:xfrm>
            <a:off x="6803136" y="2834640"/>
            <a:ext cx="2011680" cy="54864"/>
          </a:xfrm>
          <a:prstGeom prst="rect">
            <a:avLst/>
          </a:prstGeom>
          <a:solidFill>
            <a:srgbClr val="F59E0B"/>
          </a:solidFill>
          <a:ln w="12700">
            <a:solidFill>
              <a:srgbClr val="F59E0B"/>
            </a:solidFill>
            <a:prstDash val="solid"/>
          </a:ln>
        </p:spPr>
        <p:txBody>
          <a:bodyPr/>
          <a:lstStyle/>
          <a:p>
            <a:endParaRPr lang="en-IN"/>
          </a:p>
        </p:txBody>
      </p:sp>
      <p:sp>
        <p:nvSpPr>
          <p:cNvPr id="30" name="Text 28"/>
          <p:cNvSpPr/>
          <p:nvPr/>
        </p:nvSpPr>
        <p:spPr>
          <a:xfrm>
            <a:off x="6803136" y="2907792"/>
            <a:ext cx="2011680" cy="438912"/>
          </a:xfrm>
          <a:prstGeom prst="rect">
            <a:avLst/>
          </a:prstGeom>
          <a:noFill/>
          <a:ln/>
        </p:spPr>
        <p:txBody>
          <a:bodyPr wrap="square" lIns="0" tIns="0" rIns="0" bIns="0" rtlCol="0" anchor="ctr"/>
          <a:lstStyle/>
          <a:p>
            <a:pPr marL="0" indent="0" algn="ctr">
              <a:buNone/>
            </a:pPr>
            <a:r>
              <a:rPr lang="en-US" sz="2400" b="1" dirty="0">
                <a:solidFill>
                  <a:srgbClr val="F59E0B"/>
                </a:solidFill>
                <a:latin typeface="Calibri" pitchFamily="34" charset="0"/>
                <a:ea typeface="Calibri" pitchFamily="34" charset="-122"/>
                <a:cs typeface="Calibri" pitchFamily="34" charset="-120"/>
              </a:rPr>
              <a:t>17 hrs</a:t>
            </a:r>
            <a:endParaRPr lang="en-US" sz="2400" dirty="0"/>
          </a:p>
        </p:txBody>
      </p:sp>
      <p:sp>
        <p:nvSpPr>
          <p:cNvPr id="31" name="Text 29"/>
          <p:cNvSpPr/>
          <p:nvPr/>
        </p:nvSpPr>
        <p:spPr>
          <a:xfrm>
            <a:off x="6803136" y="3328416"/>
            <a:ext cx="2011680" cy="420624"/>
          </a:xfrm>
          <a:prstGeom prst="rect">
            <a:avLst/>
          </a:prstGeom>
          <a:noFill/>
          <a:ln/>
        </p:spPr>
        <p:txBody>
          <a:bodyPr wrap="square" lIns="0" tIns="0" rIns="0" bIns="0" rtlCol="0" anchor="ctr"/>
          <a:lstStyle/>
          <a:p>
            <a:pPr marL="0" indent="0" algn="ctr">
              <a:buNone/>
            </a:pPr>
            <a:r>
              <a:rPr lang="en-US" sz="900" dirty="0">
                <a:solidFill>
                  <a:srgbClr val="334155"/>
                </a:solidFill>
                <a:latin typeface="Calibri" pitchFamily="34" charset="0"/>
                <a:ea typeface="Calibri" pitchFamily="34" charset="-122"/>
                <a:cs typeface="Calibri" pitchFamily="34" charset="-120"/>
              </a:rPr>
              <a:t>Early Warning</a:t>
            </a:r>
            <a:endParaRPr lang="en-US" sz="900" dirty="0"/>
          </a:p>
          <a:p>
            <a:pPr marL="0" indent="0" algn="ctr">
              <a:buNone/>
            </a:pPr>
            <a:r>
              <a:rPr lang="en-US" sz="900" dirty="0">
                <a:solidFill>
                  <a:srgbClr val="334155"/>
                </a:solidFill>
                <a:latin typeface="Calibri" pitchFamily="34" charset="0"/>
                <a:ea typeface="Calibri" pitchFamily="34" charset="-122"/>
                <a:cs typeface="Calibri" pitchFamily="34" charset="-120"/>
              </a:rPr>
              <a:t>Window</a:t>
            </a:r>
            <a:endParaRPr lang="en-US" sz="900" dirty="0"/>
          </a:p>
        </p:txBody>
      </p:sp>
      <p:sp>
        <p:nvSpPr>
          <p:cNvPr id="32" name="Text 30"/>
          <p:cNvSpPr/>
          <p:nvPr/>
        </p:nvSpPr>
        <p:spPr>
          <a:xfrm>
            <a:off x="274320" y="3913632"/>
            <a:ext cx="850392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RTGS AP Hackathon 2025  ·  Case #100070  ·  Disaster Management / Climate Resilience / Critical Infrastructure</a:t>
            </a:r>
            <a:endParaRPr lang="en-US" sz="900" dirty="0"/>
          </a:p>
        </p:txBody>
      </p:sp>
      <p:sp>
        <p:nvSpPr>
          <p:cNvPr id="33" name="Text 31"/>
          <p:cNvSpPr/>
          <p:nvPr/>
        </p:nvSpPr>
        <p:spPr>
          <a:xfrm>
            <a:off x="274320" y="4187952"/>
            <a:ext cx="8503920" cy="228600"/>
          </a:xfrm>
          <a:prstGeom prst="rect">
            <a:avLst/>
          </a:prstGeom>
          <a:noFill/>
          <a:ln/>
        </p:spPr>
        <p:txBody>
          <a:bodyPr wrap="square" lIns="0" tIns="0" rIns="0" bIns="0" rtlCol="0" anchor="ctr"/>
          <a:lstStyle/>
          <a:p>
            <a:pPr marL="0" indent="0">
              <a:buNone/>
            </a:pPr>
            <a:r>
              <a:rPr lang="en-US" sz="900" i="1" dirty="0">
                <a:solidFill>
                  <a:srgbClr val="F59E0B"/>
                </a:solidFill>
                <a:latin typeface="Calibri" pitchFamily="34" charset="0"/>
                <a:ea typeface="Calibri" pitchFamily="34" charset="-122"/>
                <a:cs typeface="Calibri" pitchFamily="34" charset="-120"/>
              </a:rPr>
              <a:t>🌾 Rooted in farming — building AI for the communities we come from.</a:t>
            </a:r>
            <a:endParaRPr lang="en-US" sz="900" dirty="0"/>
          </a:p>
        </p:txBody>
      </p:sp>
      <p:sp>
        <p:nvSpPr>
          <p:cNvPr id="34" name="Shape 32"/>
          <p:cNvSpPr/>
          <p:nvPr/>
        </p:nvSpPr>
        <p:spPr>
          <a:xfrm>
            <a:off x="0" y="4818888"/>
            <a:ext cx="9144000" cy="324612"/>
          </a:xfrm>
          <a:prstGeom prst="rect">
            <a:avLst/>
          </a:prstGeom>
          <a:solidFill>
            <a:srgbClr val="E2E8F0"/>
          </a:solidFill>
          <a:ln w="12700">
            <a:solidFill>
              <a:srgbClr val="E2E8F0"/>
            </a:solidFill>
            <a:prstDash val="solid"/>
          </a:ln>
        </p:spPr>
        <p:txBody>
          <a:bodyPr/>
          <a:lstStyle/>
          <a:p>
            <a:endParaRPr lang="en-IN"/>
          </a:p>
        </p:txBody>
      </p:sp>
      <p:sp>
        <p:nvSpPr>
          <p:cNvPr id="35" name="Text 33"/>
          <p:cNvSpPr/>
          <p:nvPr/>
        </p:nvSpPr>
        <p:spPr>
          <a:xfrm>
            <a:off x="274320" y="4837176"/>
            <a:ext cx="7772400" cy="27432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AP-Wrims Early Warning System  |  HierachAI Technologies Pvt. Ltd.  |  DPIIT Recognised · Women-Led · Andhra Pradesh</a:t>
            </a:r>
            <a:endParaRPr lang="en-US" sz="800" dirty="0"/>
          </a:p>
        </p:txBody>
      </p:sp>
      <p:sp>
        <p:nvSpPr>
          <p:cNvPr id="36" name="Text 34"/>
          <p:cNvSpPr/>
          <p:nvPr/>
        </p:nvSpPr>
        <p:spPr>
          <a:xfrm>
            <a:off x="8046720" y="4837176"/>
            <a:ext cx="914400" cy="274320"/>
          </a:xfrm>
          <a:prstGeom prst="rect">
            <a:avLst/>
          </a:prstGeom>
          <a:noFill/>
          <a:ln/>
        </p:spPr>
        <p:txBody>
          <a:bodyPr wrap="square" lIns="0" tIns="0" rIns="0" bIns="0" rtlCol="0" anchor="ctr"/>
          <a:lstStyle/>
          <a:p>
            <a:pPr marL="0" indent="0" algn="r">
              <a:buNone/>
            </a:pPr>
            <a:r>
              <a:rPr lang="en-US" sz="800" dirty="0">
                <a:solidFill>
                  <a:srgbClr val="1E3A5F"/>
                </a:solidFill>
                <a:latin typeface="Calibri" pitchFamily="34" charset="0"/>
                <a:ea typeface="Calibri" pitchFamily="34" charset="-122"/>
                <a:cs typeface="Calibri" pitchFamily="34" charset="-120"/>
              </a:rPr>
              <a:t>1 / 16</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1810"/>
          </a:solidFill>
          <a:ln w="12700">
            <a:solidFill>
              <a:srgbClr val="2C1810"/>
            </a:solidFill>
            <a:prstDash val="solid"/>
          </a:ln>
        </p:spPr>
        <p:txBody>
          <a:bodyPr/>
          <a:lstStyle/>
          <a:p>
            <a:endParaRPr lang="en-IN"/>
          </a:p>
        </p:txBody>
      </p:sp>
      <p:sp>
        <p:nvSpPr>
          <p:cNvPr id="3" name="Shape 1"/>
          <p:cNvSpPr/>
          <p:nvPr/>
        </p:nvSpPr>
        <p:spPr>
          <a:xfrm>
            <a:off x="0" y="73152"/>
            <a:ext cx="9144000" cy="777240"/>
          </a:xfrm>
          <a:prstGeom prst="rect">
            <a:avLst/>
          </a:prstGeom>
          <a:solidFill>
            <a:srgbClr val="F5F0E8"/>
          </a:solidFill>
          <a:ln w="12700">
            <a:solidFill>
              <a:srgbClr val="2C1810"/>
            </a:solidFill>
            <a:prstDash val="solid"/>
          </a:ln>
        </p:spPr>
        <p:txBody>
          <a:bodyPr/>
          <a:lstStyle/>
          <a:p>
            <a:endParaRPr lang="en-IN"/>
          </a:p>
        </p:txBody>
      </p:sp>
      <p:sp>
        <p:nvSpPr>
          <p:cNvPr id="4" name="Text 2"/>
          <p:cNvSpPr/>
          <p:nvPr/>
        </p:nvSpPr>
        <p:spPr>
          <a:xfrm>
            <a:off x="274320" y="91440"/>
            <a:ext cx="5486400" cy="411480"/>
          </a:xfrm>
          <a:prstGeom prst="rect">
            <a:avLst/>
          </a:prstGeom>
          <a:noFill/>
          <a:ln/>
        </p:spPr>
        <p:txBody>
          <a:bodyPr wrap="square" lIns="0" tIns="0" rIns="0" bIns="0" rtlCol="0" anchor="ctr"/>
          <a:lstStyle/>
          <a:p>
            <a:pPr marL="0" indent="0" algn="l">
              <a:buNone/>
            </a:pPr>
            <a:r>
              <a:rPr lang="en-US" sz="2800" b="1" dirty="0">
                <a:solidFill>
                  <a:srgbClr val="2C1810"/>
                </a:solidFill>
                <a:latin typeface="Georgia" pitchFamily="34" charset="0"/>
                <a:ea typeface="Georgia" pitchFamily="34" charset="-122"/>
                <a:cs typeface="Georgia" pitchFamily="34" charset="-120"/>
              </a:rPr>
              <a:t>THE DECCAN CHRONICLE</a:t>
            </a:r>
            <a:endParaRPr lang="en-US" sz="2800" dirty="0"/>
          </a:p>
        </p:txBody>
      </p:sp>
      <p:sp>
        <p:nvSpPr>
          <p:cNvPr id="5" name="Text 3"/>
          <p:cNvSpPr/>
          <p:nvPr/>
        </p:nvSpPr>
        <p:spPr>
          <a:xfrm>
            <a:off x="274320" y="502920"/>
            <a:ext cx="6400800" cy="228600"/>
          </a:xfrm>
          <a:prstGeom prst="rect">
            <a:avLst/>
          </a:prstGeom>
          <a:noFill/>
          <a:ln/>
        </p:spPr>
        <p:txBody>
          <a:bodyPr wrap="square" lIns="0" tIns="0" rIns="0" bIns="0" rtlCol="0" anchor="ctr"/>
          <a:lstStyle/>
          <a:p>
            <a:pPr marL="0" indent="0">
              <a:buNone/>
            </a:pPr>
            <a:r>
              <a:rPr lang="en-US" sz="900" dirty="0">
                <a:solidFill>
                  <a:srgbClr val="5C4033"/>
                </a:solidFill>
                <a:latin typeface="Calibri" pitchFamily="34" charset="0"/>
                <a:ea typeface="Calibri" pitchFamily="34" charset="-122"/>
                <a:cs typeface="Calibri" pitchFamily="34" charset="-120"/>
              </a:rPr>
              <a:t>NOVEMBER 20, 2021  ·  ANDHRA PRADESH EDITION</a:t>
            </a:r>
            <a:endParaRPr lang="en-US" sz="900" dirty="0"/>
          </a:p>
        </p:txBody>
      </p:sp>
      <p:sp>
        <p:nvSpPr>
          <p:cNvPr id="6" name="Text 4"/>
          <p:cNvSpPr/>
          <p:nvPr/>
        </p:nvSpPr>
        <p:spPr>
          <a:xfrm>
            <a:off x="6858000" y="182880"/>
            <a:ext cx="2011680" cy="320040"/>
          </a:xfrm>
          <a:prstGeom prst="rect">
            <a:avLst/>
          </a:prstGeom>
          <a:noFill/>
          <a:ln/>
        </p:spPr>
        <p:txBody>
          <a:bodyPr wrap="square" lIns="0" tIns="0" rIns="0" bIns="0" rtlCol="0" anchor="ctr"/>
          <a:lstStyle/>
          <a:p>
            <a:pPr marL="0" indent="0" algn="ctr">
              <a:buNone/>
            </a:pPr>
            <a:r>
              <a:rPr lang="en-US" sz="1000" b="1" dirty="0">
                <a:solidFill>
                  <a:srgbClr val="8B0000"/>
                </a:solidFill>
                <a:latin typeface="Georgia" pitchFamily="34" charset="0"/>
                <a:ea typeface="Georgia" pitchFamily="34" charset="-122"/>
                <a:cs typeface="Georgia" pitchFamily="34" charset="-120"/>
              </a:rPr>
              <a:t>SPECIAL REPORT</a:t>
            </a:r>
            <a:endParaRPr lang="en-US" sz="1000" dirty="0"/>
          </a:p>
        </p:txBody>
      </p:sp>
      <p:sp>
        <p:nvSpPr>
          <p:cNvPr id="7" name="Shape 5"/>
          <p:cNvSpPr/>
          <p:nvPr/>
        </p:nvSpPr>
        <p:spPr>
          <a:xfrm>
            <a:off x="274320" y="932688"/>
            <a:ext cx="8595360" cy="36576"/>
          </a:xfrm>
          <a:prstGeom prst="rect">
            <a:avLst/>
          </a:prstGeom>
          <a:solidFill>
            <a:srgbClr val="2C1810"/>
          </a:solidFill>
          <a:ln w="12700">
            <a:solidFill>
              <a:srgbClr val="2C1810"/>
            </a:solidFill>
            <a:prstDash val="solid"/>
          </a:ln>
        </p:spPr>
        <p:txBody>
          <a:bodyPr/>
          <a:lstStyle/>
          <a:p>
            <a:endParaRPr lang="en-IN"/>
          </a:p>
        </p:txBody>
      </p:sp>
      <p:sp>
        <p:nvSpPr>
          <p:cNvPr id="8" name="Shape 6"/>
          <p:cNvSpPr/>
          <p:nvPr/>
        </p:nvSpPr>
        <p:spPr>
          <a:xfrm>
            <a:off x="274320" y="1005840"/>
            <a:ext cx="8595360" cy="18288"/>
          </a:xfrm>
          <a:prstGeom prst="rect">
            <a:avLst/>
          </a:prstGeom>
          <a:solidFill>
            <a:srgbClr val="2C1810"/>
          </a:solidFill>
          <a:ln w="12700">
            <a:solidFill>
              <a:srgbClr val="2C1810"/>
            </a:solidFill>
            <a:prstDash val="solid"/>
          </a:ln>
        </p:spPr>
        <p:txBody>
          <a:bodyPr/>
          <a:lstStyle/>
          <a:p>
            <a:endParaRPr lang="en-IN"/>
          </a:p>
        </p:txBody>
      </p:sp>
      <p:sp>
        <p:nvSpPr>
          <p:cNvPr id="9" name="Text 7"/>
          <p:cNvSpPr/>
          <p:nvPr/>
        </p:nvSpPr>
        <p:spPr>
          <a:xfrm>
            <a:off x="274320" y="1078992"/>
            <a:ext cx="8595360" cy="658368"/>
          </a:xfrm>
          <a:prstGeom prst="rect">
            <a:avLst/>
          </a:prstGeom>
          <a:noFill/>
          <a:ln/>
        </p:spPr>
        <p:txBody>
          <a:bodyPr wrap="square" lIns="0" tIns="0" rIns="0" bIns="0" rtlCol="0" anchor="ctr"/>
          <a:lstStyle/>
          <a:p>
            <a:pPr marL="0" indent="0" algn="ctr">
              <a:buNone/>
            </a:pPr>
            <a:r>
              <a:rPr lang="en-US" sz="2600" b="1" dirty="0">
                <a:solidFill>
                  <a:srgbClr val="8B0000"/>
                </a:solidFill>
                <a:latin typeface="Georgia" pitchFamily="34" charset="0"/>
                <a:ea typeface="Georgia" pitchFamily="34" charset="-122"/>
                <a:cs typeface="Georgia" pitchFamily="34" charset="-120"/>
              </a:rPr>
              <a:t>33 DEAD, 10 VILLAGES SUBMERGED AS ANNAMAYYA DAM BREACHES</a:t>
            </a:r>
            <a:endParaRPr lang="en-US" sz="2600" dirty="0"/>
          </a:p>
        </p:txBody>
      </p:sp>
      <p:sp>
        <p:nvSpPr>
          <p:cNvPr id="10" name="Text 8"/>
          <p:cNvSpPr/>
          <p:nvPr/>
        </p:nvSpPr>
        <p:spPr>
          <a:xfrm>
            <a:off x="274320" y="1719072"/>
            <a:ext cx="8595360" cy="256032"/>
          </a:xfrm>
          <a:prstGeom prst="rect">
            <a:avLst/>
          </a:prstGeom>
          <a:noFill/>
          <a:ln/>
        </p:spPr>
        <p:txBody>
          <a:bodyPr wrap="square" lIns="0" tIns="0" rIns="0" bIns="0" rtlCol="0" anchor="ctr"/>
          <a:lstStyle/>
          <a:p>
            <a:pPr marL="0" indent="0" algn="ctr">
              <a:buNone/>
            </a:pPr>
            <a:r>
              <a:rPr lang="en-US" sz="1100" i="1" dirty="0">
                <a:solidFill>
                  <a:srgbClr val="2C1810"/>
                </a:solidFill>
                <a:latin typeface="Georgia" pitchFamily="34" charset="0"/>
                <a:ea typeface="Georgia" pitchFamily="34" charset="-122"/>
                <a:cs typeface="Georgia" pitchFamily="34" charset="-120"/>
              </a:rPr>
              <a:t>Cheyyeru River Floods Rajampet Region · Thousands Homeless · ₹775 Crore Reconstruction Now Underway</a:t>
            </a:r>
            <a:endParaRPr lang="en-US" sz="1100" dirty="0"/>
          </a:p>
        </p:txBody>
      </p:sp>
      <p:sp>
        <p:nvSpPr>
          <p:cNvPr id="11" name="Shape 9"/>
          <p:cNvSpPr/>
          <p:nvPr/>
        </p:nvSpPr>
        <p:spPr>
          <a:xfrm>
            <a:off x="274320" y="2029968"/>
            <a:ext cx="8595360" cy="18288"/>
          </a:xfrm>
          <a:prstGeom prst="rect">
            <a:avLst/>
          </a:prstGeom>
          <a:solidFill>
            <a:srgbClr val="2C1810"/>
          </a:solidFill>
          <a:ln w="12700">
            <a:solidFill>
              <a:srgbClr val="2C1810"/>
            </a:solidFill>
            <a:prstDash val="solid"/>
          </a:ln>
        </p:spPr>
        <p:txBody>
          <a:bodyPr/>
          <a:lstStyle/>
          <a:p>
            <a:endParaRPr lang="en-IN"/>
          </a:p>
        </p:txBody>
      </p:sp>
      <p:sp>
        <p:nvSpPr>
          <p:cNvPr id="12" name="Text 10"/>
          <p:cNvSpPr/>
          <p:nvPr/>
        </p:nvSpPr>
        <p:spPr>
          <a:xfrm>
            <a:off x="274320" y="2103120"/>
            <a:ext cx="4114800" cy="201168"/>
          </a:xfrm>
          <a:prstGeom prst="rect">
            <a:avLst/>
          </a:prstGeom>
          <a:noFill/>
          <a:ln/>
        </p:spPr>
        <p:txBody>
          <a:bodyPr wrap="square" lIns="0" tIns="0" rIns="0" bIns="0" rtlCol="0" anchor="ctr"/>
          <a:lstStyle/>
          <a:p>
            <a:pPr marL="0" indent="0">
              <a:buNone/>
            </a:pPr>
            <a:r>
              <a:rPr lang="en-US" sz="900" i="1" dirty="0">
                <a:solidFill>
                  <a:srgbClr val="5C4033"/>
                </a:solidFill>
                <a:latin typeface="Calibri" pitchFamily="34" charset="0"/>
                <a:ea typeface="Calibri" pitchFamily="34" charset="-122"/>
                <a:cs typeface="Calibri" pitchFamily="34" charset="-120"/>
              </a:rPr>
              <a:t>By Staff Correspondent, Kadapa</a:t>
            </a:r>
            <a:endParaRPr lang="en-US" sz="900" dirty="0"/>
          </a:p>
        </p:txBody>
      </p:sp>
      <p:sp>
        <p:nvSpPr>
          <p:cNvPr id="13" name="Text 11"/>
          <p:cNvSpPr/>
          <p:nvPr/>
        </p:nvSpPr>
        <p:spPr>
          <a:xfrm>
            <a:off x="274320" y="2340864"/>
            <a:ext cx="4023360" cy="2331720"/>
          </a:xfrm>
          <a:prstGeom prst="rect">
            <a:avLst/>
          </a:prstGeom>
          <a:noFill/>
          <a:ln/>
        </p:spPr>
        <p:txBody>
          <a:bodyPr wrap="square" lIns="0" tIns="0" rIns="0" bIns="0" rtlCol="0" anchor="ctr"/>
          <a:lstStyle/>
          <a:p>
            <a:pPr marL="0" indent="0">
              <a:buNone/>
            </a:pPr>
            <a:r>
              <a:rPr lang="en-US" sz="1000" b="1" dirty="0">
                <a:solidFill>
                  <a:srgbClr val="2C1810"/>
                </a:solidFill>
                <a:latin typeface="Calibri" pitchFamily="34" charset="0"/>
                <a:ea typeface="Calibri" pitchFamily="34" charset="-122"/>
                <a:cs typeface="Calibri" pitchFamily="34" charset="-120"/>
              </a:rPr>
              <a:t>RAJAMPET, Nov 20 — </a:t>
            </a:r>
            <a:r>
              <a:rPr lang="en-US" sz="1000" dirty="0">
                <a:solidFill>
                  <a:srgbClr val="2C1810"/>
                </a:solidFill>
                <a:latin typeface="Calibri" pitchFamily="34" charset="0"/>
                <a:ea typeface="Calibri" pitchFamily="34" charset="-122"/>
                <a:cs typeface="Calibri" pitchFamily="34" charset="-120"/>
              </a:rPr>
              <a:t>The earthen bund of the Annamayya project across Cheyyeru River in Kadapa district collapsed on November 19 at 5:30 AM, unleashing over 2.26 lakh cusecs downstream.
</a:t>
            </a:r>
            <a:r>
              <a:rPr lang="en-US" sz="1000" b="1" dirty="0">
                <a:solidFill>
                  <a:srgbClr val="2C1810"/>
                </a:solidFill>
                <a:latin typeface="Calibri" pitchFamily="34" charset="0"/>
                <a:ea typeface="Calibri" pitchFamily="34" charset="-122"/>
                <a:cs typeface="Calibri" pitchFamily="34" charset="-120"/>
              </a:rPr>
              <a:t>Villages submerged: </a:t>
            </a:r>
            <a:r>
              <a:rPr lang="en-US" sz="1000" dirty="0">
                <a:solidFill>
                  <a:srgbClr val="2C1810"/>
                </a:solidFill>
                <a:latin typeface="Calibri" pitchFamily="34" charset="0"/>
                <a:ea typeface="Calibri" pitchFamily="34" charset="-122"/>
                <a:cs typeface="Calibri" pitchFamily="34" charset="-120"/>
              </a:rPr>
              <a:t>Pulapathur (worst hit), Mandapalli, Togurupeta, and Gundlur. Residents had no warning as floodwaters reaching 10 feet destroyed homes within minutes.
</a:t>
            </a:r>
            <a:r>
              <a:rPr lang="en-US" sz="1000" b="1" dirty="0">
                <a:solidFill>
                  <a:srgbClr val="2C1810"/>
                </a:solidFill>
                <a:latin typeface="Calibri" pitchFamily="34" charset="0"/>
                <a:ea typeface="Calibri" pitchFamily="34" charset="-122"/>
                <a:cs typeface="Calibri" pitchFamily="34" charset="-120"/>
              </a:rPr>
              <a:t>Root cause: </a:t>
            </a:r>
            <a:r>
              <a:rPr lang="en-US" sz="1000" dirty="0">
                <a:solidFill>
                  <a:srgbClr val="2C1810"/>
                </a:solidFill>
                <a:latin typeface="Calibri" pitchFamily="34" charset="0"/>
                <a:ea typeface="Calibri" pitchFamily="34" charset="-122"/>
                <a:cs typeface="Calibri" pitchFamily="34" charset="-120"/>
              </a:rPr>
              <a:t>Flash floods from Seshachalam Hills combined with catastrophic inflow from Pincha project. Inflow surged to 1,28,988 cusecs — 50x normal. One spillway gate was jammed.</a:t>
            </a:r>
            <a:endParaRPr lang="en-US" sz="1000" dirty="0"/>
          </a:p>
        </p:txBody>
      </p:sp>
      <p:sp>
        <p:nvSpPr>
          <p:cNvPr id="14" name="Shape 12"/>
          <p:cNvSpPr/>
          <p:nvPr/>
        </p:nvSpPr>
        <p:spPr>
          <a:xfrm>
            <a:off x="4407408" y="2057400"/>
            <a:ext cx="18288" cy="2651760"/>
          </a:xfrm>
          <a:prstGeom prst="rect">
            <a:avLst/>
          </a:prstGeom>
          <a:solidFill>
            <a:srgbClr val="2C1810"/>
          </a:solidFill>
          <a:ln w="12700">
            <a:solidFill>
              <a:srgbClr val="2C1810"/>
            </a:solidFill>
            <a:prstDash val="solid"/>
          </a:ln>
        </p:spPr>
        <p:txBody>
          <a:bodyPr/>
          <a:lstStyle/>
          <a:p>
            <a:endParaRPr lang="en-IN"/>
          </a:p>
        </p:txBody>
      </p:sp>
      <p:sp>
        <p:nvSpPr>
          <p:cNvPr id="15" name="Shape 13"/>
          <p:cNvSpPr/>
          <p:nvPr/>
        </p:nvSpPr>
        <p:spPr>
          <a:xfrm>
            <a:off x="4572000" y="2084832"/>
            <a:ext cx="4297680" cy="2633472"/>
          </a:xfrm>
          <a:prstGeom prst="rect">
            <a:avLst/>
          </a:prstGeom>
          <a:solidFill>
            <a:srgbClr val="FFF8E7"/>
          </a:solidFill>
          <a:ln w="12700">
            <a:solidFill>
              <a:srgbClr val="8B0000"/>
            </a:solidFill>
            <a:prstDash val="solid"/>
          </a:ln>
        </p:spPr>
        <p:txBody>
          <a:bodyPr/>
          <a:lstStyle/>
          <a:p>
            <a:endParaRPr lang="en-IN"/>
          </a:p>
        </p:txBody>
      </p:sp>
      <p:sp>
        <p:nvSpPr>
          <p:cNvPr id="16" name="Text 14"/>
          <p:cNvSpPr/>
          <p:nvPr/>
        </p:nvSpPr>
        <p:spPr>
          <a:xfrm>
            <a:off x="4663440" y="2148840"/>
            <a:ext cx="4114800" cy="274320"/>
          </a:xfrm>
          <a:prstGeom prst="rect">
            <a:avLst/>
          </a:prstGeom>
          <a:noFill/>
          <a:ln/>
        </p:spPr>
        <p:txBody>
          <a:bodyPr wrap="square" lIns="0" tIns="0" rIns="0" bIns="0" rtlCol="0" anchor="ctr"/>
          <a:lstStyle/>
          <a:p>
            <a:pPr marL="0" indent="0" algn="ctr">
              <a:buNone/>
            </a:pPr>
            <a:r>
              <a:rPr lang="en-US" sz="1300" b="1" dirty="0">
                <a:solidFill>
                  <a:srgbClr val="8B0000"/>
                </a:solidFill>
                <a:latin typeface="Georgia" pitchFamily="34" charset="0"/>
                <a:ea typeface="Georgia" pitchFamily="34" charset="-122"/>
                <a:cs typeface="Georgia" pitchFamily="34" charset="-120"/>
              </a:rPr>
              <a:t>DISASTER IN NUMBERS</a:t>
            </a:r>
            <a:endParaRPr lang="en-US" sz="1300" dirty="0"/>
          </a:p>
        </p:txBody>
      </p:sp>
      <p:sp>
        <p:nvSpPr>
          <p:cNvPr id="17" name="Shape 15"/>
          <p:cNvSpPr/>
          <p:nvPr/>
        </p:nvSpPr>
        <p:spPr>
          <a:xfrm>
            <a:off x="4663440" y="2432304"/>
            <a:ext cx="4114800" cy="18288"/>
          </a:xfrm>
          <a:prstGeom prst="rect">
            <a:avLst/>
          </a:prstGeom>
          <a:solidFill>
            <a:srgbClr val="8B0000"/>
          </a:solidFill>
          <a:ln w="12700">
            <a:solidFill>
              <a:srgbClr val="8B0000"/>
            </a:solidFill>
            <a:prstDash val="solid"/>
          </a:ln>
        </p:spPr>
        <p:txBody>
          <a:bodyPr/>
          <a:lstStyle/>
          <a:p>
            <a:endParaRPr lang="en-IN"/>
          </a:p>
        </p:txBody>
      </p:sp>
      <p:sp>
        <p:nvSpPr>
          <p:cNvPr id="18" name="Text 16"/>
          <p:cNvSpPr/>
          <p:nvPr/>
        </p:nvSpPr>
        <p:spPr>
          <a:xfrm>
            <a:off x="4663440" y="2514600"/>
            <a:ext cx="1965960" cy="365760"/>
          </a:xfrm>
          <a:prstGeom prst="rect">
            <a:avLst/>
          </a:prstGeom>
          <a:noFill/>
          <a:ln/>
        </p:spPr>
        <p:txBody>
          <a:bodyPr wrap="square" lIns="0" tIns="0" rIns="0" bIns="0" rtlCol="0" anchor="ctr"/>
          <a:lstStyle/>
          <a:p>
            <a:pPr marL="0" indent="0" algn="ctr">
              <a:buNone/>
            </a:pPr>
            <a:r>
              <a:rPr lang="en-US" sz="2000" b="1" dirty="0">
                <a:solidFill>
                  <a:srgbClr val="8B0000"/>
                </a:solidFill>
                <a:latin typeface="Georgia" pitchFamily="34" charset="0"/>
                <a:ea typeface="Georgia" pitchFamily="34" charset="-122"/>
                <a:cs typeface="Georgia" pitchFamily="34" charset="-120"/>
              </a:rPr>
              <a:t>33–39</a:t>
            </a:r>
            <a:endParaRPr lang="en-US" sz="2000" dirty="0"/>
          </a:p>
        </p:txBody>
      </p:sp>
      <p:sp>
        <p:nvSpPr>
          <p:cNvPr id="19" name="Text 17"/>
          <p:cNvSpPr/>
          <p:nvPr/>
        </p:nvSpPr>
        <p:spPr>
          <a:xfrm>
            <a:off x="4663440" y="2862072"/>
            <a:ext cx="1965960" cy="237744"/>
          </a:xfrm>
          <a:prstGeom prst="rect">
            <a:avLst/>
          </a:prstGeom>
          <a:noFill/>
          <a:ln/>
        </p:spPr>
        <p:txBody>
          <a:bodyPr wrap="square" lIns="0" tIns="0" rIns="0" bIns="0" rtlCol="0" anchor="ctr"/>
          <a:lstStyle/>
          <a:p>
            <a:pPr marL="0" indent="0" algn="ctr">
              <a:buNone/>
            </a:pPr>
            <a:r>
              <a:rPr lang="en-US" sz="900" dirty="0">
                <a:solidFill>
                  <a:srgbClr val="5C4033"/>
                </a:solidFill>
                <a:latin typeface="Calibri" pitchFamily="34" charset="0"/>
                <a:ea typeface="Calibri" pitchFamily="34" charset="-122"/>
                <a:cs typeface="Calibri" pitchFamily="34" charset="-120"/>
              </a:rPr>
              <a:t>Lives Lost</a:t>
            </a:r>
            <a:endParaRPr lang="en-US" sz="900" dirty="0"/>
          </a:p>
        </p:txBody>
      </p:sp>
      <p:sp>
        <p:nvSpPr>
          <p:cNvPr id="20" name="Text 18"/>
          <p:cNvSpPr/>
          <p:nvPr/>
        </p:nvSpPr>
        <p:spPr>
          <a:xfrm>
            <a:off x="6720840" y="2514600"/>
            <a:ext cx="1965960" cy="365760"/>
          </a:xfrm>
          <a:prstGeom prst="rect">
            <a:avLst/>
          </a:prstGeom>
          <a:noFill/>
          <a:ln/>
        </p:spPr>
        <p:txBody>
          <a:bodyPr wrap="square" lIns="0" tIns="0" rIns="0" bIns="0" rtlCol="0" anchor="ctr"/>
          <a:lstStyle/>
          <a:p>
            <a:pPr marL="0" indent="0" algn="ctr">
              <a:buNone/>
            </a:pPr>
            <a:r>
              <a:rPr lang="en-US" sz="2000" b="1" dirty="0">
                <a:solidFill>
                  <a:srgbClr val="8B0000"/>
                </a:solidFill>
                <a:latin typeface="Georgia" pitchFamily="34" charset="0"/>
                <a:ea typeface="Georgia" pitchFamily="34" charset="-122"/>
                <a:cs typeface="Georgia" pitchFamily="34" charset="-120"/>
              </a:rPr>
              <a:t>10+</a:t>
            </a:r>
            <a:endParaRPr lang="en-US" sz="2000" dirty="0"/>
          </a:p>
        </p:txBody>
      </p:sp>
      <p:sp>
        <p:nvSpPr>
          <p:cNvPr id="21" name="Text 19"/>
          <p:cNvSpPr/>
          <p:nvPr/>
        </p:nvSpPr>
        <p:spPr>
          <a:xfrm>
            <a:off x="6720840" y="2862072"/>
            <a:ext cx="1965960" cy="237744"/>
          </a:xfrm>
          <a:prstGeom prst="rect">
            <a:avLst/>
          </a:prstGeom>
          <a:noFill/>
          <a:ln/>
        </p:spPr>
        <p:txBody>
          <a:bodyPr wrap="square" lIns="0" tIns="0" rIns="0" bIns="0" rtlCol="0" anchor="ctr"/>
          <a:lstStyle/>
          <a:p>
            <a:pPr marL="0" indent="0" algn="ctr">
              <a:buNone/>
            </a:pPr>
            <a:r>
              <a:rPr lang="en-US" sz="900" dirty="0">
                <a:solidFill>
                  <a:srgbClr val="5C4033"/>
                </a:solidFill>
                <a:latin typeface="Calibri" pitchFamily="34" charset="0"/>
                <a:ea typeface="Calibri" pitchFamily="34" charset="-122"/>
                <a:cs typeface="Calibri" pitchFamily="34" charset="-120"/>
              </a:rPr>
              <a:t>Villages Submerged</a:t>
            </a:r>
            <a:endParaRPr lang="en-US" sz="900" dirty="0"/>
          </a:p>
        </p:txBody>
      </p:sp>
      <p:sp>
        <p:nvSpPr>
          <p:cNvPr id="22" name="Text 20"/>
          <p:cNvSpPr/>
          <p:nvPr/>
        </p:nvSpPr>
        <p:spPr>
          <a:xfrm>
            <a:off x="4663440" y="3172968"/>
            <a:ext cx="1965960" cy="365760"/>
          </a:xfrm>
          <a:prstGeom prst="rect">
            <a:avLst/>
          </a:prstGeom>
          <a:noFill/>
          <a:ln/>
        </p:spPr>
        <p:txBody>
          <a:bodyPr wrap="square" lIns="0" tIns="0" rIns="0" bIns="0" rtlCol="0" anchor="ctr"/>
          <a:lstStyle/>
          <a:p>
            <a:pPr marL="0" indent="0" algn="ctr">
              <a:buNone/>
            </a:pPr>
            <a:r>
              <a:rPr lang="en-US" sz="2000" b="1" dirty="0">
                <a:solidFill>
                  <a:srgbClr val="8B0000"/>
                </a:solidFill>
                <a:latin typeface="Georgia" pitchFamily="34" charset="0"/>
                <a:ea typeface="Georgia" pitchFamily="34" charset="-122"/>
                <a:cs typeface="Georgia" pitchFamily="34" charset="-120"/>
              </a:rPr>
              <a:t>2.26 Lakh</a:t>
            </a:r>
            <a:endParaRPr lang="en-US" sz="2000" dirty="0"/>
          </a:p>
        </p:txBody>
      </p:sp>
      <p:sp>
        <p:nvSpPr>
          <p:cNvPr id="23" name="Text 21"/>
          <p:cNvSpPr/>
          <p:nvPr/>
        </p:nvSpPr>
        <p:spPr>
          <a:xfrm>
            <a:off x="4663440" y="3520440"/>
            <a:ext cx="1965960" cy="237744"/>
          </a:xfrm>
          <a:prstGeom prst="rect">
            <a:avLst/>
          </a:prstGeom>
          <a:noFill/>
          <a:ln/>
        </p:spPr>
        <p:txBody>
          <a:bodyPr wrap="square" lIns="0" tIns="0" rIns="0" bIns="0" rtlCol="0" anchor="ctr"/>
          <a:lstStyle/>
          <a:p>
            <a:pPr marL="0" indent="0" algn="ctr">
              <a:buNone/>
            </a:pPr>
            <a:r>
              <a:rPr lang="en-US" sz="900" dirty="0">
                <a:solidFill>
                  <a:srgbClr val="5C4033"/>
                </a:solidFill>
                <a:latin typeface="Calibri" pitchFamily="34" charset="0"/>
                <a:ea typeface="Calibri" pitchFamily="34" charset="-122"/>
                <a:cs typeface="Calibri" pitchFamily="34" charset="-120"/>
              </a:rPr>
              <a:t>Cusecs Peak Inflow</a:t>
            </a:r>
            <a:endParaRPr lang="en-US" sz="900" dirty="0"/>
          </a:p>
        </p:txBody>
      </p:sp>
      <p:sp>
        <p:nvSpPr>
          <p:cNvPr id="24" name="Text 22"/>
          <p:cNvSpPr/>
          <p:nvPr/>
        </p:nvSpPr>
        <p:spPr>
          <a:xfrm>
            <a:off x="6720840" y="3172968"/>
            <a:ext cx="1965960" cy="365760"/>
          </a:xfrm>
          <a:prstGeom prst="rect">
            <a:avLst/>
          </a:prstGeom>
          <a:noFill/>
          <a:ln/>
        </p:spPr>
        <p:txBody>
          <a:bodyPr wrap="square" lIns="0" tIns="0" rIns="0" bIns="0" rtlCol="0" anchor="ctr"/>
          <a:lstStyle/>
          <a:p>
            <a:pPr marL="0" indent="0" algn="ctr">
              <a:buNone/>
            </a:pPr>
            <a:r>
              <a:rPr lang="en-US" sz="2000" b="1" dirty="0">
                <a:solidFill>
                  <a:srgbClr val="8B0000"/>
                </a:solidFill>
                <a:latin typeface="Georgia" pitchFamily="34" charset="0"/>
                <a:ea typeface="Georgia" pitchFamily="34" charset="-122"/>
                <a:cs typeface="Georgia" pitchFamily="34" charset="-120"/>
              </a:rPr>
              <a:t>27.24 km²</a:t>
            </a:r>
            <a:endParaRPr lang="en-US" sz="2000" dirty="0"/>
          </a:p>
        </p:txBody>
      </p:sp>
      <p:sp>
        <p:nvSpPr>
          <p:cNvPr id="25" name="Text 23"/>
          <p:cNvSpPr/>
          <p:nvPr/>
        </p:nvSpPr>
        <p:spPr>
          <a:xfrm>
            <a:off x="6720840" y="3520440"/>
            <a:ext cx="1965960" cy="237744"/>
          </a:xfrm>
          <a:prstGeom prst="rect">
            <a:avLst/>
          </a:prstGeom>
          <a:noFill/>
          <a:ln/>
        </p:spPr>
        <p:txBody>
          <a:bodyPr wrap="square" lIns="0" tIns="0" rIns="0" bIns="0" rtlCol="0" anchor="ctr"/>
          <a:lstStyle/>
          <a:p>
            <a:pPr marL="0" indent="0" algn="ctr">
              <a:buNone/>
            </a:pPr>
            <a:r>
              <a:rPr lang="en-US" sz="900" dirty="0">
                <a:solidFill>
                  <a:srgbClr val="5C4033"/>
                </a:solidFill>
                <a:latin typeface="Calibri" pitchFamily="34" charset="0"/>
                <a:ea typeface="Calibri" pitchFamily="34" charset="-122"/>
                <a:cs typeface="Calibri" pitchFamily="34" charset="-120"/>
              </a:rPr>
              <a:t>Area Flooded (SAR)</a:t>
            </a:r>
            <a:endParaRPr lang="en-US" sz="900" dirty="0"/>
          </a:p>
        </p:txBody>
      </p:sp>
      <p:sp>
        <p:nvSpPr>
          <p:cNvPr id="26" name="Text 24"/>
          <p:cNvSpPr/>
          <p:nvPr/>
        </p:nvSpPr>
        <p:spPr>
          <a:xfrm>
            <a:off x="4663440" y="3831336"/>
            <a:ext cx="1965960" cy="365760"/>
          </a:xfrm>
          <a:prstGeom prst="rect">
            <a:avLst/>
          </a:prstGeom>
          <a:noFill/>
          <a:ln/>
        </p:spPr>
        <p:txBody>
          <a:bodyPr wrap="square" lIns="0" tIns="0" rIns="0" bIns="0" rtlCol="0" anchor="ctr"/>
          <a:lstStyle/>
          <a:p>
            <a:pPr marL="0" indent="0" algn="ctr">
              <a:buNone/>
            </a:pPr>
            <a:r>
              <a:rPr lang="en-US" sz="2000" b="1" dirty="0">
                <a:solidFill>
                  <a:srgbClr val="8B0000"/>
                </a:solidFill>
                <a:latin typeface="Georgia" pitchFamily="34" charset="0"/>
                <a:ea typeface="Georgia" pitchFamily="34" charset="-122"/>
                <a:cs typeface="Georgia" pitchFamily="34" charset="-120"/>
              </a:rPr>
              <a:t>₹775 Cr</a:t>
            </a:r>
            <a:endParaRPr lang="en-US" sz="2000" dirty="0"/>
          </a:p>
        </p:txBody>
      </p:sp>
      <p:sp>
        <p:nvSpPr>
          <p:cNvPr id="27" name="Text 25"/>
          <p:cNvSpPr/>
          <p:nvPr/>
        </p:nvSpPr>
        <p:spPr>
          <a:xfrm>
            <a:off x="4663440" y="4178808"/>
            <a:ext cx="1965960" cy="237744"/>
          </a:xfrm>
          <a:prstGeom prst="rect">
            <a:avLst/>
          </a:prstGeom>
          <a:noFill/>
          <a:ln/>
        </p:spPr>
        <p:txBody>
          <a:bodyPr wrap="square" lIns="0" tIns="0" rIns="0" bIns="0" rtlCol="0" anchor="ctr"/>
          <a:lstStyle/>
          <a:p>
            <a:pPr marL="0" indent="0" algn="ctr">
              <a:buNone/>
            </a:pPr>
            <a:r>
              <a:rPr lang="en-US" sz="900" dirty="0">
                <a:solidFill>
                  <a:srgbClr val="5C4033"/>
                </a:solidFill>
                <a:latin typeface="Calibri" pitchFamily="34" charset="0"/>
                <a:ea typeface="Calibri" pitchFamily="34" charset="-122"/>
                <a:cs typeface="Calibri" pitchFamily="34" charset="-120"/>
              </a:rPr>
              <a:t>Reconstruction Cost</a:t>
            </a:r>
            <a:endParaRPr lang="en-US" sz="900" dirty="0"/>
          </a:p>
        </p:txBody>
      </p:sp>
      <p:sp>
        <p:nvSpPr>
          <p:cNvPr id="28" name="Text 26"/>
          <p:cNvSpPr/>
          <p:nvPr/>
        </p:nvSpPr>
        <p:spPr>
          <a:xfrm>
            <a:off x="6720840" y="3831336"/>
            <a:ext cx="1965960" cy="365760"/>
          </a:xfrm>
          <a:prstGeom prst="rect">
            <a:avLst/>
          </a:prstGeom>
          <a:noFill/>
          <a:ln/>
        </p:spPr>
        <p:txBody>
          <a:bodyPr wrap="square" lIns="0" tIns="0" rIns="0" bIns="0" rtlCol="0" anchor="ctr"/>
          <a:lstStyle/>
          <a:p>
            <a:pPr marL="0" indent="0" algn="ctr">
              <a:buNone/>
            </a:pPr>
            <a:r>
              <a:rPr lang="en-US" sz="2000" b="1" dirty="0">
                <a:solidFill>
                  <a:srgbClr val="8B0000"/>
                </a:solidFill>
                <a:latin typeface="Georgia" pitchFamily="34" charset="0"/>
                <a:ea typeface="Georgia" pitchFamily="34" charset="-122"/>
                <a:cs typeface="Georgia" pitchFamily="34" charset="-120"/>
              </a:rPr>
              <a:t>17 Hours</a:t>
            </a:r>
            <a:endParaRPr lang="en-US" sz="2000" dirty="0"/>
          </a:p>
        </p:txBody>
      </p:sp>
      <p:sp>
        <p:nvSpPr>
          <p:cNvPr id="29" name="Text 27"/>
          <p:cNvSpPr/>
          <p:nvPr/>
        </p:nvSpPr>
        <p:spPr>
          <a:xfrm>
            <a:off x="6720840" y="4178808"/>
            <a:ext cx="1965960" cy="237744"/>
          </a:xfrm>
          <a:prstGeom prst="rect">
            <a:avLst/>
          </a:prstGeom>
          <a:noFill/>
          <a:ln/>
        </p:spPr>
        <p:txBody>
          <a:bodyPr wrap="square" lIns="0" tIns="0" rIns="0" bIns="0" rtlCol="0" anchor="ctr"/>
          <a:lstStyle/>
          <a:p>
            <a:pPr marL="0" indent="0" algn="ctr">
              <a:buNone/>
            </a:pPr>
            <a:r>
              <a:rPr lang="en-US" sz="900" dirty="0">
                <a:solidFill>
                  <a:srgbClr val="5C4033"/>
                </a:solidFill>
                <a:latin typeface="Calibri" pitchFamily="34" charset="0"/>
                <a:ea typeface="Calibri" pitchFamily="34" charset="-122"/>
                <a:cs typeface="Calibri" pitchFamily="34" charset="-120"/>
              </a:rPr>
              <a:t>Warning Window Missed</a:t>
            </a:r>
            <a:endParaRPr lang="en-US" sz="900" dirty="0"/>
          </a:p>
        </p:txBody>
      </p:sp>
      <p:sp>
        <p:nvSpPr>
          <p:cNvPr id="30" name="Shape 28"/>
          <p:cNvSpPr/>
          <p:nvPr/>
        </p:nvSpPr>
        <p:spPr>
          <a:xfrm>
            <a:off x="274320" y="4736592"/>
            <a:ext cx="8595360" cy="18288"/>
          </a:xfrm>
          <a:prstGeom prst="rect">
            <a:avLst/>
          </a:prstGeom>
          <a:solidFill>
            <a:srgbClr val="2C1810"/>
          </a:solidFill>
          <a:ln w="12700">
            <a:solidFill>
              <a:srgbClr val="2C1810"/>
            </a:solidFill>
            <a:prstDash val="solid"/>
          </a:ln>
        </p:spPr>
        <p:txBody>
          <a:bodyPr/>
          <a:lstStyle/>
          <a:p>
            <a:endParaRPr lang="en-IN"/>
          </a:p>
        </p:txBody>
      </p:sp>
      <p:sp>
        <p:nvSpPr>
          <p:cNvPr id="31" name="Text 29"/>
          <p:cNvSpPr/>
          <p:nvPr/>
        </p:nvSpPr>
        <p:spPr>
          <a:xfrm>
            <a:off x="274320" y="4773168"/>
            <a:ext cx="8595360" cy="182880"/>
          </a:xfrm>
          <a:prstGeom prst="rect">
            <a:avLst/>
          </a:prstGeom>
          <a:noFill/>
          <a:ln/>
        </p:spPr>
        <p:txBody>
          <a:bodyPr wrap="square" lIns="0" tIns="0" rIns="0" bIns="0" rtlCol="0" anchor="ctr"/>
          <a:lstStyle/>
          <a:p>
            <a:pPr marL="0" indent="0" algn="ctr">
              <a:buNone/>
            </a:pPr>
            <a:r>
              <a:rPr lang="en-US" sz="800" i="1" dirty="0">
                <a:solidFill>
                  <a:srgbClr val="5C4033"/>
                </a:solidFill>
                <a:latin typeface="Calibri" pitchFamily="34" charset="0"/>
                <a:ea typeface="Calibri" pitchFamily="34" charset="-122"/>
                <a:cs typeface="Calibri" pitchFamily="34" charset="-120"/>
              </a:rPr>
              <a:t>★ Data verified from APWRIMS portal, SANDRP disaster report, and official Kadapa district collector statement  ★</a:t>
            </a:r>
            <a:endParaRPr lang="en-US" sz="800" dirty="0"/>
          </a:p>
        </p:txBody>
      </p:sp>
      <p:sp>
        <p:nvSpPr>
          <p:cNvPr id="32" name="Shape 30"/>
          <p:cNvSpPr/>
          <p:nvPr/>
        </p:nvSpPr>
        <p:spPr>
          <a:xfrm>
            <a:off x="0" y="4818888"/>
            <a:ext cx="9144000" cy="324612"/>
          </a:xfrm>
          <a:prstGeom prst="rect">
            <a:avLst/>
          </a:prstGeom>
          <a:solidFill>
            <a:srgbClr val="E2E8F0"/>
          </a:solidFill>
          <a:ln w="12700">
            <a:solidFill>
              <a:srgbClr val="E2E8F0"/>
            </a:solidFill>
            <a:prstDash val="solid"/>
          </a:ln>
        </p:spPr>
        <p:txBody>
          <a:bodyPr/>
          <a:lstStyle/>
          <a:p>
            <a:endParaRPr lang="en-IN"/>
          </a:p>
        </p:txBody>
      </p:sp>
      <p:sp>
        <p:nvSpPr>
          <p:cNvPr id="33" name="Text 31"/>
          <p:cNvSpPr/>
          <p:nvPr/>
        </p:nvSpPr>
        <p:spPr>
          <a:xfrm>
            <a:off x="274320" y="4837176"/>
            <a:ext cx="7772400" cy="27432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AP-Wrims Early Warning System  |  HierachAI Technologies Pvt. Ltd.  |  DPIIT Recognised · Women-Led · Andhra Pradesh</a:t>
            </a:r>
            <a:endParaRPr lang="en-US" sz="800" dirty="0"/>
          </a:p>
        </p:txBody>
      </p:sp>
      <p:sp>
        <p:nvSpPr>
          <p:cNvPr id="34" name="Text 32"/>
          <p:cNvSpPr/>
          <p:nvPr/>
        </p:nvSpPr>
        <p:spPr>
          <a:xfrm>
            <a:off x="8046720" y="4837176"/>
            <a:ext cx="914400" cy="274320"/>
          </a:xfrm>
          <a:prstGeom prst="rect">
            <a:avLst/>
          </a:prstGeom>
          <a:noFill/>
          <a:ln/>
        </p:spPr>
        <p:txBody>
          <a:bodyPr wrap="square" lIns="0" tIns="0" rIns="0" bIns="0" rtlCol="0" anchor="ctr"/>
          <a:lstStyle/>
          <a:p>
            <a:pPr marL="0" indent="0" algn="r">
              <a:buNone/>
            </a:pPr>
            <a:r>
              <a:rPr lang="en-US" sz="800" dirty="0">
                <a:solidFill>
                  <a:srgbClr val="1E3A5F"/>
                </a:solidFill>
                <a:latin typeface="Calibri" pitchFamily="34" charset="0"/>
                <a:ea typeface="Calibri" pitchFamily="34" charset="-122"/>
                <a:cs typeface="Calibri" pitchFamily="34" charset="-120"/>
              </a:rPr>
              <a:t>2 / 16</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w="12700">
            <a:solidFill>
              <a:srgbClr val="EF4444"/>
            </a:solidFill>
            <a:prstDash val="solid"/>
          </a:ln>
        </p:spPr>
        <p:txBody>
          <a:bodyPr/>
          <a:lstStyle/>
          <a:p>
            <a:endParaRPr lang="en-IN"/>
          </a:p>
        </p:txBody>
      </p:sp>
      <p:sp>
        <p:nvSpPr>
          <p:cNvPr id="3" name="Shape 1"/>
          <p:cNvSpPr/>
          <p:nvPr/>
        </p:nvSpPr>
        <p:spPr>
          <a:xfrm>
            <a:off x="0" y="73152"/>
            <a:ext cx="9144000" cy="658368"/>
          </a:xfrm>
          <a:prstGeom prst="rect">
            <a:avLst/>
          </a:prstGeom>
          <a:solidFill>
            <a:srgbClr val="FFFFFF"/>
          </a:solidFill>
          <a:ln w="12700">
            <a:solidFill>
              <a:srgbClr val="E2E8F0"/>
            </a:solidFill>
            <a:prstDash val="solid"/>
          </a:ln>
        </p:spPr>
        <p:txBody>
          <a:bodyPr/>
          <a:lstStyle/>
          <a:p>
            <a:endParaRPr lang="en-IN"/>
          </a:p>
        </p:txBody>
      </p:sp>
      <p:sp>
        <p:nvSpPr>
          <p:cNvPr id="4" name="Text 2"/>
          <p:cNvSpPr/>
          <p:nvPr/>
        </p:nvSpPr>
        <p:spPr>
          <a:xfrm>
            <a:off x="365760" y="91440"/>
            <a:ext cx="8412480" cy="475488"/>
          </a:xfrm>
          <a:prstGeom prst="rect">
            <a:avLst/>
          </a:prstGeom>
          <a:noFill/>
          <a:ln/>
        </p:spPr>
        <p:txBody>
          <a:bodyPr wrap="square" lIns="0" tIns="0" rIns="0" bIns="0" rtlCol="0" anchor="ctr"/>
          <a:lstStyle/>
          <a:p>
            <a:pPr marL="0" indent="0">
              <a:buNone/>
            </a:pPr>
            <a:r>
              <a:rPr lang="en-US" sz="2000" b="1" dirty="0">
                <a:solidFill>
                  <a:srgbClr val="0F172A"/>
                </a:solidFill>
                <a:latin typeface="Calibri" pitchFamily="34" charset="0"/>
                <a:ea typeface="Calibri" pitchFamily="34" charset="-122"/>
                <a:cs typeface="Calibri" pitchFamily="34" charset="-120"/>
              </a:rPr>
              <a:t>🚨  The Problem — When Data Exists But Intelligence Doesn't</a:t>
            </a:r>
            <a:endParaRPr lang="en-US" sz="2000" dirty="0"/>
          </a:p>
        </p:txBody>
      </p:sp>
      <p:sp>
        <p:nvSpPr>
          <p:cNvPr id="5" name="Shape 3"/>
          <p:cNvSpPr/>
          <p:nvPr/>
        </p:nvSpPr>
        <p:spPr>
          <a:xfrm>
            <a:off x="0" y="731520"/>
            <a:ext cx="9144000" cy="256032"/>
          </a:xfrm>
          <a:prstGeom prst="rect">
            <a:avLst/>
          </a:prstGeom>
          <a:solidFill>
            <a:srgbClr val="EFF6FF"/>
          </a:solidFill>
          <a:ln w="12700">
            <a:solidFill>
              <a:srgbClr val="BFDBFE"/>
            </a:solidFill>
            <a:prstDash val="solid"/>
          </a:ln>
        </p:spPr>
        <p:txBody>
          <a:bodyPr/>
          <a:lstStyle/>
          <a:p>
            <a:endParaRPr lang="en-IN"/>
          </a:p>
        </p:txBody>
      </p:sp>
      <p:sp>
        <p:nvSpPr>
          <p:cNvPr id="6" name="Text 4"/>
          <p:cNvSpPr/>
          <p:nvPr/>
        </p:nvSpPr>
        <p:spPr>
          <a:xfrm>
            <a:off x="365760" y="749808"/>
            <a:ext cx="8412480" cy="219456"/>
          </a:xfrm>
          <a:prstGeom prst="rect">
            <a:avLst/>
          </a:prstGeom>
          <a:noFill/>
          <a:ln/>
        </p:spPr>
        <p:txBody>
          <a:bodyPr wrap="square" lIns="0" tIns="0" rIns="0" bIns="0" rtlCol="0" anchor="ctr"/>
          <a:lstStyle/>
          <a:p>
            <a:pPr marL="0" indent="0">
              <a:buNone/>
            </a:pPr>
            <a:r>
              <a:rPr lang="en-US" sz="950" dirty="0">
                <a:solidFill>
                  <a:srgbClr val="0284C7"/>
                </a:solidFill>
                <a:latin typeface="Calibri" pitchFamily="34" charset="0"/>
                <a:ea typeface="Calibri" pitchFamily="34" charset="-122"/>
                <a:cs typeface="Calibri" pitchFamily="34" charset="-120"/>
              </a:rPr>
              <a:t>Annamayya Dam, Cheyyeru River, Kadapa District — November 2021</a:t>
            </a:r>
            <a:endParaRPr lang="en-US" sz="950" dirty="0"/>
          </a:p>
        </p:txBody>
      </p:sp>
      <p:sp>
        <p:nvSpPr>
          <p:cNvPr id="7" name="Shape 5"/>
          <p:cNvSpPr/>
          <p:nvPr/>
        </p:nvSpPr>
        <p:spPr>
          <a:xfrm>
            <a:off x="274320" y="1097280"/>
            <a:ext cx="8595360" cy="987552"/>
          </a:xfrm>
          <a:prstGeom prst="rect">
            <a:avLst/>
          </a:prstGeom>
          <a:solidFill>
            <a:srgbClr val="EF4444"/>
          </a:solidFill>
          <a:ln w="12700">
            <a:solidFill>
              <a:srgbClr val="EF4444"/>
            </a:solidFill>
            <a:prstDash val="solid"/>
          </a:ln>
          <a:effectLst>
            <a:outerShdw blurRad="76200" dist="25400" dir="8100000" algn="bl" rotWithShape="0">
              <a:srgbClr val="000000">
                <a:alpha val="10000"/>
              </a:srgbClr>
            </a:outerShdw>
          </a:effectLst>
        </p:spPr>
        <p:txBody>
          <a:bodyPr/>
          <a:lstStyle/>
          <a:p>
            <a:endParaRPr lang="en-IN"/>
          </a:p>
        </p:txBody>
      </p:sp>
      <p:sp>
        <p:nvSpPr>
          <p:cNvPr id="8" name="Text 6"/>
          <p:cNvSpPr/>
          <p:nvPr/>
        </p:nvSpPr>
        <p:spPr>
          <a:xfrm>
            <a:off x="365760" y="1170432"/>
            <a:ext cx="8412480" cy="32918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November 19, 2021 — 5:30 AM  |  Annamayya earthen bund breached. 33 people killed. 10 villages submerged.</a:t>
            </a:r>
            <a:endParaRPr lang="en-US" sz="1300" dirty="0"/>
          </a:p>
        </p:txBody>
      </p:sp>
      <p:sp>
        <p:nvSpPr>
          <p:cNvPr id="9" name="Text 7"/>
          <p:cNvSpPr/>
          <p:nvPr/>
        </p:nvSpPr>
        <p:spPr>
          <a:xfrm>
            <a:off x="365760" y="1517904"/>
            <a:ext cx="8412480" cy="256032"/>
          </a:xfrm>
          <a:prstGeom prst="rect">
            <a:avLst/>
          </a:prstGeom>
          <a:noFill/>
          <a:ln/>
        </p:spPr>
        <p:txBody>
          <a:bodyPr wrap="square" lIns="0" tIns="0" rIns="0" bIns="0" rtlCol="0" anchor="ctr"/>
          <a:lstStyle/>
          <a:p>
            <a:pPr marL="0" indent="0">
              <a:buNone/>
            </a:pPr>
            <a:r>
              <a:rPr lang="en-US" sz="1100" i="1" dirty="0">
                <a:solidFill>
                  <a:srgbClr val="FECACA"/>
                </a:solidFill>
                <a:latin typeface="Calibri" pitchFamily="34" charset="0"/>
                <a:ea typeface="Calibri" pitchFamily="34" charset="-122"/>
                <a:cs typeface="Calibri" pitchFamily="34" charset="-120"/>
              </a:rPr>
              <a:t>All the data existed in APWRIMS 17 hours before the breach. Nobody was watching the cascade.</a:t>
            </a:r>
            <a:endParaRPr lang="en-US" sz="1100" dirty="0"/>
          </a:p>
        </p:txBody>
      </p:sp>
      <p:sp>
        <p:nvSpPr>
          <p:cNvPr id="10" name="Shape 8"/>
          <p:cNvSpPr/>
          <p:nvPr/>
        </p:nvSpPr>
        <p:spPr>
          <a:xfrm>
            <a:off x="274320" y="2240280"/>
            <a:ext cx="4206240" cy="1097280"/>
          </a:xfrm>
          <a:prstGeom prst="rect">
            <a:avLst/>
          </a:prstGeom>
          <a:solidFill>
            <a:srgbClr val="FFFFFF"/>
          </a:solidFill>
          <a:ln w="12700">
            <a:solidFill>
              <a:srgbClr val="FECACA"/>
            </a:solidFill>
            <a:prstDash val="solid"/>
          </a:ln>
          <a:effectLst>
            <a:outerShdw blurRad="76200" dist="25400" dir="8100000" algn="bl" rotWithShape="0">
              <a:srgbClr val="000000">
                <a:alpha val="10000"/>
              </a:srgbClr>
            </a:outerShdw>
          </a:effectLst>
        </p:spPr>
        <p:txBody>
          <a:bodyPr/>
          <a:lstStyle/>
          <a:p>
            <a:endParaRPr lang="en-IN"/>
          </a:p>
        </p:txBody>
      </p:sp>
      <p:sp>
        <p:nvSpPr>
          <p:cNvPr id="11" name="Shape 9"/>
          <p:cNvSpPr/>
          <p:nvPr/>
        </p:nvSpPr>
        <p:spPr>
          <a:xfrm>
            <a:off x="274320" y="2240280"/>
            <a:ext cx="73152" cy="1097280"/>
          </a:xfrm>
          <a:prstGeom prst="rect">
            <a:avLst/>
          </a:prstGeom>
          <a:solidFill>
            <a:srgbClr val="EF4444"/>
          </a:solidFill>
          <a:ln w="12700">
            <a:solidFill>
              <a:srgbClr val="EF4444"/>
            </a:solidFill>
            <a:prstDash val="solid"/>
          </a:ln>
        </p:spPr>
        <p:txBody>
          <a:bodyPr/>
          <a:lstStyle/>
          <a:p>
            <a:endParaRPr lang="en-IN"/>
          </a:p>
        </p:txBody>
      </p:sp>
      <p:sp>
        <p:nvSpPr>
          <p:cNvPr id="12" name="Text 10"/>
          <p:cNvSpPr/>
          <p:nvPr/>
        </p:nvSpPr>
        <p:spPr>
          <a:xfrm>
            <a:off x="438912" y="2331720"/>
            <a:ext cx="3931920" cy="256032"/>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  Manual Inspection Only</a:t>
            </a:r>
            <a:endParaRPr lang="en-US" sz="1200" dirty="0"/>
          </a:p>
        </p:txBody>
      </p:sp>
      <p:sp>
        <p:nvSpPr>
          <p:cNvPr id="13" name="Text 11"/>
          <p:cNvSpPr/>
          <p:nvPr/>
        </p:nvSpPr>
        <p:spPr>
          <a:xfrm>
            <a:off x="438912" y="2624328"/>
            <a:ext cx="3931920" cy="621792"/>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Periodic field visits miss early-stage seepage, erosion and structural stress. Not continuous. Not connected.</a:t>
            </a:r>
            <a:endParaRPr lang="en-US" sz="1000" dirty="0"/>
          </a:p>
        </p:txBody>
      </p:sp>
      <p:sp>
        <p:nvSpPr>
          <p:cNvPr id="14" name="Shape 12"/>
          <p:cNvSpPr/>
          <p:nvPr/>
        </p:nvSpPr>
        <p:spPr>
          <a:xfrm>
            <a:off x="4663440" y="2240280"/>
            <a:ext cx="4206240" cy="1097280"/>
          </a:xfrm>
          <a:prstGeom prst="rect">
            <a:avLst/>
          </a:prstGeom>
          <a:solidFill>
            <a:srgbClr val="FFFFFF"/>
          </a:solidFill>
          <a:ln w="12700">
            <a:solidFill>
              <a:srgbClr val="FECACA"/>
            </a:solidFill>
            <a:prstDash val="solid"/>
          </a:ln>
          <a:effectLst>
            <a:outerShdw blurRad="76200" dist="25400" dir="8100000" algn="bl" rotWithShape="0">
              <a:srgbClr val="000000">
                <a:alpha val="10000"/>
              </a:srgbClr>
            </a:outerShdw>
          </a:effectLst>
        </p:spPr>
        <p:txBody>
          <a:bodyPr/>
          <a:lstStyle/>
          <a:p>
            <a:endParaRPr lang="en-IN"/>
          </a:p>
        </p:txBody>
      </p:sp>
      <p:sp>
        <p:nvSpPr>
          <p:cNvPr id="15" name="Shape 13"/>
          <p:cNvSpPr/>
          <p:nvPr/>
        </p:nvSpPr>
        <p:spPr>
          <a:xfrm>
            <a:off x="4663440" y="2240280"/>
            <a:ext cx="73152" cy="1097280"/>
          </a:xfrm>
          <a:prstGeom prst="rect">
            <a:avLst/>
          </a:prstGeom>
          <a:solidFill>
            <a:srgbClr val="EF4444"/>
          </a:solidFill>
          <a:ln w="12700">
            <a:solidFill>
              <a:srgbClr val="EF4444"/>
            </a:solidFill>
            <a:prstDash val="solid"/>
          </a:ln>
        </p:spPr>
        <p:txBody>
          <a:bodyPr/>
          <a:lstStyle/>
          <a:p>
            <a:endParaRPr lang="en-IN"/>
          </a:p>
        </p:txBody>
      </p:sp>
      <p:sp>
        <p:nvSpPr>
          <p:cNvPr id="16" name="Text 14"/>
          <p:cNvSpPr/>
          <p:nvPr/>
        </p:nvSpPr>
        <p:spPr>
          <a:xfrm>
            <a:off x="4828032" y="2331720"/>
            <a:ext cx="3931920" cy="256032"/>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  No Cascade Intelligence</a:t>
            </a:r>
            <a:endParaRPr lang="en-US" sz="1200" dirty="0"/>
          </a:p>
        </p:txBody>
      </p:sp>
      <p:sp>
        <p:nvSpPr>
          <p:cNvPr id="17" name="Text 15"/>
          <p:cNvSpPr/>
          <p:nvPr/>
        </p:nvSpPr>
        <p:spPr>
          <a:xfrm>
            <a:off x="4828032" y="2624328"/>
            <a:ext cx="3931920" cy="621792"/>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Pincha Dam stress was not connected to Annamayya risk. Nobody monitored the upstream-downstream relationship.</a:t>
            </a:r>
            <a:endParaRPr lang="en-US" sz="1000" dirty="0"/>
          </a:p>
        </p:txBody>
      </p:sp>
      <p:sp>
        <p:nvSpPr>
          <p:cNvPr id="18" name="Shape 16"/>
          <p:cNvSpPr/>
          <p:nvPr/>
        </p:nvSpPr>
        <p:spPr>
          <a:xfrm>
            <a:off x="274320" y="3474720"/>
            <a:ext cx="4206240" cy="1097280"/>
          </a:xfrm>
          <a:prstGeom prst="rect">
            <a:avLst/>
          </a:prstGeom>
          <a:solidFill>
            <a:srgbClr val="FFFFFF"/>
          </a:solidFill>
          <a:ln w="12700">
            <a:solidFill>
              <a:srgbClr val="FECACA"/>
            </a:solidFill>
            <a:prstDash val="solid"/>
          </a:ln>
          <a:effectLst>
            <a:outerShdw blurRad="76200" dist="25400" dir="8100000" algn="bl" rotWithShape="0">
              <a:srgbClr val="000000">
                <a:alpha val="10000"/>
              </a:srgbClr>
            </a:outerShdw>
          </a:effectLst>
        </p:spPr>
        <p:txBody>
          <a:bodyPr/>
          <a:lstStyle/>
          <a:p>
            <a:endParaRPr lang="en-IN"/>
          </a:p>
        </p:txBody>
      </p:sp>
      <p:sp>
        <p:nvSpPr>
          <p:cNvPr id="19" name="Shape 17"/>
          <p:cNvSpPr/>
          <p:nvPr/>
        </p:nvSpPr>
        <p:spPr>
          <a:xfrm>
            <a:off x="274320" y="3474720"/>
            <a:ext cx="73152" cy="1097280"/>
          </a:xfrm>
          <a:prstGeom prst="rect">
            <a:avLst/>
          </a:prstGeom>
          <a:solidFill>
            <a:srgbClr val="EF4444"/>
          </a:solidFill>
          <a:ln w="12700">
            <a:solidFill>
              <a:srgbClr val="EF4444"/>
            </a:solidFill>
            <a:prstDash val="solid"/>
          </a:ln>
        </p:spPr>
        <p:txBody>
          <a:bodyPr/>
          <a:lstStyle/>
          <a:p>
            <a:endParaRPr lang="en-IN"/>
          </a:p>
        </p:txBody>
      </p:sp>
      <p:sp>
        <p:nvSpPr>
          <p:cNvPr id="20" name="Text 18"/>
          <p:cNvSpPr/>
          <p:nvPr/>
        </p:nvSpPr>
        <p:spPr>
          <a:xfrm>
            <a:off x="438912" y="3566160"/>
            <a:ext cx="3931920" cy="256032"/>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  Sensor Gaps Ignored</a:t>
            </a:r>
            <a:endParaRPr lang="en-US" sz="1200" dirty="0"/>
          </a:p>
        </p:txBody>
      </p:sp>
      <p:sp>
        <p:nvSpPr>
          <p:cNvPr id="21" name="Text 19"/>
          <p:cNvSpPr/>
          <p:nvPr/>
        </p:nvSpPr>
        <p:spPr>
          <a:xfrm>
            <a:off x="438912" y="3858768"/>
            <a:ext cx="3931920" cy="621792"/>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Annamayya sensor showed suspicious readings for 2 days. No system flagged this as a warning signal.</a:t>
            </a:r>
            <a:endParaRPr lang="en-US" sz="1000" dirty="0"/>
          </a:p>
        </p:txBody>
      </p:sp>
      <p:sp>
        <p:nvSpPr>
          <p:cNvPr id="22" name="Shape 20"/>
          <p:cNvSpPr/>
          <p:nvPr/>
        </p:nvSpPr>
        <p:spPr>
          <a:xfrm>
            <a:off x="4663440" y="3474720"/>
            <a:ext cx="4206240" cy="1097280"/>
          </a:xfrm>
          <a:prstGeom prst="rect">
            <a:avLst/>
          </a:prstGeom>
          <a:solidFill>
            <a:srgbClr val="FFFFFF"/>
          </a:solidFill>
          <a:ln w="12700">
            <a:solidFill>
              <a:srgbClr val="FECACA"/>
            </a:solidFill>
            <a:prstDash val="solid"/>
          </a:ln>
          <a:effectLst>
            <a:outerShdw blurRad="76200" dist="25400" dir="8100000" algn="bl" rotWithShape="0">
              <a:srgbClr val="000000">
                <a:alpha val="10000"/>
              </a:srgbClr>
            </a:outerShdw>
          </a:effectLst>
        </p:spPr>
        <p:txBody>
          <a:bodyPr/>
          <a:lstStyle/>
          <a:p>
            <a:endParaRPr lang="en-IN"/>
          </a:p>
        </p:txBody>
      </p:sp>
      <p:sp>
        <p:nvSpPr>
          <p:cNvPr id="23" name="Shape 21"/>
          <p:cNvSpPr/>
          <p:nvPr/>
        </p:nvSpPr>
        <p:spPr>
          <a:xfrm>
            <a:off x="4663440" y="3474720"/>
            <a:ext cx="73152" cy="1097280"/>
          </a:xfrm>
          <a:prstGeom prst="rect">
            <a:avLst/>
          </a:prstGeom>
          <a:solidFill>
            <a:srgbClr val="EF4444"/>
          </a:solidFill>
          <a:ln w="12700">
            <a:solidFill>
              <a:srgbClr val="EF4444"/>
            </a:solidFill>
            <a:prstDash val="solid"/>
          </a:ln>
        </p:spPr>
        <p:txBody>
          <a:bodyPr/>
          <a:lstStyle/>
          <a:p>
            <a:endParaRPr lang="en-IN"/>
          </a:p>
        </p:txBody>
      </p:sp>
      <p:sp>
        <p:nvSpPr>
          <p:cNvPr id="24" name="Text 22"/>
          <p:cNvSpPr/>
          <p:nvPr/>
        </p:nvSpPr>
        <p:spPr>
          <a:xfrm>
            <a:off x="4828032" y="3566160"/>
            <a:ext cx="3931920" cy="256032"/>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  No Last-Mile Alert</a:t>
            </a:r>
            <a:endParaRPr lang="en-US" sz="1200" dirty="0"/>
          </a:p>
        </p:txBody>
      </p:sp>
      <p:sp>
        <p:nvSpPr>
          <p:cNvPr id="25" name="Text 23"/>
          <p:cNvSpPr/>
          <p:nvPr/>
        </p:nvSpPr>
        <p:spPr>
          <a:xfrm>
            <a:off x="4828032" y="3858768"/>
            <a:ext cx="3931920" cy="621792"/>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33 people in Mandapalli and Togurupeta received zero warning before floodwater hit their homes.</a:t>
            </a:r>
            <a:endParaRPr lang="en-US" sz="1000" dirty="0"/>
          </a:p>
        </p:txBody>
      </p:sp>
      <p:sp>
        <p:nvSpPr>
          <p:cNvPr id="26" name="Shape 24"/>
          <p:cNvSpPr/>
          <p:nvPr/>
        </p:nvSpPr>
        <p:spPr>
          <a:xfrm>
            <a:off x="0" y="4818888"/>
            <a:ext cx="9144000" cy="324612"/>
          </a:xfrm>
          <a:prstGeom prst="rect">
            <a:avLst/>
          </a:prstGeom>
          <a:solidFill>
            <a:srgbClr val="E2E8F0"/>
          </a:solidFill>
          <a:ln w="12700">
            <a:solidFill>
              <a:srgbClr val="E2E8F0"/>
            </a:solidFill>
            <a:prstDash val="solid"/>
          </a:ln>
        </p:spPr>
        <p:txBody>
          <a:bodyPr/>
          <a:lstStyle/>
          <a:p>
            <a:endParaRPr lang="en-IN"/>
          </a:p>
        </p:txBody>
      </p:sp>
      <p:sp>
        <p:nvSpPr>
          <p:cNvPr id="27" name="Text 25"/>
          <p:cNvSpPr/>
          <p:nvPr/>
        </p:nvSpPr>
        <p:spPr>
          <a:xfrm>
            <a:off x="274320" y="4837176"/>
            <a:ext cx="7772400" cy="27432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AP-Wrims Early Warning System  |  HierachAI Technologies Pvt. Ltd.  |  DPIIT Recognised · Women-Led · Andhra Pradesh</a:t>
            </a:r>
            <a:endParaRPr lang="en-US" sz="800" dirty="0"/>
          </a:p>
        </p:txBody>
      </p:sp>
      <p:sp>
        <p:nvSpPr>
          <p:cNvPr id="28" name="Text 26"/>
          <p:cNvSpPr/>
          <p:nvPr/>
        </p:nvSpPr>
        <p:spPr>
          <a:xfrm>
            <a:off x="8046720" y="4837176"/>
            <a:ext cx="914400" cy="274320"/>
          </a:xfrm>
          <a:prstGeom prst="rect">
            <a:avLst/>
          </a:prstGeom>
          <a:noFill/>
          <a:ln/>
        </p:spPr>
        <p:txBody>
          <a:bodyPr wrap="square" lIns="0" tIns="0" rIns="0" bIns="0" rtlCol="0" anchor="ctr"/>
          <a:lstStyle/>
          <a:p>
            <a:pPr marL="0" indent="0" algn="r">
              <a:buNone/>
            </a:pPr>
            <a:r>
              <a:rPr lang="en-US" sz="800" dirty="0">
                <a:solidFill>
                  <a:srgbClr val="1E3A5F"/>
                </a:solidFill>
                <a:latin typeface="Calibri" pitchFamily="34" charset="0"/>
                <a:ea typeface="Calibri" pitchFamily="34" charset="-122"/>
                <a:cs typeface="Calibri" pitchFamily="34" charset="-120"/>
              </a:rPr>
              <a:t>3 / 16</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F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84C7"/>
          </a:solidFill>
          <a:ln w="12700">
            <a:solidFill>
              <a:srgbClr val="0284C7"/>
            </a:solidFill>
            <a:prstDash val="solid"/>
          </a:ln>
        </p:spPr>
        <p:txBody>
          <a:bodyPr/>
          <a:lstStyle/>
          <a:p>
            <a:endParaRPr lang="en-IN"/>
          </a:p>
        </p:txBody>
      </p:sp>
      <p:sp>
        <p:nvSpPr>
          <p:cNvPr id="3" name="Shape 1"/>
          <p:cNvSpPr/>
          <p:nvPr/>
        </p:nvSpPr>
        <p:spPr>
          <a:xfrm>
            <a:off x="0" y="73152"/>
            <a:ext cx="9144000" cy="658368"/>
          </a:xfrm>
          <a:prstGeom prst="rect">
            <a:avLst/>
          </a:prstGeom>
          <a:solidFill>
            <a:srgbClr val="FFFFFF"/>
          </a:solidFill>
          <a:ln w="12700">
            <a:solidFill>
              <a:srgbClr val="E2E8F0"/>
            </a:solidFill>
            <a:prstDash val="solid"/>
          </a:ln>
        </p:spPr>
        <p:txBody>
          <a:bodyPr/>
          <a:lstStyle/>
          <a:p>
            <a:endParaRPr lang="en-IN"/>
          </a:p>
        </p:txBody>
      </p:sp>
      <p:sp>
        <p:nvSpPr>
          <p:cNvPr id="4" name="Text 2"/>
          <p:cNvSpPr/>
          <p:nvPr/>
        </p:nvSpPr>
        <p:spPr>
          <a:xfrm>
            <a:off x="365760" y="91440"/>
            <a:ext cx="8412480" cy="475488"/>
          </a:xfrm>
          <a:prstGeom prst="rect">
            <a:avLst/>
          </a:prstGeom>
          <a:noFill/>
          <a:ln/>
        </p:spPr>
        <p:txBody>
          <a:bodyPr wrap="square" lIns="0" tIns="0" rIns="0" bIns="0" rtlCol="0" anchor="ctr"/>
          <a:lstStyle/>
          <a:p>
            <a:pPr marL="0" indent="0">
              <a:buNone/>
            </a:pPr>
            <a:r>
              <a:rPr lang="en-US" sz="2000" b="1" dirty="0">
                <a:solidFill>
                  <a:srgbClr val="0F172A"/>
                </a:solidFill>
                <a:latin typeface="Calibri" pitchFamily="34" charset="0"/>
                <a:ea typeface="Calibri" pitchFamily="34" charset="-122"/>
                <a:cs typeface="Calibri" pitchFamily="34" charset="-120"/>
              </a:rPr>
              <a:t>💡  Our Solution — Cascade Network Intelligence</a:t>
            </a:r>
            <a:endParaRPr lang="en-US" sz="2000" dirty="0"/>
          </a:p>
        </p:txBody>
      </p:sp>
      <p:sp>
        <p:nvSpPr>
          <p:cNvPr id="5" name="Shape 3"/>
          <p:cNvSpPr/>
          <p:nvPr/>
        </p:nvSpPr>
        <p:spPr>
          <a:xfrm>
            <a:off x="0" y="731520"/>
            <a:ext cx="9144000" cy="256032"/>
          </a:xfrm>
          <a:prstGeom prst="rect">
            <a:avLst/>
          </a:prstGeom>
          <a:solidFill>
            <a:srgbClr val="EFF6FF"/>
          </a:solidFill>
          <a:ln w="12700">
            <a:solidFill>
              <a:srgbClr val="BFDBFE"/>
            </a:solidFill>
            <a:prstDash val="solid"/>
          </a:ln>
        </p:spPr>
        <p:txBody>
          <a:bodyPr/>
          <a:lstStyle/>
          <a:p>
            <a:endParaRPr lang="en-IN"/>
          </a:p>
        </p:txBody>
      </p:sp>
      <p:sp>
        <p:nvSpPr>
          <p:cNvPr id="6" name="Text 4"/>
          <p:cNvSpPr/>
          <p:nvPr/>
        </p:nvSpPr>
        <p:spPr>
          <a:xfrm>
            <a:off x="365760" y="749808"/>
            <a:ext cx="8412480" cy="219456"/>
          </a:xfrm>
          <a:prstGeom prst="rect">
            <a:avLst/>
          </a:prstGeom>
          <a:noFill/>
          <a:ln/>
        </p:spPr>
        <p:txBody>
          <a:bodyPr wrap="square" lIns="0" tIns="0" rIns="0" bIns="0" rtlCol="0" anchor="ctr"/>
          <a:lstStyle/>
          <a:p>
            <a:pPr marL="0" indent="0">
              <a:buNone/>
            </a:pPr>
            <a:r>
              <a:rPr lang="en-US" sz="950" dirty="0">
                <a:solidFill>
                  <a:srgbClr val="0284C7"/>
                </a:solidFill>
                <a:latin typeface="Calibri" pitchFamily="34" charset="0"/>
                <a:ea typeface="Calibri" pitchFamily="34" charset="-122"/>
                <a:cs typeface="Calibri" pitchFamily="34" charset="-120"/>
              </a:rPr>
              <a:t>Not just a dashboard. A decision support system that converts data into action.</a:t>
            </a:r>
            <a:endParaRPr lang="en-US" sz="950" dirty="0"/>
          </a:p>
        </p:txBody>
      </p:sp>
      <p:sp>
        <p:nvSpPr>
          <p:cNvPr id="7" name="Text 5"/>
          <p:cNvSpPr/>
          <p:nvPr/>
        </p:nvSpPr>
        <p:spPr>
          <a:xfrm>
            <a:off x="365760" y="1060704"/>
            <a:ext cx="8412480" cy="320040"/>
          </a:xfrm>
          <a:prstGeom prst="rect">
            <a:avLst/>
          </a:prstGeom>
          <a:noFill/>
          <a:ln/>
        </p:spPr>
        <p:txBody>
          <a:bodyPr wrap="square" lIns="0" tIns="0" rIns="0" bIns="0" rtlCol="0" anchor="ctr"/>
          <a:lstStyle/>
          <a:p>
            <a:pPr marL="0" indent="0">
              <a:buNone/>
            </a:pPr>
            <a:r>
              <a:rPr lang="en-US" sz="1200" i="1" dirty="0">
                <a:solidFill>
                  <a:srgbClr val="0284C7"/>
                </a:solidFill>
                <a:latin typeface="Calibri" pitchFamily="34" charset="0"/>
                <a:ea typeface="Calibri" pitchFamily="34" charset="-122"/>
                <a:cs typeface="Calibri" pitchFamily="34" charset="-120"/>
              </a:rPr>
              <a:t>"We don't detect failure. We detect the conditions that make failure inevitable."</a:t>
            </a:r>
            <a:endParaRPr lang="en-US" sz="1200" dirty="0"/>
          </a:p>
        </p:txBody>
      </p:sp>
      <p:sp>
        <p:nvSpPr>
          <p:cNvPr id="8" name="Shape 6"/>
          <p:cNvSpPr/>
          <p:nvPr/>
        </p:nvSpPr>
        <p:spPr>
          <a:xfrm>
            <a:off x="274320" y="1481328"/>
            <a:ext cx="2743200" cy="1444752"/>
          </a:xfrm>
          <a:prstGeom prst="rect">
            <a:avLst/>
          </a:prstGeom>
          <a:solidFill>
            <a:srgbClr val="FFFFFF"/>
          </a:solidFill>
          <a:ln w="12700">
            <a:solidFill>
              <a:srgbClr val="0284C7"/>
            </a:solidFill>
            <a:prstDash val="solid"/>
          </a:ln>
          <a:effectLst>
            <a:outerShdw blurRad="76200" dist="25400" dir="8100000" algn="bl" rotWithShape="0">
              <a:srgbClr val="000000">
                <a:alpha val="10000"/>
              </a:srgbClr>
            </a:outerShdw>
          </a:effectLst>
        </p:spPr>
        <p:txBody>
          <a:bodyPr/>
          <a:lstStyle/>
          <a:p>
            <a:endParaRPr lang="en-IN"/>
          </a:p>
        </p:txBody>
      </p:sp>
      <p:sp>
        <p:nvSpPr>
          <p:cNvPr id="9" name="Shape 7"/>
          <p:cNvSpPr/>
          <p:nvPr/>
        </p:nvSpPr>
        <p:spPr>
          <a:xfrm>
            <a:off x="274320" y="1481328"/>
            <a:ext cx="2743200" cy="347472"/>
          </a:xfrm>
          <a:prstGeom prst="rect">
            <a:avLst/>
          </a:prstGeom>
          <a:solidFill>
            <a:srgbClr val="0284C7"/>
          </a:solidFill>
          <a:ln w="12700">
            <a:solidFill>
              <a:srgbClr val="0284C7"/>
            </a:solidFill>
            <a:prstDash val="solid"/>
          </a:ln>
        </p:spPr>
        <p:txBody>
          <a:bodyPr/>
          <a:lstStyle/>
          <a:p>
            <a:endParaRPr lang="en-IN"/>
          </a:p>
        </p:txBody>
      </p:sp>
      <p:sp>
        <p:nvSpPr>
          <p:cNvPr id="10" name="Text 8"/>
          <p:cNvSpPr/>
          <p:nvPr/>
        </p:nvSpPr>
        <p:spPr>
          <a:xfrm>
            <a:off x="365760" y="1536192"/>
            <a:ext cx="2560320" cy="22860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01  Multi-Signal Fusion</a:t>
            </a:r>
            <a:endParaRPr lang="en-US" sz="1100" dirty="0"/>
          </a:p>
        </p:txBody>
      </p:sp>
      <p:sp>
        <p:nvSpPr>
          <p:cNvPr id="11" name="Text 9"/>
          <p:cNvSpPr/>
          <p:nvPr/>
        </p:nvSpPr>
        <p:spPr>
          <a:xfrm>
            <a:off x="365760" y="1892808"/>
            <a:ext cx="2560320" cy="96012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Digitizes each reservoir and catchment into spatial segments. Assigns vulnerability scores using multi-signal analysis — soil moisture, rainfall, inflow/outflow, and satellite data.</a:t>
            </a:r>
            <a:endParaRPr lang="en-US" sz="950" dirty="0"/>
          </a:p>
        </p:txBody>
      </p:sp>
      <p:sp>
        <p:nvSpPr>
          <p:cNvPr id="12" name="Shape 10"/>
          <p:cNvSpPr/>
          <p:nvPr/>
        </p:nvSpPr>
        <p:spPr>
          <a:xfrm>
            <a:off x="3182112" y="1481328"/>
            <a:ext cx="2743200" cy="1444752"/>
          </a:xfrm>
          <a:prstGeom prst="rect">
            <a:avLst/>
          </a:prstGeom>
          <a:solidFill>
            <a:srgbClr val="FFFFFF"/>
          </a:solidFill>
          <a:ln w="12700">
            <a:solidFill>
              <a:srgbClr val="0D9488"/>
            </a:solidFill>
            <a:prstDash val="solid"/>
          </a:ln>
          <a:effectLst>
            <a:outerShdw blurRad="76200" dist="25400" dir="8100000" algn="bl" rotWithShape="0">
              <a:srgbClr val="000000">
                <a:alpha val="10000"/>
              </a:srgbClr>
            </a:outerShdw>
          </a:effectLst>
        </p:spPr>
        <p:txBody>
          <a:bodyPr/>
          <a:lstStyle/>
          <a:p>
            <a:endParaRPr lang="en-IN"/>
          </a:p>
        </p:txBody>
      </p:sp>
      <p:sp>
        <p:nvSpPr>
          <p:cNvPr id="13" name="Shape 11"/>
          <p:cNvSpPr/>
          <p:nvPr/>
        </p:nvSpPr>
        <p:spPr>
          <a:xfrm>
            <a:off x="3182112" y="1481328"/>
            <a:ext cx="2743200" cy="347472"/>
          </a:xfrm>
          <a:prstGeom prst="rect">
            <a:avLst/>
          </a:prstGeom>
          <a:solidFill>
            <a:srgbClr val="0D9488"/>
          </a:solidFill>
          <a:ln w="12700">
            <a:solidFill>
              <a:srgbClr val="0D9488"/>
            </a:solidFill>
            <a:prstDash val="solid"/>
          </a:ln>
        </p:spPr>
        <p:txBody>
          <a:bodyPr/>
          <a:lstStyle/>
          <a:p>
            <a:endParaRPr lang="en-IN"/>
          </a:p>
        </p:txBody>
      </p:sp>
      <p:sp>
        <p:nvSpPr>
          <p:cNvPr id="14" name="Text 12"/>
          <p:cNvSpPr/>
          <p:nvPr/>
        </p:nvSpPr>
        <p:spPr>
          <a:xfrm>
            <a:off x="3273552" y="1536192"/>
            <a:ext cx="2560320" cy="22860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02  Cascade Detection</a:t>
            </a:r>
            <a:endParaRPr lang="en-US" sz="1100" dirty="0"/>
          </a:p>
        </p:txBody>
      </p:sp>
      <p:sp>
        <p:nvSpPr>
          <p:cNvPr id="15" name="Text 13"/>
          <p:cNvSpPr/>
          <p:nvPr/>
        </p:nvSpPr>
        <p:spPr>
          <a:xfrm>
            <a:off x="3273552" y="1892808"/>
            <a:ext cx="2560320" cy="96012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Monitors entire Pennar basin — Pincha→Bahuda→Cheyyeru→Annamayya — as a connected system.</a:t>
            </a:r>
            <a:endParaRPr lang="en-US" sz="950" dirty="0"/>
          </a:p>
        </p:txBody>
      </p:sp>
      <p:sp>
        <p:nvSpPr>
          <p:cNvPr id="16" name="Shape 14"/>
          <p:cNvSpPr/>
          <p:nvPr/>
        </p:nvSpPr>
        <p:spPr>
          <a:xfrm>
            <a:off x="6089904" y="1481328"/>
            <a:ext cx="2743200" cy="1444752"/>
          </a:xfrm>
          <a:prstGeom prst="rect">
            <a:avLst/>
          </a:prstGeom>
          <a:solidFill>
            <a:srgbClr val="FFFFFF"/>
          </a:solidFill>
          <a:ln w="12700">
            <a:solidFill>
              <a:srgbClr val="EA580C"/>
            </a:solidFill>
            <a:prstDash val="solid"/>
          </a:ln>
          <a:effectLst>
            <a:outerShdw blurRad="76200" dist="25400" dir="8100000" algn="bl" rotWithShape="0">
              <a:srgbClr val="000000">
                <a:alpha val="10000"/>
              </a:srgbClr>
            </a:outerShdw>
          </a:effectLst>
        </p:spPr>
        <p:txBody>
          <a:bodyPr/>
          <a:lstStyle/>
          <a:p>
            <a:endParaRPr lang="en-IN"/>
          </a:p>
        </p:txBody>
      </p:sp>
      <p:sp>
        <p:nvSpPr>
          <p:cNvPr id="17" name="Shape 15"/>
          <p:cNvSpPr/>
          <p:nvPr/>
        </p:nvSpPr>
        <p:spPr>
          <a:xfrm>
            <a:off x="6089904" y="1481328"/>
            <a:ext cx="2743200" cy="347472"/>
          </a:xfrm>
          <a:prstGeom prst="rect">
            <a:avLst/>
          </a:prstGeom>
          <a:solidFill>
            <a:srgbClr val="EA580C"/>
          </a:solidFill>
          <a:ln w="12700">
            <a:solidFill>
              <a:srgbClr val="EA580C"/>
            </a:solidFill>
            <a:prstDash val="solid"/>
          </a:ln>
        </p:spPr>
        <p:txBody>
          <a:bodyPr/>
          <a:lstStyle/>
          <a:p>
            <a:endParaRPr lang="en-IN"/>
          </a:p>
        </p:txBody>
      </p:sp>
      <p:sp>
        <p:nvSpPr>
          <p:cNvPr id="18" name="Text 16"/>
          <p:cNvSpPr/>
          <p:nvPr/>
        </p:nvSpPr>
        <p:spPr>
          <a:xfrm>
            <a:off x="6181344" y="1536192"/>
            <a:ext cx="2560320" cy="22860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03  Sensor Failure Handling</a:t>
            </a:r>
            <a:endParaRPr lang="en-US" sz="1100" dirty="0"/>
          </a:p>
        </p:txBody>
      </p:sp>
      <p:sp>
        <p:nvSpPr>
          <p:cNvPr id="19" name="Text 17"/>
          <p:cNvSpPr/>
          <p:nvPr/>
        </p:nvSpPr>
        <p:spPr>
          <a:xfrm>
            <a:off x="6181344" y="1892808"/>
            <a:ext cx="2560320" cy="96012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When Annamayya sensor is offline, upstream proxy signals used. Never blind, never one point of failure.</a:t>
            </a:r>
            <a:endParaRPr lang="en-US" sz="950" dirty="0"/>
          </a:p>
        </p:txBody>
      </p:sp>
      <p:sp>
        <p:nvSpPr>
          <p:cNvPr id="20" name="Shape 18"/>
          <p:cNvSpPr/>
          <p:nvPr/>
        </p:nvSpPr>
        <p:spPr>
          <a:xfrm>
            <a:off x="274320" y="3081528"/>
            <a:ext cx="2743200" cy="1444752"/>
          </a:xfrm>
          <a:prstGeom prst="rect">
            <a:avLst/>
          </a:prstGeom>
          <a:solidFill>
            <a:srgbClr val="FFFFFF"/>
          </a:solidFill>
          <a:ln w="12700">
            <a:solidFill>
              <a:srgbClr val="0284C7"/>
            </a:solidFill>
            <a:prstDash val="solid"/>
          </a:ln>
          <a:effectLst>
            <a:outerShdw blurRad="76200" dist="25400" dir="8100000" algn="bl" rotWithShape="0">
              <a:srgbClr val="000000">
                <a:alpha val="10000"/>
              </a:srgbClr>
            </a:outerShdw>
          </a:effectLst>
        </p:spPr>
        <p:txBody>
          <a:bodyPr/>
          <a:lstStyle/>
          <a:p>
            <a:endParaRPr lang="en-IN"/>
          </a:p>
        </p:txBody>
      </p:sp>
      <p:sp>
        <p:nvSpPr>
          <p:cNvPr id="21" name="Shape 19"/>
          <p:cNvSpPr/>
          <p:nvPr/>
        </p:nvSpPr>
        <p:spPr>
          <a:xfrm>
            <a:off x="274320" y="3081528"/>
            <a:ext cx="2743200" cy="347472"/>
          </a:xfrm>
          <a:prstGeom prst="rect">
            <a:avLst/>
          </a:prstGeom>
          <a:solidFill>
            <a:srgbClr val="0284C7"/>
          </a:solidFill>
          <a:ln w="12700">
            <a:solidFill>
              <a:srgbClr val="0284C7"/>
            </a:solidFill>
            <a:prstDash val="solid"/>
          </a:ln>
        </p:spPr>
        <p:txBody>
          <a:bodyPr/>
          <a:lstStyle/>
          <a:p>
            <a:endParaRPr lang="en-IN"/>
          </a:p>
        </p:txBody>
      </p:sp>
      <p:sp>
        <p:nvSpPr>
          <p:cNvPr id="22" name="Text 20"/>
          <p:cNvSpPr/>
          <p:nvPr/>
        </p:nvSpPr>
        <p:spPr>
          <a:xfrm>
            <a:off x="365760" y="3136392"/>
            <a:ext cx="2560320" cy="22860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04  Explainable Risk Score</a:t>
            </a:r>
            <a:endParaRPr lang="en-US" sz="1100" dirty="0"/>
          </a:p>
        </p:txBody>
      </p:sp>
      <p:sp>
        <p:nvSpPr>
          <p:cNvPr id="23" name="Text 21"/>
          <p:cNvSpPr/>
          <p:nvPr/>
        </p:nvSpPr>
        <p:spPr>
          <a:xfrm>
            <a:off x="365760" y="3493008"/>
            <a:ext cx="2560320" cy="96012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Every alert shows why: Soil 25pts + Cascade 20pts + Rainfall 19pts. Engineers understand and trust it.</a:t>
            </a:r>
            <a:endParaRPr lang="en-US" sz="950" dirty="0"/>
          </a:p>
        </p:txBody>
      </p:sp>
      <p:sp>
        <p:nvSpPr>
          <p:cNvPr id="24" name="Shape 22"/>
          <p:cNvSpPr/>
          <p:nvPr/>
        </p:nvSpPr>
        <p:spPr>
          <a:xfrm>
            <a:off x="3182112" y="3081528"/>
            <a:ext cx="2743200" cy="1444752"/>
          </a:xfrm>
          <a:prstGeom prst="rect">
            <a:avLst/>
          </a:prstGeom>
          <a:solidFill>
            <a:srgbClr val="FFFFFF"/>
          </a:solidFill>
          <a:ln w="12700">
            <a:solidFill>
              <a:srgbClr val="0D9488"/>
            </a:solidFill>
            <a:prstDash val="solid"/>
          </a:ln>
          <a:effectLst>
            <a:outerShdw blurRad="76200" dist="25400" dir="8100000" algn="bl" rotWithShape="0">
              <a:srgbClr val="000000">
                <a:alpha val="10000"/>
              </a:srgbClr>
            </a:outerShdw>
          </a:effectLst>
        </p:spPr>
        <p:txBody>
          <a:bodyPr/>
          <a:lstStyle/>
          <a:p>
            <a:endParaRPr lang="en-IN"/>
          </a:p>
        </p:txBody>
      </p:sp>
      <p:sp>
        <p:nvSpPr>
          <p:cNvPr id="25" name="Shape 23"/>
          <p:cNvSpPr/>
          <p:nvPr/>
        </p:nvSpPr>
        <p:spPr>
          <a:xfrm>
            <a:off x="3182112" y="3081528"/>
            <a:ext cx="2743200" cy="347472"/>
          </a:xfrm>
          <a:prstGeom prst="rect">
            <a:avLst/>
          </a:prstGeom>
          <a:solidFill>
            <a:srgbClr val="0D9488"/>
          </a:solidFill>
          <a:ln w="12700">
            <a:solidFill>
              <a:srgbClr val="0D9488"/>
            </a:solidFill>
            <a:prstDash val="solid"/>
          </a:ln>
        </p:spPr>
        <p:txBody>
          <a:bodyPr/>
          <a:lstStyle/>
          <a:p>
            <a:endParaRPr lang="en-IN"/>
          </a:p>
        </p:txBody>
      </p:sp>
      <p:sp>
        <p:nvSpPr>
          <p:cNvPr id="26" name="Text 24"/>
          <p:cNvSpPr/>
          <p:nvPr/>
        </p:nvSpPr>
        <p:spPr>
          <a:xfrm>
            <a:off x="3273552" y="3136392"/>
            <a:ext cx="2560320" cy="22860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05  Action Recommendations</a:t>
            </a:r>
            <a:endParaRPr lang="en-US" sz="1100" dirty="0"/>
          </a:p>
        </p:txBody>
      </p:sp>
      <p:sp>
        <p:nvSpPr>
          <p:cNvPr id="27" name="Text 25"/>
          <p:cNvSpPr/>
          <p:nvPr/>
        </p:nvSpPr>
        <p:spPr>
          <a:xfrm>
            <a:off x="3273552" y="3493008"/>
            <a:ext cx="2560320" cy="96012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Not just an alert — 3 feasible options: diversion, upstream reduction, controlled release.</a:t>
            </a:r>
            <a:endParaRPr lang="en-US" sz="950" dirty="0"/>
          </a:p>
        </p:txBody>
      </p:sp>
      <p:sp>
        <p:nvSpPr>
          <p:cNvPr id="28" name="Shape 26"/>
          <p:cNvSpPr/>
          <p:nvPr/>
        </p:nvSpPr>
        <p:spPr>
          <a:xfrm>
            <a:off x="6089904" y="3081528"/>
            <a:ext cx="2743200" cy="1444752"/>
          </a:xfrm>
          <a:prstGeom prst="rect">
            <a:avLst/>
          </a:prstGeom>
          <a:solidFill>
            <a:srgbClr val="FFFFFF"/>
          </a:solidFill>
          <a:ln w="12700">
            <a:solidFill>
              <a:srgbClr val="22C55E"/>
            </a:solidFill>
            <a:prstDash val="solid"/>
          </a:ln>
          <a:effectLst>
            <a:outerShdw blurRad="76200" dist="25400" dir="8100000" algn="bl" rotWithShape="0">
              <a:srgbClr val="000000">
                <a:alpha val="10000"/>
              </a:srgbClr>
            </a:outerShdw>
          </a:effectLst>
        </p:spPr>
        <p:txBody>
          <a:bodyPr/>
          <a:lstStyle/>
          <a:p>
            <a:endParaRPr lang="en-IN"/>
          </a:p>
        </p:txBody>
      </p:sp>
      <p:sp>
        <p:nvSpPr>
          <p:cNvPr id="29" name="Shape 27"/>
          <p:cNvSpPr/>
          <p:nvPr/>
        </p:nvSpPr>
        <p:spPr>
          <a:xfrm>
            <a:off x="6089904" y="3081528"/>
            <a:ext cx="2743200" cy="347472"/>
          </a:xfrm>
          <a:prstGeom prst="rect">
            <a:avLst/>
          </a:prstGeom>
          <a:solidFill>
            <a:srgbClr val="22C55E"/>
          </a:solidFill>
          <a:ln w="12700">
            <a:solidFill>
              <a:srgbClr val="22C55E"/>
            </a:solidFill>
            <a:prstDash val="solid"/>
          </a:ln>
        </p:spPr>
        <p:txBody>
          <a:bodyPr/>
          <a:lstStyle/>
          <a:p>
            <a:endParaRPr lang="en-IN"/>
          </a:p>
        </p:txBody>
      </p:sp>
      <p:sp>
        <p:nvSpPr>
          <p:cNvPr id="30" name="Text 28"/>
          <p:cNvSpPr/>
          <p:nvPr/>
        </p:nvSpPr>
        <p:spPr>
          <a:xfrm>
            <a:off x="6181344" y="3136392"/>
            <a:ext cx="2560320" cy="22860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06  Last-Mile SMS Alert</a:t>
            </a:r>
            <a:endParaRPr lang="en-US" sz="1100" dirty="0"/>
          </a:p>
        </p:txBody>
      </p:sp>
      <p:sp>
        <p:nvSpPr>
          <p:cNvPr id="31" name="Text 29"/>
          <p:cNvSpPr/>
          <p:nvPr/>
        </p:nvSpPr>
        <p:spPr>
          <a:xfrm>
            <a:off x="6181344" y="3493008"/>
            <a:ext cx="2560320" cy="96012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System generates alerts to 1,247 contacts + Collector + APSDMA HQ + NDRF for review and dispatch. Telugu &amp; English.</a:t>
            </a:r>
            <a:endParaRPr lang="en-US" sz="950" dirty="0"/>
          </a:p>
        </p:txBody>
      </p:sp>
      <p:sp>
        <p:nvSpPr>
          <p:cNvPr id="32" name="Shape 30"/>
          <p:cNvSpPr/>
          <p:nvPr/>
        </p:nvSpPr>
        <p:spPr>
          <a:xfrm>
            <a:off x="0" y="4818888"/>
            <a:ext cx="9144000" cy="324612"/>
          </a:xfrm>
          <a:prstGeom prst="rect">
            <a:avLst/>
          </a:prstGeom>
          <a:solidFill>
            <a:srgbClr val="E2E8F0"/>
          </a:solidFill>
          <a:ln w="12700">
            <a:solidFill>
              <a:srgbClr val="E2E8F0"/>
            </a:solidFill>
            <a:prstDash val="solid"/>
          </a:ln>
        </p:spPr>
        <p:txBody>
          <a:bodyPr/>
          <a:lstStyle/>
          <a:p>
            <a:endParaRPr lang="en-IN"/>
          </a:p>
        </p:txBody>
      </p:sp>
      <p:sp>
        <p:nvSpPr>
          <p:cNvPr id="33" name="Text 31"/>
          <p:cNvSpPr/>
          <p:nvPr/>
        </p:nvSpPr>
        <p:spPr>
          <a:xfrm>
            <a:off x="274320" y="4837176"/>
            <a:ext cx="7772400" cy="27432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AP-Wrims Early Warning System  |  HierachAI Technologies Pvt. Ltd.  |  DPIIT Recognised · Women-Led · Andhra Pradesh</a:t>
            </a:r>
            <a:endParaRPr lang="en-US" sz="800" dirty="0"/>
          </a:p>
        </p:txBody>
      </p:sp>
      <p:sp>
        <p:nvSpPr>
          <p:cNvPr id="34" name="Text 32"/>
          <p:cNvSpPr/>
          <p:nvPr/>
        </p:nvSpPr>
        <p:spPr>
          <a:xfrm>
            <a:off x="8046720" y="4837176"/>
            <a:ext cx="914400" cy="274320"/>
          </a:xfrm>
          <a:prstGeom prst="rect">
            <a:avLst/>
          </a:prstGeom>
          <a:noFill/>
          <a:ln/>
        </p:spPr>
        <p:txBody>
          <a:bodyPr wrap="square" lIns="0" tIns="0" rIns="0" bIns="0" rtlCol="0" anchor="ctr"/>
          <a:lstStyle/>
          <a:p>
            <a:pPr marL="0" indent="0" algn="r">
              <a:buNone/>
            </a:pPr>
            <a:r>
              <a:rPr lang="en-US" sz="800" dirty="0">
                <a:solidFill>
                  <a:srgbClr val="1E3A5F"/>
                </a:solidFill>
                <a:latin typeface="Calibri" pitchFamily="34" charset="0"/>
                <a:ea typeface="Calibri" pitchFamily="34" charset="-122"/>
                <a:cs typeface="Calibri" pitchFamily="34" charset="-120"/>
              </a:rPr>
              <a:t>4 / 16</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txBody>
          <a:bodyPr/>
          <a:lstStyle/>
          <a:p>
            <a:endParaRPr lang="en-IN"/>
          </a:p>
        </p:txBody>
      </p:sp>
      <p:sp>
        <p:nvSpPr>
          <p:cNvPr id="3" name="Shape 1"/>
          <p:cNvSpPr/>
          <p:nvPr/>
        </p:nvSpPr>
        <p:spPr>
          <a:xfrm>
            <a:off x="0" y="73152"/>
            <a:ext cx="9144000" cy="658368"/>
          </a:xfrm>
          <a:prstGeom prst="rect">
            <a:avLst/>
          </a:prstGeom>
          <a:solidFill>
            <a:srgbClr val="FFFFFF"/>
          </a:solidFill>
          <a:ln w="12700">
            <a:solidFill>
              <a:srgbClr val="E2E8F0"/>
            </a:solidFill>
            <a:prstDash val="solid"/>
          </a:ln>
        </p:spPr>
        <p:txBody>
          <a:bodyPr/>
          <a:lstStyle/>
          <a:p>
            <a:endParaRPr lang="en-IN"/>
          </a:p>
        </p:txBody>
      </p:sp>
      <p:sp>
        <p:nvSpPr>
          <p:cNvPr id="4" name="Text 2"/>
          <p:cNvSpPr/>
          <p:nvPr/>
        </p:nvSpPr>
        <p:spPr>
          <a:xfrm>
            <a:off x="365760" y="91440"/>
            <a:ext cx="8412480" cy="475488"/>
          </a:xfrm>
          <a:prstGeom prst="rect">
            <a:avLst/>
          </a:prstGeom>
          <a:noFill/>
          <a:ln/>
        </p:spPr>
        <p:txBody>
          <a:bodyPr wrap="square" lIns="0" tIns="0" rIns="0" bIns="0" rtlCol="0" anchor="ctr"/>
          <a:lstStyle/>
          <a:p>
            <a:pPr marL="0" indent="0">
              <a:buNone/>
            </a:pPr>
            <a:r>
              <a:rPr lang="en-US" sz="2000" b="1" dirty="0">
                <a:solidFill>
                  <a:srgbClr val="0F172A"/>
                </a:solidFill>
                <a:latin typeface="Calibri" pitchFamily="34" charset="0"/>
                <a:ea typeface="Calibri" pitchFamily="34" charset="-122"/>
                <a:cs typeface="Calibri" pitchFamily="34" charset="-120"/>
              </a:rPr>
              <a:t>📡  Data Sources — Government Data + Satellite Inputs</a:t>
            </a:r>
            <a:endParaRPr lang="en-US" sz="2000" dirty="0"/>
          </a:p>
        </p:txBody>
      </p:sp>
      <p:sp>
        <p:nvSpPr>
          <p:cNvPr id="5" name="Shape 3"/>
          <p:cNvSpPr/>
          <p:nvPr/>
        </p:nvSpPr>
        <p:spPr>
          <a:xfrm>
            <a:off x="0" y="731520"/>
            <a:ext cx="9144000" cy="256032"/>
          </a:xfrm>
          <a:prstGeom prst="rect">
            <a:avLst/>
          </a:prstGeom>
          <a:solidFill>
            <a:srgbClr val="EFF6FF"/>
          </a:solidFill>
          <a:ln w="12700">
            <a:solidFill>
              <a:srgbClr val="BFDBFE"/>
            </a:solidFill>
            <a:prstDash val="solid"/>
          </a:ln>
        </p:spPr>
        <p:txBody>
          <a:bodyPr/>
          <a:lstStyle/>
          <a:p>
            <a:endParaRPr lang="en-IN"/>
          </a:p>
        </p:txBody>
      </p:sp>
      <p:sp>
        <p:nvSpPr>
          <p:cNvPr id="6" name="Text 4"/>
          <p:cNvSpPr/>
          <p:nvPr/>
        </p:nvSpPr>
        <p:spPr>
          <a:xfrm>
            <a:off x="365760" y="749808"/>
            <a:ext cx="8412480" cy="219456"/>
          </a:xfrm>
          <a:prstGeom prst="rect">
            <a:avLst/>
          </a:prstGeom>
          <a:noFill/>
          <a:ln/>
        </p:spPr>
        <p:txBody>
          <a:bodyPr wrap="square" lIns="0" tIns="0" rIns="0" bIns="0" rtlCol="0" anchor="ctr"/>
          <a:lstStyle/>
          <a:p>
            <a:pPr marL="0" indent="0">
              <a:buNone/>
            </a:pPr>
            <a:r>
              <a:rPr lang="en-US" sz="950" dirty="0">
                <a:solidFill>
                  <a:srgbClr val="0284C7"/>
                </a:solidFill>
                <a:latin typeface="Calibri" pitchFamily="34" charset="0"/>
                <a:ea typeface="Calibri" pitchFamily="34" charset="-122"/>
                <a:cs typeface="Calibri" pitchFamily="34" charset="-120"/>
              </a:rPr>
              <a:t>Primarily based on APWRIMS government data + ESA Copernicus Sentinel-1 SAR satellite inputs</a:t>
            </a:r>
            <a:endParaRPr lang="en-US" sz="950" dirty="0"/>
          </a:p>
        </p:txBody>
      </p:sp>
      <p:sp>
        <p:nvSpPr>
          <p:cNvPr id="7" name="Shape 5"/>
          <p:cNvSpPr/>
          <p:nvPr/>
        </p:nvSpPr>
        <p:spPr>
          <a:xfrm>
            <a:off x="274320" y="1115568"/>
            <a:ext cx="2743200" cy="1591056"/>
          </a:xfrm>
          <a:prstGeom prst="rect">
            <a:avLst/>
          </a:prstGeom>
          <a:solidFill>
            <a:srgbClr val="FFFFFF"/>
          </a:solidFill>
          <a:ln w="12700">
            <a:solidFill>
              <a:srgbClr val="0284C7"/>
            </a:solidFill>
            <a:prstDash val="solid"/>
          </a:ln>
          <a:effectLst>
            <a:outerShdw blurRad="76200" dist="25400" dir="8100000" algn="bl" rotWithShape="0">
              <a:srgbClr val="000000">
                <a:alpha val="10000"/>
              </a:srgbClr>
            </a:outerShdw>
          </a:effectLst>
        </p:spPr>
        <p:txBody>
          <a:bodyPr/>
          <a:lstStyle/>
          <a:p>
            <a:endParaRPr lang="en-IN"/>
          </a:p>
        </p:txBody>
      </p:sp>
      <p:sp>
        <p:nvSpPr>
          <p:cNvPr id="8" name="Shape 6"/>
          <p:cNvSpPr/>
          <p:nvPr/>
        </p:nvSpPr>
        <p:spPr>
          <a:xfrm>
            <a:off x="274320" y="1115568"/>
            <a:ext cx="2743200" cy="347472"/>
          </a:xfrm>
          <a:prstGeom prst="rect">
            <a:avLst/>
          </a:prstGeom>
          <a:solidFill>
            <a:srgbClr val="0284C7"/>
          </a:solidFill>
          <a:ln w="12700">
            <a:solidFill>
              <a:srgbClr val="0284C7"/>
            </a:solidFill>
            <a:prstDash val="solid"/>
          </a:ln>
        </p:spPr>
        <p:txBody>
          <a:bodyPr/>
          <a:lstStyle/>
          <a:p>
            <a:endParaRPr lang="en-IN"/>
          </a:p>
        </p:txBody>
      </p:sp>
      <p:sp>
        <p:nvSpPr>
          <p:cNvPr id="9" name="Text 7"/>
          <p:cNvSpPr/>
          <p:nvPr/>
        </p:nvSpPr>
        <p:spPr>
          <a:xfrm>
            <a:off x="365760" y="1179576"/>
            <a:ext cx="2560320" cy="24688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APWRIMS Portal</a:t>
            </a:r>
            <a:endParaRPr lang="en-US" sz="1100" dirty="0"/>
          </a:p>
        </p:txBody>
      </p:sp>
      <p:sp>
        <p:nvSpPr>
          <p:cNvPr id="10" name="Text 8"/>
          <p:cNvSpPr/>
          <p:nvPr/>
        </p:nvSpPr>
        <p:spPr>
          <a:xfrm>
            <a:off x="365760" y="1536192"/>
            <a:ext cx="2560320" cy="228600"/>
          </a:xfrm>
          <a:prstGeom prst="rect">
            <a:avLst/>
          </a:prstGeom>
          <a:noFill/>
          <a:ln/>
        </p:spPr>
        <p:txBody>
          <a:bodyPr wrap="square" lIns="0" tIns="0" rIns="0" bIns="0" rtlCol="0" anchor="ctr"/>
          <a:lstStyle/>
          <a:p>
            <a:pPr marL="0" indent="0">
              <a:buNone/>
            </a:pPr>
            <a:r>
              <a:rPr lang="en-US" sz="1100" b="1" dirty="0">
                <a:solidFill>
                  <a:srgbClr val="0284C7"/>
                </a:solidFill>
                <a:latin typeface="Calibri" pitchFamily="34" charset="0"/>
                <a:ea typeface="Calibri" pitchFamily="34" charset="-122"/>
                <a:cs typeface="Calibri" pitchFamily="34" charset="-120"/>
              </a:rPr>
              <a:t>MI Tank Fill Reports</a:t>
            </a:r>
            <a:endParaRPr lang="en-US" sz="1100" dirty="0"/>
          </a:p>
        </p:txBody>
      </p:sp>
      <p:sp>
        <p:nvSpPr>
          <p:cNvPr id="11" name="Text 9"/>
          <p:cNvSpPr/>
          <p:nvPr/>
        </p:nvSpPr>
        <p:spPr>
          <a:xfrm>
            <a:off x="365760" y="1792224"/>
            <a:ext cx="2560320" cy="54864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38,600 tanks · District level · Daily storage %</a:t>
            </a:r>
            <a:endParaRPr lang="en-US" sz="950" dirty="0"/>
          </a:p>
        </p:txBody>
      </p:sp>
      <p:sp>
        <p:nvSpPr>
          <p:cNvPr id="12" name="Shape 10"/>
          <p:cNvSpPr/>
          <p:nvPr/>
        </p:nvSpPr>
        <p:spPr>
          <a:xfrm>
            <a:off x="2103120" y="2432304"/>
            <a:ext cx="822960" cy="201168"/>
          </a:xfrm>
          <a:prstGeom prst="rect">
            <a:avLst/>
          </a:prstGeom>
          <a:solidFill>
            <a:srgbClr val="22C55E"/>
          </a:solidFill>
          <a:ln w="12700">
            <a:solidFill>
              <a:srgbClr val="22C55E"/>
            </a:solidFill>
            <a:prstDash val="solid"/>
          </a:ln>
        </p:spPr>
        <p:txBody>
          <a:bodyPr/>
          <a:lstStyle/>
          <a:p>
            <a:endParaRPr lang="en-IN"/>
          </a:p>
        </p:txBody>
      </p:sp>
      <p:sp>
        <p:nvSpPr>
          <p:cNvPr id="13" name="Text 11"/>
          <p:cNvSpPr/>
          <p:nvPr/>
        </p:nvSpPr>
        <p:spPr>
          <a:xfrm>
            <a:off x="2103120" y="2432304"/>
            <a:ext cx="82296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a:t>
            </a:r>
            <a:endParaRPr lang="en-US" sz="900" dirty="0"/>
          </a:p>
        </p:txBody>
      </p:sp>
      <p:sp>
        <p:nvSpPr>
          <p:cNvPr id="14" name="Shape 12"/>
          <p:cNvSpPr/>
          <p:nvPr/>
        </p:nvSpPr>
        <p:spPr>
          <a:xfrm>
            <a:off x="3182112" y="1115568"/>
            <a:ext cx="2743200" cy="1591056"/>
          </a:xfrm>
          <a:prstGeom prst="rect">
            <a:avLst/>
          </a:prstGeom>
          <a:solidFill>
            <a:srgbClr val="FFFFFF"/>
          </a:solidFill>
          <a:ln w="12700">
            <a:solidFill>
              <a:srgbClr val="0D9488"/>
            </a:solidFill>
            <a:prstDash val="solid"/>
          </a:ln>
          <a:effectLst>
            <a:outerShdw blurRad="76200" dist="25400" dir="8100000" algn="bl" rotWithShape="0">
              <a:srgbClr val="000000">
                <a:alpha val="10000"/>
              </a:srgbClr>
            </a:outerShdw>
          </a:effectLst>
        </p:spPr>
        <p:txBody>
          <a:bodyPr/>
          <a:lstStyle/>
          <a:p>
            <a:endParaRPr lang="en-IN"/>
          </a:p>
        </p:txBody>
      </p:sp>
      <p:sp>
        <p:nvSpPr>
          <p:cNvPr id="15" name="Shape 13"/>
          <p:cNvSpPr/>
          <p:nvPr/>
        </p:nvSpPr>
        <p:spPr>
          <a:xfrm>
            <a:off x="3182112" y="1115568"/>
            <a:ext cx="2743200" cy="347472"/>
          </a:xfrm>
          <a:prstGeom prst="rect">
            <a:avLst/>
          </a:prstGeom>
          <a:solidFill>
            <a:srgbClr val="0D9488"/>
          </a:solidFill>
          <a:ln w="12700">
            <a:solidFill>
              <a:srgbClr val="0D9488"/>
            </a:solidFill>
            <a:prstDash val="solid"/>
          </a:ln>
        </p:spPr>
        <p:txBody>
          <a:bodyPr/>
          <a:lstStyle/>
          <a:p>
            <a:endParaRPr lang="en-IN"/>
          </a:p>
        </p:txBody>
      </p:sp>
      <p:sp>
        <p:nvSpPr>
          <p:cNvPr id="16" name="Text 14"/>
          <p:cNvSpPr/>
          <p:nvPr/>
        </p:nvSpPr>
        <p:spPr>
          <a:xfrm>
            <a:off x="3273552" y="1179576"/>
            <a:ext cx="2560320" cy="24688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Reservoir Summary</a:t>
            </a:r>
            <a:endParaRPr lang="en-US" sz="1100" dirty="0"/>
          </a:p>
        </p:txBody>
      </p:sp>
      <p:sp>
        <p:nvSpPr>
          <p:cNvPr id="17" name="Text 15"/>
          <p:cNvSpPr/>
          <p:nvPr/>
        </p:nvSpPr>
        <p:spPr>
          <a:xfrm>
            <a:off x="3273552" y="1536192"/>
            <a:ext cx="2560320" cy="228600"/>
          </a:xfrm>
          <a:prstGeom prst="rect">
            <a:avLst/>
          </a:prstGeom>
          <a:noFill/>
          <a:ln/>
        </p:spPr>
        <p:txBody>
          <a:bodyPr wrap="square" lIns="0" tIns="0" rIns="0" bIns="0" rtlCol="0" anchor="ctr"/>
          <a:lstStyle/>
          <a:p>
            <a:pPr marL="0" indent="0">
              <a:buNone/>
            </a:pPr>
            <a:r>
              <a:rPr lang="en-US" sz="1100" b="1" dirty="0">
                <a:solidFill>
                  <a:srgbClr val="0D9488"/>
                </a:solidFill>
                <a:latin typeface="Calibri" pitchFamily="34" charset="0"/>
                <a:ea typeface="Calibri" pitchFamily="34" charset="-122"/>
                <a:cs typeface="Calibri" pitchFamily="34" charset="-120"/>
              </a:rPr>
              <a:t>Inflow/Outflow Data</a:t>
            </a:r>
            <a:endParaRPr lang="en-US" sz="1100" dirty="0"/>
          </a:p>
        </p:txBody>
      </p:sp>
      <p:sp>
        <p:nvSpPr>
          <p:cNvPr id="18" name="Text 16"/>
          <p:cNvSpPr/>
          <p:nvPr/>
        </p:nvSpPr>
        <p:spPr>
          <a:xfrm>
            <a:off x="3273552" y="1792224"/>
            <a:ext cx="2560320" cy="54864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Pincha, Annamayya · Real-time cusecs readings</a:t>
            </a:r>
            <a:endParaRPr lang="en-US" sz="950" dirty="0"/>
          </a:p>
        </p:txBody>
      </p:sp>
      <p:sp>
        <p:nvSpPr>
          <p:cNvPr id="19" name="Shape 17"/>
          <p:cNvSpPr/>
          <p:nvPr/>
        </p:nvSpPr>
        <p:spPr>
          <a:xfrm>
            <a:off x="5010912" y="2432304"/>
            <a:ext cx="822960" cy="201168"/>
          </a:xfrm>
          <a:prstGeom prst="rect">
            <a:avLst/>
          </a:prstGeom>
          <a:solidFill>
            <a:srgbClr val="22C55E"/>
          </a:solidFill>
          <a:ln w="12700">
            <a:solidFill>
              <a:srgbClr val="22C55E"/>
            </a:solidFill>
            <a:prstDash val="solid"/>
          </a:ln>
        </p:spPr>
        <p:txBody>
          <a:bodyPr/>
          <a:lstStyle/>
          <a:p>
            <a:endParaRPr lang="en-IN"/>
          </a:p>
        </p:txBody>
      </p:sp>
      <p:sp>
        <p:nvSpPr>
          <p:cNvPr id="20" name="Text 18"/>
          <p:cNvSpPr/>
          <p:nvPr/>
        </p:nvSpPr>
        <p:spPr>
          <a:xfrm>
            <a:off x="5010912" y="2432304"/>
            <a:ext cx="82296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a:t>
            </a:r>
            <a:endParaRPr lang="en-US" sz="900" dirty="0"/>
          </a:p>
        </p:txBody>
      </p:sp>
      <p:sp>
        <p:nvSpPr>
          <p:cNvPr id="21" name="Shape 19"/>
          <p:cNvSpPr/>
          <p:nvPr/>
        </p:nvSpPr>
        <p:spPr>
          <a:xfrm>
            <a:off x="6089904" y="1115568"/>
            <a:ext cx="2743200" cy="1591056"/>
          </a:xfrm>
          <a:prstGeom prst="rect">
            <a:avLst/>
          </a:prstGeom>
          <a:solidFill>
            <a:srgbClr val="FFFFFF"/>
          </a:solidFill>
          <a:ln w="12700">
            <a:solidFill>
              <a:srgbClr val="22C55E"/>
            </a:solidFill>
            <a:prstDash val="solid"/>
          </a:ln>
          <a:effectLst>
            <a:outerShdw blurRad="76200" dist="25400" dir="8100000" algn="bl" rotWithShape="0">
              <a:srgbClr val="000000">
                <a:alpha val="10000"/>
              </a:srgbClr>
            </a:outerShdw>
          </a:effectLst>
        </p:spPr>
        <p:txBody>
          <a:bodyPr/>
          <a:lstStyle/>
          <a:p>
            <a:endParaRPr lang="en-IN"/>
          </a:p>
        </p:txBody>
      </p:sp>
      <p:sp>
        <p:nvSpPr>
          <p:cNvPr id="22" name="Shape 20"/>
          <p:cNvSpPr/>
          <p:nvPr/>
        </p:nvSpPr>
        <p:spPr>
          <a:xfrm>
            <a:off x="6089904" y="1115568"/>
            <a:ext cx="2743200" cy="347472"/>
          </a:xfrm>
          <a:prstGeom prst="rect">
            <a:avLst/>
          </a:prstGeom>
          <a:solidFill>
            <a:srgbClr val="22C55E"/>
          </a:solidFill>
          <a:ln w="12700">
            <a:solidFill>
              <a:srgbClr val="22C55E"/>
            </a:solidFill>
            <a:prstDash val="solid"/>
          </a:ln>
        </p:spPr>
        <p:txBody>
          <a:bodyPr/>
          <a:lstStyle/>
          <a:p>
            <a:endParaRPr lang="en-IN"/>
          </a:p>
        </p:txBody>
      </p:sp>
      <p:sp>
        <p:nvSpPr>
          <p:cNvPr id="23" name="Text 21"/>
          <p:cNvSpPr/>
          <p:nvPr/>
        </p:nvSpPr>
        <p:spPr>
          <a:xfrm>
            <a:off x="6181344" y="1179576"/>
            <a:ext cx="2560320" cy="24688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Soil Moisture</a:t>
            </a:r>
            <a:endParaRPr lang="en-US" sz="1100" dirty="0"/>
          </a:p>
        </p:txBody>
      </p:sp>
      <p:sp>
        <p:nvSpPr>
          <p:cNvPr id="24" name="Text 22"/>
          <p:cNvSpPr/>
          <p:nvPr/>
        </p:nvSpPr>
        <p:spPr>
          <a:xfrm>
            <a:off x="6181344" y="1536192"/>
            <a:ext cx="2560320" cy="228600"/>
          </a:xfrm>
          <a:prstGeom prst="rect">
            <a:avLst/>
          </a:prstGeom>
          <a:noFill/>
          <a:ln/>
        </p:spPr>
        <p:txBody>
          <a:bodyPr wrap="square" lIns="0" tIns="0" rIns="0" bIns="0" rtlCol="0" anchor="ctr"/>
          <a:lstStyle/>
          <a:p>
            <a:pPr marL="0" indent="0">
              <a:buNone/>
            </a:pPr>
            <a:r>
              <a:rPr lang="en-US" sz="1100" b="1" dirty="0">
                <a:solidFill>
                  <a:srgbClr val="22C55E"/>
                </a:solidFill>
                <a:latin typeface="Calibri" pitchFamily="34" charset="0"/>
                <a:ea typeface="Calibri" pitchFamily="34" charset="-122"/>
                <a:cs typeface="Calibri" pitchFamily="34" charset="-120"/>
              </a:rPr>
              <a:t>5cm to 150cm depth</a:t>
            </a:r>
            <a:endParaRPr lang="en-US" sz="1100" dirty="0"/>
          </a:p>
        </p:txBody>
      </p:sp>
      <p:sp>
        <p:nvSpPr>
          <p:cNvPr id="25" name="Text 23"/>
          <p:cNvSpPr/>
          <p:nvPr/>
        </p:nvSpPr>
        <p:spPr>
          <a:xfrm>
            <a:off x="6181344" y="1792224"/>
            <a:ext cx="2560320" cy="54864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District saturation % · Monsoon stress indicator</a:t>
            </a:r>
            <a:endParaRPr lang="en-US" sz="950" dirty="0"/>
          </a:p>
        </p:txBody>
      </p:sp>
      <p:sp>
        <p:nvSpPr>
          <p:cNvPr id="26" name="Shape 24"/>
          <p:cNvSpPr/>
          <p:nvPr/>
        </p:nvSpPr>
        <p:spPr>
          <a:xfrm>
            <a:off x="7918704" y="2432304"/>
            <a:ext cx="822960" cy="201168"/>
          </a:xfrm>
          <a:prstGeom prst="rect">
            <a:avLst/>
          </a:prstGeom>
          <a:solidFill>
            <a:srgbClr val="22C55E"/>
          </a:solidFill>
          <a:ln w="12700">
            <a:solidFill>
              <a:srgbClr val="22C55E"/>
            </a:solidFill>
            <a:prstDash val="solid"/>
          </a:ln>
        </p:spPr>
        <p:txBody>
          <a:bodyPr/>
          <a:lstStyle/>
          <a:p>
            <a:endParaRPr lang="en-IN"/>
          </a:p>
        </p:txBody>
      </p:sp>
      <p:sp>
        <p:nvSpPr>
          <p:cNvPr id="27" name="Text 25"/>
          <p:cNvSpPr/>
          <p:nvPr/>
        </p:nvSpPr>
        <p:spPr>
          <a:xfrm>
            <a:off x="7918704" y="2432304"/>
            <a:ext cx="82296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a:t>
            </a:r>
            <a:endParaRPr lang="en-US" sz="900" dirty="0"/>
          </a:p>
        </p:txBody>
      </p:sp>
      <p:sp>
        <p:nvSpPr>
          <p:cNvPr id="28" name="Shape 26"/>
          <p:cNvSpPr/>
          <p:nvPr/>
        </p:nvSpPr>
        <p:spPr>
          <a:xfrm>
            <a:off x="274320" y="2871216"/>
            <a:ext cx="2743200" cy="1591056"/>
          </a:xfrm>
          <a:prstGeom prst="rect">
            <a:avLst/>
          </a:prstGeom>
          <a:solidFill>
            <a:srgbClr val="FFFFFF"/>
          </a:solidFill>
          <a:ln w="12700">
            <a:solidFill>
              <a:srgbClr val="0284C7"/>
            </a:solidFill>
            <a:prstDash val="solid"/>
          </a:ln>
          <a:effectLst>
            <a:outerShdw blurRad="76200" dist="25400" dir="8100000" algn="bl" rotWithShape="0">
              <a:srgbClr val="000000">
                <a:alpha val="10000"/>
              </a:srgbClr>
            </a:outerShdw>
          </a:effectLst>
        </p:spPr>
        <p:txBody>
          <a:bodyPr/>
          <a:lstStyle/>
          <a:p>
            <a:endParaRPr lang="en-IN"/>
          </a:p>
        </p:txBody>
      </p:sp>
      <p:sp>
        <p:nvSpPr>
          <p:cNvPr id="29" name="Shape 27"/>
          <p:cNvSpPr/>
          <p:nvPr/>
        </p:nvSpPr>
        <p:spPr>
          <a:xfrm>
            <a:off x="274320" y="2871216"/>
            <a:ext cx="2743200" cy="347472"/>
          </a:xfrm>
          <a:prstGeom prst="rect">
            <a:avLst/>
          </a:prstGeom>
          <a:solidFill>
            <a:srgbClr val="0284C7"/>
          </a:solidFill>
          <a:ln w="12700">
            <a:solidFill>
              <a:srgbClr val="0284C7"/>
            </a:solidFill>
            <a:prstDash val="solid"/>
          </a:ln>
        </p:spPr>
        <p:txBody>
          <a:bodyPr/>
          <a:lstStyle/>
          <a:p>
            <a:endParaRPr lang="en-IN"/>
          </a:p>
        </p:txBody>
      </p:sp>
      <p:sp>
        <p:nvSpPr>
          <p:cNvPr id="30" name="Text 28"/>
          <p:cNvSpPr/>
          <p:nvPr/>
        </p:nvSpPr>
        <p:spPr>
          <a:xfrm>
            <a:off x="365760" y="2935224"/>
            <a:ext cx="2560320" cy="24688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Rainfall Summary</a:t>
            </a:r>
            <a:endParaRPr lang="en-US" sz="1100" dirty="0"/>
          </a:p>
        </p:txBody>
      </p:sp>
      <p:sp>
        <p:nvSpPr>
          <p:cNvPr id="31" name="Text 29"/>
          <p:cNvSpPr/>
          <p:nvPr/>
        </p:nvSpPr>
        <p:spPr>
          <a:xfrm>
            <a:off x="365760" y="3291840"/>
            <a:ext cx="2560320" cy="228600"/>
          </a:xfrm>
          <a:prstGeom prst="rect">
            <a:avLst/>
          </a:prstGeom>
          <a:noFill/>
          <a:ln/>
        </p:spPr>
        <p:txBody>
          <a:bodyPr wrap="square" lIns="0" tIns="0" rIns="0" bIns="0" rtlCol="0" anchor="ctr"/>
          <a:lstStyle/>
          <a:p>
            <a:pPr marL="0" indent="0">
              <a:buNone/>
            </a:pPr>
            <a:r>
              <a:rPr lang="en-US" sz="1100" b="1" dirty="0">
                <a:solidFill>
                  <a:srgbClr val="0284C7"/>
                </a:solidFill>
                <a:latin typeface="Calibri" pitchFamily="34" charset="0"/>
                <a:ea typeface="Calibri" pitchFamily="34" charset="-122"/>
                <a:cs typeface="Calibri" pitchFamily="34" charset="-120"/>
              </a:rPr>
              <a:t>Actual vs Normal</a:t>
            </a:r>
            <a:endParaRPr lang="en-US" sz="1100" dirty="0"/>
          </a:p>
        </p:txBody>
      </p:sp>
      <p:sp>
        <p:nvSpPr>
          <p:cNvPr id="32" name="Text 30"/>
          <p:cNvSpPr/>
          <p:nvPr/>
        </p:nvSpPr>
        <p:spPr>
          <a:xfrm>
            <a:off x="365760" y="3547872"/>
            <a:ext cx="2560320" cy="54864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Nov 2021: +380% above normal rainfall recorded</a:t>
            </a:r>
            <a:endParaRPr lang="en-US" sz="950" dirty="0"/>
          </a:p>
        </p:txBody>
      </p:sp>
      <p:sp>
        <p:nvSpPr>
          <p:cNvPr id="33" name="Shape 31"/>
          <p:cNvSpPr/>
          <p:nvPr/>
        </p:nvSpPr>
        <p:spPr>
          <a:xfrm>
            <a:off x="2103120" y="4187952"/>
            <a:ext cx="822960" cy="201168"/>
          </a:xfrm>
          <a:prstGeom prst="rect">
            <a:avLst/>
          </a:prstGeom>
          <a:solidFill>
            <a:srgbClr val="22C55E"/>
          </a:solidFill>
          <a:ln w="12700">
            <a:solidFill>
              <a:srgbClr val="22C55E"/>
            </a:solidFill>
            <a:prstDash val="solid"/>
          </a:ln>
        </p:spPr>
        <p:txBody>
          <a:bodyPr/>
          <a:lstStyle/>
          <a:p>
            <a:endParaRPr lang="en-IN"/>
          </a:p>
        </p:txBody>
      </p:sp>
      <p:sp>
        <p:nvSpPr>
          <p:cNvPr id="34" name="Text 32"/>
          <p:cNvSpPr/>
          <p:nvPr/>
        </p:nvSpPr>
        <p:spPr>
          <a:xfrm>
            <a:off x="2103120" y="4187952"/>
            <a:ext cx="82296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a:t>
            </a:r>
            <a:endParaRPr lang="en-US" sz="900" dirty="0"/>
          </a:p>
        </p:txBody>
      </p:sp>
      <p:sp>
        <p:nvSpPr>
          <p:cNvPr id="35" name="Shape 33"/>
          <p:cNvSpPr/>
          <p:nvPr/>
        </p:nvSpPr>
        <p:spPr>
          <a:xfrm>
            <a:off x="3182112" y="2871216"/>
            <a:ext cx="2743200" cy="1591056"/>
          </a:xfrm>
          <a:prstGeom prst="rect">
            <a:avLst/>
          </a:prstGeom>
          <a:solidFill>
            <a:srgbClr val="FFFFFF"/>
          </a:solidFill>
          <a:ln w="12700">
            <a:solidFill>
              <a:srgbClr val="0D9488"/>
            </a:solidFill>
            <a:prstDash val="solid"/>
          </a:ln>
          <a:effectLst>
            <a:outerShdw blurRad="76200" dist="25400" dir="8100000" algn="bl" rotWithShape="0">
              <a:srgbClr val="000000">
                <a:alpha val="10000"/>
              </a:srgbClr>
            </a:outerShdw>
          </a:effectLst>
        </p:spPr>
        <p:txBody>
          <a:bodyPr/>
          <a:lstStyle/>
          <a:p>
            <a:endParaRPr lang="en-IN"/>
          </a:p>
        </p:txBody>
      </p:sp>
      <p:sp>
        <p:nvSpPr>
          <p:cNvPr id="36" name="Shape 34"/>
          <p:cNvSpPr/>
          <p:nvPr/>
        </p:nvSpPr>
        <p:spPr>
          <a:xfrm>
            <a:off x="3182112" y="2871216"/>
            <a:ext cx="2743200" cy="347472"/>
          </a:xfrm>
          <a:prstGeom prst="rect">
            <a:avLst/>
          </a:prstGeom>
          <a:solidFill>
            <a:srgbClr val="0D9488"/>
          </a:solidFill>
          <a:ln w="12700">
            <a:solidFill>
              <a:srgbClr val="0D9488"/>
            </a:solidFill>
            <a:prstDash val="solid"/>
          </a:ln>
        </p:spPr>
        <p:txBody>
          <a:bodyPr/>
          <a:lstStyle/>
          <a:p>
            <a:endParaRPr lang="en-IN"/>
          </a:p>
        </p:txBody>
      </p:sp>
      <p:sp>
        <p:nvSpPr>
          <p:cNvPr id="37" name="Text 35"/>
          <p:cNvSpPr/>
          <p:nvPr/>
        </p:nvSpPr>
        <p:spPr>
          <a:xfrm>
            <a:off x="3273552" y="2935224"/>
            <a:ext cx="2560320" cy="24688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River Gauge Network</a:t>
            </a:r>
            <a:endParaRPr lang="en-US" sz="1100" dirty="0"/>
          </a:p>
        </p:txBody>
      </p:sp>
      <p:sp>
        <p:nvSpPr>
          <p:cNvPr id="38" name="Text 36"/>
          <p:cNvSpPr/>
          <p:nvPr/>
        </p:nvSpPr>
        <p:spPr>
          <a:xfrm>
            <a:off x="3273552" y="3291840"/>
            <a:ext cx="2560320" cy="228600"/>
          </a:xfrm>
          <a:prstGeom prst="rect">
            <a:avLst/>
          </a:prstGeom>
          <a:noFill/>
          <a:ln/>
        </p:spPr>
        <p:txBody>
          <a:bodyPr wrap="square" lIns="0" tIns="0" rIns="0" bIns="0" rtlCol="0" anchor="ctr"/>
          <a:lstStyle/>
          <a:p>
            <a:pPr marL="0" indent="0">
              <a:buNone/>
            </a:pPr>
            <a:r>
              <a:rPr lang="en-US" sz="1100" b="1" dirty="0">
                <a:solidFill>
                  <a:srgbClr val="0D9488"/>
                </a:solidFill>
                <a:latin typeface="Calibri" pitchFamily="34" charset="0"/>
                <a:ea typeface="Calibri" pitchFamily="34" charset="-122"/>
                <a:cs typeface="Calibri" pitchFamily="34" charset="-120"/>
              </a:rPr>
              <a:t>264 Stations Active</a:t>
            </a:r>
            <a:endParaRPr lang="en-US" sz="1100" dirty="0"/>
          </a:p>
        </p:txBody>
      </p:sp>
      <p:sp>
        <p:nvSpPr>
          <p:cNvPr id="39" name="Text 37"/>
          <p:cNvSpPr/>
          <p:nvPr/>
        </p:nvSpPr>
        <p:spPr>
          <a:xfrm>
            <a:off x="3273552" y="3547872"/>
            <a:ext cx="2560320" cy="54864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Cheyyeru, Pincha, Nandalur, Rayachoti gauges</a:t>
            </a:r>
            <a:endParaRPr lang="en-US" sz="950" dirty="0"/>
          </a:p>
        </p:txBody>
      </p:sp>
      <p:sp>
        <p:nvSpPr>
          <p:cNvPr id="40" name="Shape 38"/>
          <p:cNvSpPr/>
          <p:nvPr/>
        </p:nvSpPr>
        <p:spPr>
          <a:xfrm>
            <a:off x="5010912" y="4187952"/>
            <a:ext cx="822960" cy="201168"/>
          </a:xfrm>
          <a:prstGeom prst="rect">
            <a:avLst/>
          </a:prstGeom>
          <a:solidFill>
            <a:srgbClr val="22C55E"/>
          </a:solidFill>
          <a:ln w="12700">
            <a:solidFill>
              <a:srgbClr val="22C55E"/>
            </a:solidFill>
            <a:prstDash val="solid"/>
          </a:ln>
        </p:spPr>
        <p:txBody>
          <a:bodyPr/>
          <a:lstStyle/>
          <a:p>
            <a:endParaRPr lang="en-IN"/>
          </a:p>
        </p:txBody>
      </p:sp>
      <p:sp>
        <p:nvSpPr>
          <p:cNvPr id="41" name="Text 39"/>
          <p:cNvSpPr/>
          <p:nvPr/>
        </p:nvSpPr>
        <p:spPr>
          <a:xfrm>
            <a:off x="5010912" y="4187952"/>
            <a:ext cx="82296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a:t>
            </a:r>
            <a:endParaRPr lang="en-US" sz="900" dirty="0"/>
          </a:p>
        </p:txBody>
      </p:sp>
      <p:sp>
        <p:nvSpPr>
          <p:cNvPr id="42" name="Shape 40"/>
          <p:cNvSpPr/>
          <p:nvPr/>
        </p:nvSpPr>
        <p:spPr>
          <a:xfrm>
            <a:off x="6089904" y="2871216"/>
            <a:ext cx="2743200" cy="1591056"/>
          </a:xfrm>
          <a:prstGeom prst="rect">
            <a:avLst/>
          </a:prstGeom>
          <a:solidFill>
            <a:srgbClr val="FFFFFF"/>
          </a:solidFill>
          <a:ln w="12700">
            <a:solidFill>
              <a:srgbClr val="0A1628"/>
            </a:solidFill>
            <a:prstDash val="solid"/>
          </a:ln>
          <a:effectLst>
            <a:outerShdw blurRad="76200" dist="25400" dir="8100000" algn="bl" rotWithShape="0">
              <a:srgbClr val="000000">
                <a:alpha val="10000"/>
              </a:srgbClr>
            </a:outerShdw>
          </a:effectLst>
        </p:spPr>
        <p:txBody>
          <a:bodyPr/>
          <a:lstStyle/>
          <a:p>
            <a:endParaRPr lang="en-IN"/>
          </a:p>
        </p:txBody>
      </p:sp>
      <p:sp>
        <p:nvSpPr>
          <p:cNvPr id="43" name="Shape 41"/>
          <p:cNvSpPr/>
          <p:nvPr/>
        </p:nvSpPr>
        <p:spPr>
          <a:xfrm>
            <a:off x="6089904" y="2871216"/>
            <a:ext cx="2743200" cy="347472"/>
          </a:xfrm>
          <a:prstGeom prst="rect">
            <a:avLst/>
          </a:prstGeom>
          <a:solidFill>
            <a:srgbClr val="0A1628"/>
          </a:solidFill>
          <a:ln w="12700">
            <a:solidFill>
              <a:srgbClr val="0A1628"/>
            </a:solidFill>
            <a:prstDash val="solid"/>
          </a:ln>
        </p:spPr>
        <p:txBody>
          <a:bodyPr/>
          <a:lstStyle/>
          <a:p>
            <a:endParaRPr lang="en-IN"/>
          </a:p>
        </p:txBody>
      </p:sp>
      <p:sp>
        <p:nvSpPr>
          <p:cNvPr id="44" name="Text 42"/>
          <p:cNvSpPr/>
          <p:nvPr/>
        </p:nvSpPr>
        <p:spPr>
          <a:xfrm>
            <a:off x="6181344" y="2935224"/>
            <a:ext cx="2560320" cy="24688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Sentinel-1 SAR</a:t>
            </a:r>
            <a:endParaRPr lang="en-US" sz="1100" dirty="0"/>
          </a:p>
        </p:txBody>
      </p:sp>
      <p:sp>
        <p:nvSpPr>
          <p:cNvPr id="45" name="Text 43"/>
          <p:cNvSpPr/>
          <p:nvPr/>
        </p:nvSpPr>
        <p:spPr>
          <a:xfrm>
            <a:off x="6181344" y="3291840"/>
            <a:ext cx="2560320" cy="228600"/>
          </a:xfrm>
          <a:prstGeom prst="rect">
            <a:avLst/>
          </a:prstGeom>
          <a:noFill/>
          <a:ln/>
        </p:spPr>
        <p:txBody>
          <a:bodyPr wrap="square" lIns="0" tIns="0" rIns="0" bIns="0" rtlCol="0" anchor="ctr"/>
          <a:lstStyle/>
          <a:p>
            <a:pPr marL="0" indent="0">
              <a:buNone/>
            </a:pPr>
            <a:r>
              <a:rPr lang="en-US" sz="1100" b="1" dirty="0">
                <a:solidFill>
                  <a:srgbClr val="0A1628"/>
                </a:solidFill>
                <a:latin typeface="Calibri" pitchFamily="34" charset="0"/>
                <a:ea typeface="Calibri" pitchFamily="34" charset="-122"/>
                <a:cs typeface="Calibri" pitchFamily="34" charset="-120"/>
              </a:rPr>
              <a:t>ESA Copernicus Satellite</a:t>
            </a:r>
            <a:endParaRPr lang="en-US" sz="1100" dirty="0"/>
          </a:p>
        </p:txBody>
      </p:sp>
      <p:sp>
        <p:nvSpPr>
          <p:cNvPr id="46" name="Text 44"/>
          <p:cNvSpPr/>
          <p:nvPr/>
        </p:nvSpPr>
        <p:spPr>
          <a:xfrm>
            <a:off x="6181344" y="3547872"/>
            <a:ext cx="2560320" cy="54864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Flood extent mapping · 27.24 sq km Nov 2021</a:t>
            </a:r>
            <a:endParaRPr lang="en-US" sz="950" dirty="0"/>
          </a:p>
        </p:txBody>
      </p:sp>
      <p:sp>
        <p:nvSpPr>
          <p:cNvPr id="47" name="Shape 45"/>
          <p:cNvSpPr/>
          <p:nvPr/>
        </p:nvSpPr>
        <p:spPr>
          <a:xfrm>
            <a:off x="7918704" y="4187952"/>
            <a:ext cx="822960" cy="201168"/>
          </a:xfrm>
          <a:prstGeom prst="rect">
            <a:avLst/>
          </a:prstGeom>
          <a:solidFill>
            <a:srgbClr val="22C55E"/>
          </a:solidFill>
          <a:ln w="12700">
            <a:solidFill>
              <a:srgbClr val="22C55E"/>
            </a:solidFill>
            <a:prstDash val="solid"/>
          </a:ln>
        </p:spPr>
        <p:txBody>
          <a:bodyPr/>
          <a:lstStyle/>
          <a:p>
            <a:endParaRPr lang="en-IN"/>
          </a:p>
        </p:txBody>
      </p:sp>
      <p:sp>
        <p:nvSpPr>
          <p:cNvPr id="48" name="Text 46"/>
          <p:cNvSpPr/>
          <p:nvPr/>
        </p:nvSpPr>
        <p:spPr>
          <a:xfrm>
            <a:off x="7918704" y="4187952"/>
            <a:ext cx="82296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 FREE</a:t>
            </a:r>
            <a:endParaRPr lang="en-US" sz="900" dirty="0"/>
          </a:p>
        </p:txBody>
      </p:sp>
      <p:sp>
        <p:nvSpPr>
          <p:cNvPr id="49" name="Shape 47"/>
          <p:cNvSpPr/>
          <p:nvPr/>
        </p:nvSpPr>
        <p:spPr>
          <a:xfrm>
            <a:off x="0" y="4818888"/>
            <a:ext cx="9144000" cy="324612"/>
          </a:xfrm>
          <a:prstGeom prst="rect">
            <a:avLst/>
          </a:prstGeom>
          <a:solidFill>
            <a:srgbClr val="E2E8F0"/>
          </a:solidFill>
          <a:ln w="12700">
            <a:solidFill>
              <a:srgbClr val="E2E8F0"/>
            </a:solidFill>
            <a:prstDash val="solid"/>
          </a:ln>
        </p:spPr>
        <p:txBody>
          <a:bodyPr/>
          <a:lstStyle/>
          <a:p>
            <a:endParaRPr lang="en-IN"/>
          </a:p>
        </p:txBody>
      </p:sp>
      <p:sp>
        <p:nvSpPr>
          <p:cNvPr id="50" name="Text 48"/>
          <p:cNvSpPr/>
          <p:nvPr/>
        </p:nvSpPr>
        <p:spPr>
          <a:xfrm>
            <a:off x="274320" y="4837176"/>
            <a:ext cx="7772400" cy="27432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AP-Wrims Early Warning System  |  HierachAI Technologies Pvt. Ltd.  |  DPIIT Recognised · Women-Led · Andhra Pradesh</a:t>
            </a:r>
            <a:endParaRPr lang="en-US" sz="800" dirty="0"/>
          </a:p>
        </p:txBody>
      </p:sp>
      <p:sp>
        <p:nvSpPr>
          <p:cNvPr id="51" name="Text 49"/>
          <p:cNvSpPr/>
          <p:nvPr/>
        </p:nvSpPr>
        <p:spPr>
          <a:xfrm>
            <a:off x="8046720" y="4837176"/>
            <a:ext cx="914400" cy="274320"/>
          </a:xfrm>
          <a:prstGeom prst="rect">
            <a:avLst/>
          </a:prstGeom>
          <a:noFill/>
          <a:ln/>
        </p:spPr>
        <p:txBody>
          <a:bodyPr wrap="square" lIns="0" tIns="0" rIns="0" bIns="0" rtlCol="0" anchor="ctr"/>
          <a:lstStyle/>
          <a:p>
            <a:pPr marL="0" indent="0" algn="r">
              <a:buNone/>
            </a:pPr>
            <a:r>
              <a:rPr lang="en-US" sz="800" dirty="0">
                <a:solidFill>
                  <a:srgbClr val="1E3A5F"/>
                </a:solidFill>
                <a:latin typeface="Calibri" pitchFamily="34" charset="0"/>
                <a:ea typeface="Calibri" pitchFamily="34" charset="-122"/>
                <a:cs typeface="Calibri" pitchFamily="34" charset="-120"/>
              </a:rPr>
              <a:t>5 / 16</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3A5F"/>
          </a:solidFill>
          <a:ln w="12700">
            <a:solidFill>
              <a:srgbClr val="1E3A5F"/>
            </a:solidFill>
            <a:prstDash val="solid"/>
          </a:ln>
        </p:spPr>
        <p:txBody>
          <a:bodyPr/>
          <a:lstStyle/>
          <a:p>
            <a:endParaRPr lang="en-IN"/>
          </a:p>
        </p:txBody>
      </p:sp>
      <p:sp>
        <p:nvSpPr>
          <p:cNvPr id="3" name="Shape 1"/>
          <p:cNvSpPr/>
          <p:nvPr/>
        </p:nvSpPr>
        <p:spPr>
          <a:xfrm>
            <a:off x="0" y="73152"/>
            <a:ext cx="9144000" cy="658368"/>
          </a:xfrm>
          <a:prstGeom prst="rect">
            <a:avLst/>
          </a:prstGeom>
          <a:solidFill>
            <a:srgbClr val="FFFFFF"/>
          </a:solidFill>
          <a:ln w="12700">
            <a:solidFill>
              <a:srgbClr val="E2E8F0"/>
            </a:solidFill>
            <a:prstDash val="solid"/>
          </a:ln>
        </p:spPr>
        <p:txBody>
          <a:bodyPr/>
          <a:lstStyle/>
          <a:p>
            <a:endParaRPr lang="en-IN"/>
          </a:p>
        </p:txBody>
      </p:sp>
      <p:sp>
        <p:nvSpPr>
          <p:cNvPr id="4" name="Text 2"/>
          <p:cNvSpPr/>
          <p:nvPr/>
        </p:nvSpPr>
        <p:spPr>
          <a:xfrm>
            <a:off x="365760" y="91440"/>
            <a:ext cx="8412480" cy="475488"/>
          </a:xfrm>
          <a:prstGeom prst="rect">
            <a:avLst/>
          </a:prstGeom>
          <a:noFill/>
          <a:ln/>
        </p:spPr>
        <p:txBody>
          <a:bodyPr wrap="square" lIns="0" tIns="0" rIns="0" bIns="0" rtlCol="0" anchor="ctr"/>
          <a:lstStyle/>
          <a:p>
            <a:pPr marL="0" indent="0">
              <a:buNone/>
            </a:pPr>
            <a:r>
              <a:rPr lang="en-US" sz="2000" b="1" dirty="0">
                <a:solidFill>
                  <a:srgbClr val="0F172A"/>
                </a:solidFill>
                <a:latin typeface="Calibri" pitchFamily="34" charset="0"/>
                <a:ea typeface="Calibri" pitchFamily="34" charset="-122"/>
                <a:cs typeface="Calibri" pitchFamily="34" charset="-120"/>
              </a:rPr>
              <a:t>🤖  How It Works — Hybrid Risk Scoring Engine</a:t>
            </a:r>
            <a:endParaRPr lang="en-US" sz="2000" dirty="0"/>
          </a:p>
        </p:txBody>
      </p:sp>
      <p:sp>
        <p:nvSpPr>
          <p:cNvPr id="5" name="Shape 3"/>
          <p:cNvSpPr/>
          <p:nvPr/>
        </p:nvSpPr>
        <p:spPr>
          <a:xfrm>
            <a:off x="0" y="731520"/>
            <a:ext cx="9144000" cy="256032"/>
          </a:xfrm>
          <a:prstGeom prst="rect">
            <a:avLst/>
          </a:prstGeom>
          <a:solidFill>
            <a:srgbClr val="EFF6FF"/>
          </a:solidFill>
          <a:ln w="12700">
            <a:solidFill>
              <a:srgbClr val="BFDBFE"/>
            </a:solidFill>
            <a:prstDash val="solid"/>
          </a:ln>
        </p:spPr>
        <p:txBody>
          <a:bodyPr/>
          <a:lstStyle/>
          <a:p>
            <a:endParaRPr lang="en-IN"/>
          </a:p>
        </p:txBody>
      </p:sp>
      <p:sp>
        <p:nvSpPr>
          <p:cNvPr id="6" name="Text 4"/>
          <p:cNvSpPr/>
          <p:nvPr/>
        </p:nvSpPr>
        <p:spPr>
          <a:xfrm>
            <a:off x="365760" y="749808"/>
            <a:ext cx="8412480" cy="219456"/>
          </a:xfrm>
          <a:prstGeom prst="rect">
            <a:avLst/>
          </a:prstGeom>
          <a:noFill/>
          <a:ln/>
        </p:spPr>
        <p:txBody>
          <a:bodyPr wrap="square" lIns="0" tIns="0" rIns="0" bIns="0" rtlCol="0" anchor="ctr"/>
          <a:lstStyle/>
          <a:p>
            <a:pPr marL="0" indent="0">
              <a:buNone/>
            </a:pPr>
            <a:r>
              <a:rPr lang="en-US" sz="950" dirty="0">
                <a:solidFill>
                  <a:srgbClr val="0284C7"/>
                </a:solidFill>
                <a:latin typeface="Calibri" pitchFamily="34" charset="0"/>
                <a:ea typeface="Calibri" pitchFamily="34" charset="-122"/>
                <a:cs typeface="Calibri" pitchFamily="34" charset="-120"/>
              </a:rPr>
              <a:t>Domain hydrology + data calibration = explainable, defensible, validated on real breach</a:t>
            </a:r>
            <a:endParaRPr lang="en-US" sz="950" dirty="0"/>
          </a:p>
        </p:txBody>
      </p:sp>
      <p:sp>
        <p:nvSpPr>
          <p:cNvPr id="7" name="Shape 5"/>
          <p:cNvSpPr/>
          <p:nvPr/>
        </p:nvSpPr>
        <p:spPr>
          <a:xfrm>
            <a:off x="274320" y="1051560"/>
            <a:ext cx="8595360" cy="566928"/>
          </a:xfrm>
          <a:prstGeom prst="rect">
            <a:avLst/>
          </a:prstGeom>
          <a:solidFill>
            <a:srgbClr val="1E3A5F"/>
          </a:solidFill>
          <a:ln w="12700">
            <a:solidFill>
              <a:srgbClr val="1E3A5F"/>
            </a:solidFill>
            <a:prstDash val="solid"/>
          </a:ln>
          <a:effectLst>
            <a:outerShdw blurRad="76200" dist="25400" dir="8100000" algn="bl" rotWithShape="0">
              <a:srgbClr val="000000">
                <a:alpha val="10000"/>
              </a:srgbClr>
            </a:outerShdw>
          </a:effectLst>
        </p:spPr>
        <p:txBody>
          <a:bodyPr/>
          <a:lstStyle/>
          <a:p>
            <a:endParaRPr lang="en-IN"/>
          </a:p>
        </p:txBody>
      </p:sp>
      <p:sp>
        <p:nvSpPr>
          <p:cNvPr id="8" name="Text 6"/>
          <p:cNvSpPr/>
          <p:nvPr/>
        </p:nvSpPr>
        <p:spPr>
          <a:xfrm>
            <a:off x="365760" y="1088136"/>
            <a:ext cx="8412480" cy="475488"/>
          </a:xfrm>
          <a:prstGeom prst="rect">
            <a:avLst/>
          </a:prstGeom>
          <a:noFill/>
          <a:ln/>
        </p:spPr>
        <p:txBody>
          <a:bodyPr wrap="square" lIns="0" tIns="0" rIns="0" bIns="0" rtlCol="0" anchor="ctr"/>
          <a:lstStyle/>
          <a:p>
            <a:pPr marL="0" indent="0">
              <a:buNone/>
            </a:pPr>
            <a:r>
              <a:rPr lang="en-US" sz="1050" b="1" dirty="0">
                <a:solidFill>
                  <a:srgbClr val="F59E0B"/>
                </a:solidFill>
                <a:latin typeface="Calibri" pitchFamily="34" charset="0"/>
                <a:ea typeface="Calibri" pitchFamily="34" charset="-122"/>
                <a:cs typeface="Calibri" pitchFamily="34" charset="-120"/>
              </a:rPr>
              <a:t>Risk Score  =  Soil Moisture (25)  +  Inflow Surge (25)  +  Discharge Imbalance (20)  +  Rainfall Anomaly (20)  +  Dam Offline Penalty (10)  +  Cascade Bonus (20)  +  Tank Saturation (12)</a:t>
            </a:r>
            <a:endParaRPr lang="en-US" sz="1050" dirty="0"/>
          </a:p>
        </p:txBody>
      </p:sp>
      <p:sp>
        <p:nvSpPr>
          <p:cNvPr id="9" name="Shape 7"/>
          <p:cNvSpPr/>
          <p:nvPr/>
        </p:nvSpPr>
        <p:spPr>
          <a:xfrm>
            <a:off x="274320" y="1719072"/>
            <a:ext cx="8595360" cy="347472"/>
          </a:xfrm>
          <a:prstGeom prst="rect">
            <a:avLst/>
          </a:prstGeom>
          <a:solidFill>
            <a:srgbClr val="FFFFFF"/>
          </a:solidFill>
          <a:ln w="12700">
            <a:solidFill>
              <a:srgbClr val="E2E8F0"/>
            </a:solidFill>
            <a:prstDash val="solid"/>
          </a:ln>
        </p:spPr>
        <p:txBody>
          <a:bodyPr/>
          <a:lstStyle/>
          <a:p>
            <a:endParaRPr lang="en-IN"/>
          </a:p>
        </p:txBody>
      </p:sp>
      <p:sp>
        <p:nvSpPr>
          <p:cNvPr id="10" name="Text 8"/>
          <p:cNvSpPr/>
          <p:nvPr/>
        </p:nvSpPr>
        <p:spPr>
          <a:xfrm>
            <a:off x="365760" y="1783080"/>
            <a:ext cx="2743200" cy="228600"/>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Soil Moisture (100cm)</a:t>
            </a:r>
            <a:endParaRPr lang="en-US" sz="1000" dirty="0"/>
          </a:p>
        </p:txBody>
      </p:sp>
      <p:sp>
        <p:nvSpPr>
          <p:cNvPr id="11" name="Shape 9"/>
          <p:cNvSpPr/>
          <p:nvPr/>
        </p:nvSpPr>
        <p:spPr>
          <a:xfrm>
            <a:off x="3200400" y="1810512"/>
            <a:ext cx="4572000" cy="164592"/>
          </a:xfrm>
          <a:prstGeom prst="rect">
            <a:avLst/>
          </a:prstGeom>
          <a:solidFill>
            <a:srgbClr val="E2E8F0"/>
          </a:solidFill>
          <a:ln w="12700">
            <a:solidFill>
              <a:srgbClr val="E2E8F0"/>
            </a:solidFill>
            <a:prstDash val="solid"/>
          </a:ln>
        </p:spPr>
        <p:txBody>
          <a:bodyPr/>
          <a:lstStyle/>
          <a:p>
            <a:endParaRPr lang="en-IN"/>
          </a:p>
        </p:txBody>
      </p:sp>
      <p:sp>
        <p:nvSpPr>
          <p:cNvPr id="12" name="Shape 10"/>
          <p:cNvSpPr/>
          <p:nvPr/>
        </p:nvSpPr>
        <p:spPr>
          <a:xfrm>
            <a:off x="3200400" y="1810512"/>
            <a:ext cx="4572000" cy="164592"/>
          </a:xfrm>
          <a:prstGeom prst="rect">
            <a:avLst/>
          </a:prstGeom>
          <a:solidFill>
            <a:srgbClr val="EF4444"/>
          </a:solidFill>
          <a:ln w="12700">
            <a:solidFill>
              <a:srgbClr val="EF4444"/>
            </a:solidFill>
            <a:prstDash val="solid"/>
          </a:ln>
        </p:spPr>
        <p:txBody>
          <a:bodyPr/>
          <a:lstStyle/>
          <a:p>
            <a:endParaRPr lang="en-IN"/>
          </a:p>
        </p:txBody>
      </p:sp>
      <p:sp>
        <p:nvSpPr>
          <p:cNvPr id="13" name="Text 11"/>
          <p:cNvSpPr/>
          <p:nvPr/>
        </p:nvSpPr>
        <p:spPr>
          <a:xfrm>
            <a:off x="7818120" y="1773936"/>
            <a:ext cx="731520" cy="228600"/>
          </a:xfrm>
          <a:prstGeom prst="rect">
            <a:avLst/>
          </a:prstGeom>
          <a:noFill/>
          <a:ln/>
        </p:spPr>
        <p:txBody>
          <a:bodyPr wrap="square" lIns="0" tIns="0" rIns="0" bIns="0" rtlCol="0" anchor="ctr"/>
          <a:lstStyle/>
          <a:p>
            <a:pPr marL="0" indent="0" algn="r">
              <a:buNone/>
            </a:pPr>
            <a:r>
              <a:rPr lang="en-US" sz="1000" b="1" dirty="0">
                <a:solidFill>
                  <a:srgbClr val="EF4444"/>
                </a:solidFill>
                <a:latin typeface="Calibri" pitchFamily="34" charset="0"/>
                <a:ea typeface="Calibri" pitchFamily="34" charset="-122"/>
                <a:cs typeface="Calibri" pitchFamily="34" charset="-120"/>
              </a:rPr>
              <a:t>25 pts</a:t>
            </a:r>
            <a:endParaRPr lang="en-US" sz="1000" dirty="0"/>
          </a:p>
        </p:txBody>
      </p:sp>
      <p:sp>
        <p:nvSpPr>
          <p:cNvPr id="14" name="Shape 12"/>
          <p:cNvSpPr/>
          <p:nvPr/>
        </p:nvSpPr>
        <p:spPr>
          <a:xfrm>
            <a:off x="274320" y="2112264"/>
            <a:ext cx="8595360" cy="347472"/>
          </a:xfrm>
          <a:prstGeom prst="rect">
            <a:avLst/>
          </a:prstGeom>
          <a:solidFill>
            <a:srgbClr val="F8FAFC"/>
          </a:solidFill>
          <a:ln w="12700">
            <a:solidFill>
              <a:srgbClr val="E2E8F0"/>
            </a:solidFill>
            <a:prstDash val="solid"/>
          </a:ln>
        </p:spPr>
        <p:txBody>
          <a:bodyPr/>
          <a:lstStyle/>
          <a:p>
            <a:endParaRPr lang="en-IN"/>
          </a:p>
        </p:txBody>
      </p:sp>
      <p:sp>
        <p:nvSpPr>
          <p:cNvPr id="15" name="Text 13"/>
          <p:cNvSpPr/>
          <p:nvPr/>
        </p:nvSpPr>
        <p:spPr>
          <a:xfrm>
            <a:off x="365760" y="2176272"/>
            <a:ext cx="2743200" cy="228600"/>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Inflow Surge Rate</a:t>
            </a:r>
            <a:endParaRPr lang="en-US" sz="1000" dirty="0"/>
          </a:p>
        </p:txBody>
      </p:sp>
      <p:sp>
        <p:nvSpPr>
          <p:cNvPr id="16" name="Shape 14"/>
          <p:cNvSpPr/>
          <p:nvPr/>
        </p:nvSpPr>
        <p:spPr>
          <a:xfrm>
            <a:off x="3200400" y="2203704"/>
            <a:ext cx="4572000" cy="164592"/>
          </a:xfrm>
          <a:prstGeom prst="rect">
            <a:avLst/>
          </a:prstGeom>
          <a:solidFill>
            <a:srgbClr val="E2E8F0"/>
          </a:solidFill>
          <a:ln w="12700">
            <a:solidFill>
              <a:srgbClr val="E2E8F0"/>
            </a:solidFill>
            <a:prstDash val="solid"/>
          </a:ln>
        </p:spPr>
        <p:txBody>
          <a:bodyPr/>
          <a:lstStyle/>
          <a:p>
            <a:endParaRPr lang="en-IN"/>
          </a:p>
        </p:txBody>
      </p:sp>
      <p:sp>
        <p:nvSpPr>
          <p:cNvPr id="17" name="Shape 15"/>
          <p:cNvSpPr/>
          <p:nvPr/>
        </p:nvSpPr>
        <p:spPr>
          <a:xfrm>
            <a:off x="3200400" y="2203704"/>
            <a:ext cx="4572000" cy="164592"/>
          </a:xfrm>
          <a:prstGeom prst="rect">
            <a:avLst/>
          </a:prstGeom>
          <a:solidFill>
            <a:srgbClr val="EF4444"/>
          </a:solidFill>
          <a:ln w="12700">
            <a:solidFill>
              <a:srgbClr val="EF4444"/>
            </a:solidFill>
            <a:prstDash val="solid"/>
          </a:ln>
        </p:spPr>
        <p:txBody>
          <a:bodyPr/>
          <a:lstStyle/>
          <a:p>
            <a:endParaRPr lang="en-IN"/>
          </a:p>
        </p:txBody>
      </p:sp>
      <p:sp>
        <p:nvSpPr>
          <p:cNvPr id="18" name="Text 16"/>
          <p:cNvSpPr/>
          <p:nvPr/>
        </p:nvSpPr>
        <p:spPr>
          <a:xfrm>
            <a:off x="7818120" y="2167128"/>
            <a:ext cx="731520" cy="228600"/>
          </a:xfrm>
          <a:prstGeom prst="rect">
            <a:avLst/>
          </a:prstGeom>
          <a:noFill/>
          <a:ln/>
        </p:spPr>
        <p:txBody>
          <a:bodyPr wrap="square" lIns="0" tIns="0" rIns="0" bIns="0" rtlCol="0" anchor="ctr"/>
          <a:lstStyle/>
          <a:p>
            <a:pPr marL="0" indent="0" algn="r">
              <a:buNone/>
            </a:pPr>
            <a:r>
              <a:rPr lang="en-US" sz="1000" b="1" dirty="0">
                <a:solidFill>
                  <a:srgbClr val="EF4444"/>
                </a:solidFill>
                <a:latin typeface="Calibri" pitchFamily="34" charset="0"/>
                <a:ea typeface="Calibri" pitchFamily="34" charset="-122"/>
                <a:cs typeface="Calibri" pitchFamily="34" charset="-120"/>
              </a:rPr>
              <a:t>25 pts</a:t>
            </a:r>
            <a:endParaRPr lang="en-US" sz="1000" dirty="0"/>
          </a:p>
        </p:txBody>
      </p:sp>
      <p:sp>
        <p:nvSpPr>
          <p:cNvPr id="19" name="Shape 17"/>
          <p:cNvSpPr/>
          <p:nvPr/>
        </p:nvSpPr>
        <p:spPr>
          <a:xfrm>
            <a:off x="274320" y="2505456"/>
            <a:ext cx="8595360" cy="347472"/>
          </a:xfrm>
          <a:prstGeom prst="rect">
            <a:avLst/>
          </a:prstGeom>
          <a:solidFill>
            <a:srgbClr val="FFFFFF"/>
          </a:solidFill>
          <a:ln w="12700">
            <a:solidFill>
              <a:srgbClr val="E2E8F0"/>
            </a:solidFill>
            <a:prstDash val="solid"/>
          </a:ln>
        </p:spPr>
        <p:txBody>
          <a:bodyPr/>
          <a:lstStyle/>
          <a:p>
            <a:endParaRPr lang="en-IN"/>
          </a:p>
        </p:txBody>
      </p:sp>
      <p:sp>
        <p:nvSpPr>
          <p:cNvPr id="20" name="Text 18"/>
          <p:cNvSpPr/>
          <p:nvPr/>
        </p:nvSpPr>
        <p:spPr>
          <a:xfrm>
            <a:off x="365760" y="2569464"/>
            <a:ext cx="2743200" cy="228600"/>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Discharge Imbalance</a:t>
            </a:r>
            <a:endParaRPr lang="en-US" sz="1000" dirty="0"/>
          </a:p>
        </p:txBody>
      </p:sp>
      <p:sp>
        <p:nvSpPr>
          <p:cNvPr id="21" name="Shape 19"/>
          <p:cNvSpPr/>
          <p:nvPr/>
        </p:nvSpPr>
        <p:spPr>
          <a:xfrm>
            <a:off x="3200400" y="2596896"/>
            <a:ext cx="4572000" cy="164592"/>
          </a:xfrm>
          <a:prstGeom prst="rect">
            <a:avLst/>
          </a:prstGeom>
          <a:solidFill>
            <a:srgbClr val="E2E8F0"/>
          </a:solidFill>
          <a:ln w="12700">
            <a:solidFill>
              <a:srgbClr val="E2E8F0"/>
            </a:solidFill>
            <a:prstDash val="solid"/>
          </a:ln>
        </p:spPr>
        <p:txBody>
          <a:bodyPr/>
          <a:lstStyle/>
          <a:p>
            <a:endParaRPr lang="en-IN"/>
          </a:p>
        </p:txBody>
      </p:sp>
      <p:sp>
        <p:nvSpPr>
          <p:cNvPr id="22" name="Shape 20"/>
          <p:cNvSpPr/>
          <p:nvPr/>
        </p:nvSpPr>
        <p:spPr>
          <a:xfrm>
            <a:off x="3200400" y="2596896"/>
            <a:ext cx="3657600" cy="164592"/>
          </a:xfrm>
          <a:prstGeom prst="rect">
            <a:avLst/>
          </a:prstGeom>
          <a:solidFill>
            <a:srgbClr val="EA580C"/>
          </a:solidFill>
          <a:ln w="12700">
            <a:solidFill>
              <a:srgbClr val="EA580C"/>
            </a:solidFill>
            <a:prstDash val="solid"/>
          </a:ln>
        </p:spPr>
        <p:txBody>
          <a:bodyPr/>
          <a:lstStyle/>
          <a:p>
            <a:endParaRPr lang="en-IN"/>
          </a:p>
        </p:txBody>
      </p:sp>
      <p:sp>
        <p:nvSpPr>
          <p:cNvPr id="23" name="Text 21"/>
          <p:cNvSpPr/>
          <p:nvPr/>
        </p:nvSpPr>
        <p:spPr>
          <a:xfrm>
            <a:off x="7818120" y="2560320"/>
            <a:ext cx="731520" cy="228600"/>
          </a:xfrm>
          <a:prstGeom prst="rect">
            <a:avLst/>
          </a:prstGeom>
          <a:noFill/>
          <a:ln/>
        </p:spPr>
        <p:txBody>
          <a:bodyPr wrap="square" lIns="0" tIns="0" rIns="0" bIns="0" rtlCol="0" anchor="ctr"/>
          <a:lstStyle/>
          <a:p>
            <a:pPr marL="0" indent="0" algn="r">
              <a:buNone/>
            </a:pPr>
            <a:r>
              <a:rPr lang="en-US" sz="1000" b="1" dirty="0">
                <a:solidFill>
                  <a:srgbClr val="EA580C"/>
                </a:solidFill>
                <a:latin typeface="Calibri" pitchFamily="34" charset="0"/>
                <a:ea typeface="Calibri" pitchFamily="34" charset="-122"/>
                <a:cs typeface="Calibri" pitchFamily="34" charset="-120"/>
              </a:rPr>
              <a:t>20 pts</a:t>
            </a:r>
            <a:endParaRPr lang="en-US" sz="1000" dirty="0"/>
          </a:p>
        </p:txBody>
      </p:sp>
      <p:sp>
        <p:nvSpPr>
          <p:cNvPr id="24" name="Shape 22"/>
          <p:cNvSpPr/>
          <p:nvPr/>
        </p:nvSpPr>
        <p:spPr>
          <a:xfrm>
            <a:off x="274320" y="2898648"/>
            <a:ext cx="8595360" cy="347472"/>
          </a:xfrm>
          <a:prstGeom prst="rect">
            <a:avLst/>
          </a:prstGeom>
          <a:solidFill>
            <a:srgbClr val="F8FAFC"/>
          </a:solidFill>
          <a:ln w="12700">
            <a:solidFill>
              <a:srgbClr val="E2E8F0"/>
            </a:solidFill>
            <a:prstDash val="solid"/>
          </a:ln>
        </p:spPr>
        <p:txBody>
          <a:bodyPr/>
          <a:lstStyle/>
          <a:p>
            <a:endParaRPr lang="en-IN"/>
          </a:p>
        </p:txBody>
      </p:sp>
      <p:sp>
        <p:nvSpPr>
          <p:cNvPr id="25" name="Text 23"/>
          <p:cNvSpPr/>
          <p:nvPr/>
        </p:nvSpPr>
        <p:spPr>
          <a:xfrm>
            <a:off x="365760" y="2962656"/>
            <a:ext cx="2743200" cy="228600"/>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Rainfall Anomaly</a:t>
            </a:r>
            <a:endParaRPr lang="en-US" sz="1000" dirty="0"/>
          </a:p>
        </p:txBody>
      </p:sp>
      <p:sp>
        <p:nvSpPr>
          <p:cNvPr id="26" name="Shape 24"/>
          <p:cNvSpPr/>
          <p:nvPr/>
        </p:nvSpPr>
        <p:spPr>
          <a:xfrm>
            <a:off x="3200400" y="2990088"/>
            <a:ext cx="4572000" cy="164592"/>
          </a:xfrm>
          <a:prstGeom prst="rect">
            <a:avLst/>
          </a:prstGeom>
          <a:solidFill>
            <a:srgbClr val="E2E8F0"/>
          </a:solidFill>
          <a:ln w="12700">
            <a:solidFill>
              <a:srgbClr val="E2E8F0"/>
            </a:solidFill>
            <a:prstDash val="solid"/>
          </a:ln>
        </p:spPr>
        <p:txBody>
          <a:bodyPr/>
          <a:lstStyle/>
          <a:p>
            <a:endParaRPr lang="en-IN"/>
          </a:p>
        </p:txBody>
      </p:sp>
      <p:sp>
        <p:nvSpPr>
          <p:cNvPr id="27" name="Shape 25"/>
          <p:cNvSpPr/>
          <p:nvPr/>
        </p:nvSpPr>
        <p:spPr>
          <a:xfrm>
            <a:off x="3200400" y="2990088"/>
            <a:ext cx="3657600" cy="164592"/>
          </a:xfrm>
          <a:prstGeom prst="rect">
            <a:avLst/>
          </a:prstGeom>
          <a:solidFill>
            <a:srgbClr val="EA580C"/>
          </a:solidFill>
          <a:ln w="12700">
            <a:solidFill>
              <a:srgbClr val="EA580C"/>
            </a:solidFill>
            <a:prstDash val="solid"/>
          </a:ln>
        </p:spPr>
        <p:txBody>
          <a:bodyPr/>
          <a:lstStyle/>
          <a:p>
            <a:endParaRPr lang="en-IN"/>
          </a:p>
        </p:txBody>
      </p:sp>
      <p:sp>
        <p:nvSpPr>
          <p:cNvPr id="28" name="Text 26"/>
          <p:cNvSpPr/>
          <p:nvPr/>
        </p:nvSpPr>
        <p:spPr>
          <a:xfrm>
            <a:off x="7818120" y="2953512"/>
            <a:ext cx="731520" cy="228600"/>
          </a:xfrm>
          <a:prstGeom prst="rect">
            <a:avLst/>
          </a:prstGeom>
          <a:noFill/>
          <a:ln/>
        </p:spPr>
        <p:txBody>
          <a:bodyPr wrap="square" lIns="0" tIns="0" rIns="0" bIns="0" rtlCol="0" anchor="ctr"/>
          <a:lstStyle/>
          <a:p>
            <a:pPr marL="0" indent="0" algn="r">
              <a:buNone/>
            </a:pPr>
            <a:r>
              <a:rPr lang="en-US" sz="1000" b="1" dirty="0">
                <a:solidFill>
                  <a:srgbClr val="EA580C"/>
                </a:solidFill>
                <a:latin typeface="Calibri" pitchFamily="34" charset="0"/>
                <a:ea typeface="Calibri" pitchFamily="34" charset="-122"/>
                <a:cs typeface="Calibri" pitchFamily="34" charset="-120"/>
              </a:rPr>
              <a:t>20 pts</a:t>
            </a:r>
            <a:endParaRPr lang="en-US" sz="1000" dirty="0"/>
          </a:p>
        </p:txBody>
      </p:sp>
      <p:sp>
        <p:nvSpPr>
          <p:cNvPr id="29" name="Shape 27"/>
          <p:cNvSpPr/>
          <p:nvPr/>
        </p:nvSpPr>
        <p:spPr>
          <a:xfrm>
            <a:off x="274320" y="3291840"/>
            <a:ext cx="8595360" cy="347472"/>
          </a:xfrm>
          <a:prstGeom prst="rect">
            <a:avLst/>
          </a:prstGeom>
          <a:solidFill>
            <a:srgbClr val="FFFFFF"/>
          </a:solidFill>
          <a:ln w="12700">
            <a:solidFill>
              <a:srgbClr val="E2E8F0"/>
            </a:solidFill>
            <a:prstDash val="solid"/>
          </a:ln>
        </p:spPr>
        <p:txBody>
          <a:bodyPr/>
          <a:lstStyle/>
          <a:p>
            <a:endParaRPr lang="en-IN"/>
          </a:p>
        </p:txBody>
      </p:sp>
      <p:sp>
        <p:nvSpPr>
          <p:cNvPr id="30" name="Text 28"/>
          <p:cNvSpPr/>
          <p:nvPr/>
        </p:nvSpPr>
        <p:spPr>
          <a:xfrm>
            <a:off x="365760" y="3355848"/>
            <a:ext cx="2743200" cy="228600"/>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Cascade Risk Bonus</a:t>
            </a:r>
            <a:endParaRPr lang="en-US" sz="1000" dirty="0"/>
          </a:p>
        </p:txBody>
      </p:sp>
      <p:sp>
        <p:nvSpPr>
          <p:cNvPr id="31" name="Shape 29"/>
          <p:cNvSpPr/>
          <p:nvPr/>
        </p:nvSpPr>
        <p:spPr>
          <a:xfrm>
            <a:off x="3200400" y="3383280"/>
            <a:ext cx="4572000" cy="164592"/>
          </a:xfrm>
          <a:prstGeom prst="rect">
            <a:avLst/>
          </a:prstGeom>
          <a:solidFill>
            <a:srgbClr val="E2E8F0"/>
          </a:solidFill>
          <a:ln w="12700">
            <a:solidFill>
              <a:srgbClr val="E2E8F0"/>
            </a:solidFill>
            <a:prstDash val="solid"/>
          </a:ln>
        </p:spPr>
        <p:txBody>
          <a:bodyPr/>
          <a:lstStyle/>
          <a:p>
            <a:endParaRPr lang="en-IN"/>
          </a:p>
        </p:txBody>
      </p:sp>
      <p:sp>
        <p:nvSpPr>
          <p:cNvPr id="32" name="Shape 30"/>
          <p:cNvSpPr/>
          <p:nvPr/>
        </p:nvSpPr>
        <p:spPr>
          <a:xfrm>
            <a:off x="3200400" y="3383280"/>
            <a:ext cx="3657600" cy="164592"/>
          </a:xfrm>
          <a:prstGeom prst="rect">
            <a:avLst/>
          </a:prstGeom>
          <a:solidFill>
            <a:srgbClr val="F59E0B"/>
          </a:solidFill>
          <a:ln w="12700">
            <a:solidFill>
              <a:srgbClr val="F59E0B"/>
            </a:solidFill>
            <a:prstDash val="solid"/>
          </a:ln>
        </p:spPr>
        <p:txBody>
          <a:bodyPr/>
          <a:lstStyle/>
          <a:p>
            <a:endParaRPr lang="en-IN"/>
          </a:p>
        </p:txBody>
      </p:sp>
      <p:sp>
        <p:nvSpPr>
          <p:cNvPr id="33" name="Text 31"/>
          <p:cNvSpPr/>
          <p:nvPr/>
        </p:nvSpPr>
        <p:spPr>
          <a:xfrm>
            <a:off x="7818120" y="3346704"/>
            <a:ext cx="731520" cy="228600"/>
          </a:xfrm>
          <a:prstGeom prst="rect">
            <a:avLst/>
          </a:prstGeom>
          <a:noFill/>
          <a:ln/>
        </p:spPr>
        <p:txBody>
          <a:bodyPr wrap="square" lIns="0" tIns="0" rIns="0" bIns="0" rtlCol="0" anchor="ctr"/>
          <a:lstStyle/>
          <a:p>
            <a:pPr marL="0" indent="0" algn="r">
              <a:buNone/>
            </a:pPr>
            <a:r>
              <a:rPr lang="en-US" sz="1000" b="1" dirty="0">
                <a:solidFill>
                  <a:srgbClr val="F59E0B"/>
                </a:solidFill>
                <a:latin typeface="Calibri" pitchFamily="34" charset="0"/>
                <a:ea typeface="Calibri" pitchFamily="34" charset="-122"/>
                <a:cs typeface="Calibri" pitchFamily="34" charset="-120"/>
              </a:rPr>
              <a:t>20 pts</a:t>
            </a:r>
            <a:endParaRPr lang="en-US" sz="1000" dirty="0"/>
          </a:p>
        </p:txBody>
      </p:sp>
      <p:sp>
        <p:nvSpPr>
          <p:cNvPr id="34" name="Shape 32"/>
          <p:cNvSpPr/>
          <p:nvPr/>
        </p:nvSpPr>
        <p:spPr>
          <a:xfrm>
            <a:off x="274320" y="3685032"/>
            <a:ext cx="8595360" cy="347472"/>
          </a:xfrm>
          <a:prstGeom prst="rect">
            <a:avLst/>
          </a:prstGeom>
          <a:solidFill>
            <a:srgbClr val="F8FAFC"/>
          </a:solidFill>
          <a:ln w="12700">
            <a:solidFill>
              <a:srgbClr val="E2E8F0"/>
            </a:solidFill>
            <a:prstDash val="solid"/>
          </a:ln>
        </p:spPr>
        <p:txBody>
          <a:bodyPr/>
          <a:lstStyle/>
          <a:p>
            <a:endParaRPr lang="en-IN"/>
          </a:p>
        </p:txBody>
      </p:sp>
      <p:sp>
        <p:nvSpPr>
          <p:cNvPr id="35" name="Text 33"/>
          <p:cNvSpPr/>
          <p:nvPr/>
        </p:nvSpPr>
        <p:spPr>
          <a:xfrm>
            <a:off x="365760" y="3749040"/>
            <a:ext cx="2743200" cy="228600"/>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Tank Saturation Bonus</a:t>
            </a:r>
            <a:endParaRPr lang="en-US" sz="1000" dirty="0"/>
          </a:p>
        </p:txBody>
      </p:sp>
      <p:sp>
        <p:nvSpPr>
          <p:cNvPr id="36" name="Shape 34"/>
          <p:cNvSpPr/>
          <p:nvPr/>
        </p:nvSpPr>
        <p:spPr>
          <a:xfrm>
            <a:off x="3200400" y="3776472"/>
            <a:ext cx="4572000" cy="164592"/>
          </a:xfrm>
          <a:prstGeom prst="rect">
            <a:avLst/>
          </a:prstGeom>
          <a:solidFill>
            <a:srgbClr val="E2E8F0"/>
          </a:solidFill>
          <a:ln w="12700">
            <a:solidFill>
              <a:srgbClr val="E2E8F0"/>
            </a:solidFill>
            <a:prstDash val="solid"/>
          </a:ln>
        </p:spPr>
        <p:txBody>
          <a:bodyPr/>
          <a:lstStyle/>
          <a:p>
            <a:endParaRPr lang="en-IN"/>
          </a:p>
        </p:txBody>
      </p:sp>
      <p:sp>
        <p:nvSpPr>
          <p:cNvPr id="37" name="Shape 35"/>
          <p:cNvSpPr/>
          <p:nvPr/>
        </p:nvSpPr>
        <p:spPr>
          <a:xfrm>
            <a:off x="3200400" y="3776472"/>
            <a:ext cx="2194560" cy="164592"/>
          </a:xfrm>
          <a:prstGeom prst="rect">
            <a:avLst/>
          </a:prstGeom>
          <a:solidFill>
            <a:srgbClr val="F59E0B"/>
          </a:solidFill>
          <a:ln w="12700">
            <a:solidFill>
              <a:srgbClr val="F59E0B"/>
            </a:solidFill>
            <a:prstDash val="solid"/>
          </a:ln>
        </p:spPr>
        <p:txBody>
          <a:bodyPr/>
          <a:lstStyle/>
          <a:p>
            <a:endParaRPr lang="en-IN"/>
          </a:p>
        </p:txBody>
      </p:sp>
      <p:sp>
        <p:nvSpPr>
          <p:cNvPr id="38" name="Text 36"/>
          <p:cNvSpPr/>
          <p:nvPr/>
        </p:nvSpPr>
        <p:spPr>
          <a:xfrm>
            <a:off x="7818120" y="3739896"/>
            <a:ext cx="731520" cy="228600"/>
          </a:xfrm>
          <a:prstGeom prst="rect">
            <a:avLst/>
          </a:prstGeom>
          <a:noFill/>
          <a:ln/>
        </p:spPr>
        <p:txBody>
          <a:bodyPr wrap="square" lIns="0" tIns="0" rIns="0" bIns="0" rtlCol="0" anchor="ctr"/>
          <a:lstStyle/>
          <a:p>
            <a:pPr marL="0" indent="0" algn="r">
              <a:buNone/>
            </a:pPr>
            <a:r>
              <a:rPr lang="en-US" sz="1000" b="1" dirty="0">
                <a:solidFill>
                  <a:srgbClr val="F59E0B"/>
                </a:solidFill>
                <a:latin typeface="Calibri" pitchFamily="34" charset="0"/>
                <a:ea typeface="Calibri" pitchFamily="34" charset="-122"/>
                <a:cs typeface="Calibri" pitchFamily="34" charset="-120"/>
              </a:rPr>
              <a:t>12 pts</a:t>
            </a:r>
            <a:endParaRPr lang="en-US" sz="1000" dirty="0"/>
          </a:p>
        </p:txBody>
      </p:sp>
      <p:sp>
        <p:nvSpPr>
          <p:cNvPr id="39" name="Shape 37"/>
          <p:cNvSpPr/>
          <p:nvPr/>
        </p:nvSpPr>
        <p:spPr>
          <a:xfrm>
            <a:off x="274320" y="4078224"/>
            <a:ext cx="8595360" cy="347472"/>
          </a:xfrm>
          <a:prstGeom prst="rect">
            <a:avLst/>
          </a:prstGeom>
          <a:solidFill>
            <a:srgbClr val="FFFFFF"/>
          </a:solidFill>
          <a:ln w="12700">
            <a:solidFill>
              <a:srgbClr val="E2E8F0"/>
            </a:solidFill>
            <a:prstDash val="solid"/>
          </a:ln>
        </p:spPr>
        <p:txBody>
          <a:bodyPr/>
          <a:lstStyle/>
          <a:p>
            <a:endParaRPr lang="en-IN"/>
          </a:p>
        </p:txBody>
      </p:sp>
      <p:sp>
        <p:nvSpPr>
          <p:cNvPr id="40" name="Text 38"/>
          <p:cNvSpPr/>
          <p:nvPr/>
        </p:nvSpPr>
        <p:spPr>
          <a:xfrm>
            <a:off x="365760" y="4142232"/>
            <a:ext cx="2743200" cy="228600"/>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Dam Offline Penalty</a:t>
            </a:r>
            <a:endParaRPr lang="en-US" sz="1000" dirty="0"/>
          </a:p>
        </p:txBody>
      </p:sp>
      <p:sp>
        <p:nvSpPr>
          <p:cNvPr id="41" name="Shape 39"/>
          <p:cNvSpPr/>
          <p:nvPr/>
        </p:nvSpPr>
        <p:spPr>
          <a:xfrm>
            <a:off x="3200400" y="4169664"/>
            <a:ext cx="4572000" cy="164592"/>
          </a:xfrm>
          <a:prstGeom prst="rect">
            <a:avLst/>
          </a:prstGeom>
          <a:solidFill>
            <a:srgbClr val="E2E8F0"/>
          </a:solidFill>
          <a:ln w="12700">
            <a:solidFill>
              <a:srgbClr val="E2E8F0"/>
            </a:solidFill>
            <a:prstDash val="solid"/>
          </a:ln>
        </p:spPr>
        <p:txBody>
          <a:bodyPr/>
          <a:lstStyle/>
          <a:p>
            <a:endParaRPr lang="en-IN"/>
          </a:p>
        </p:txBody>
      </p:sp>
      <p:sp>
        <p:nvSpPr>
          <p:cNvPr id="42" name="Shape 40"/>
          <p:cNvSpPr/>
          <p:nvPr/>
        </p:nvSpPr>
        <p:spPr>
          <a:xfrm>
            <a:off x="3200400" y="4169664"/>
            <a:ext cx="1828800" cy="164592"/>
          </a:xfrm>
          <a:prstGeom prst="rect">
            <a:avLst/>
          </a:prstGeom>
          <a:solidFill>
            <a:srgbClr val="64748B"/>
          </a:solidFill>
          <a:ln w="12700">
            <a:solidFill>
              <a:srgbClr val="64748B"/>
            </a:solidFill>
            <a:prstDash val="solid"/>
          </a:ln>
        </p:spPr>
        <p:txBody>
          <a:bodyPr/>
          <a:lstStyle/>
          <a:p>
            <a:endParaRPr lang="en-IN"/>
          </a:p>
        </p:txBody>
      </p:sp>
      <p:sp>
        <p:nvSpPr>
          <p:cNvPr id="43" name="Text 41"/>
          <p:cNvSpPr/>
          <p:nvPr/>
        </p:nvSpPr>
        <p:spPr>
          <a:xfrm>
            <a:off x="7818120" y="4133088"/>
            <a:ext cx="731520" cy="228600"/>
          </a:xfrm>
          <a:prstGeom prst="rect">
            <a:avLst/>
          </a:prstGeom>
          <a:noFill/>
          <a:ln/>
        </p:spPr>
        <p:txBody>
          <a:bodyPr wrap="square" lIns="0" tIns="0" rIns="0" bIns="0" rtlCol="0" anchor="ctr"/>
          <a:lstStyle/>
          <a:p>
            <a:pPr marL="0" indent="0" algn="r">
              <a:buNone/>
            </a:pPr>
            <a:r>
              <a:rPr lang="en-US" sz="1000" b="1" dirty="0">
                <a:solidFill>
                  <a:srgbClr val="64748B"/>
                </a:solidFill>
                <a:latin typeface="Calibri" pitchFamily="34" charset="0"/>
                <a:ea typeface="Calibri" pitchFamily="34" charset="-122"/>
                <a:cs typeface="Calibri" pitchFamily="34" charset="-120"/>
              </a:rPr>
              <a:t>10 pts</a:t>
            </a:r>
            <a:endParaRPr lang="en-US" sz="1000" dirty="0"/>
          </a:p>
        </p:txBody>
      </p:sp>
      <p:sp>
        <p:nvSpPr>
          <p:cNvPr id="44" name="Text 42"/>
          <p:cNvSpPr/>
          <p:nvPr/>
        </p:nvSpPr>
        <p:spPr>
          <a:xfrm>
            <a:off x="274320" y="4645152"/>
            <a:ext cx="1463040" cy="182880"/>
          </a:xfrm>
          <a:prstGeom prst="rect">
            <a:avLst/>
          </a:prstGeom>
          <a:noFill/>
          <a:ln/>
        </p:spPr>
        <p:txBody>
          <a:bodyPr wrap="square" lIns="0" tIns="0" rIns="0" bIns="0" rtlCol="0" anchor="ctr"/>
          <a:lstStyle/>
          <a:p>
            <a:pPr marL="0" indent="0">
              <a:buNone/>
            </a:pPr>
            <a:r>
              <a:rPr lang="en-US" sz="950" b="1" dirty="0">
                <a:solidFill>
                  <a:srgbClr val="0F172A"/>
                </a:solidFill>
                <a:latin typeface="Calibri" pitchFamily="34" charset="0"/>
                <a:ea typeface="Calibri" pitchFamily="34" charset="-122"/>
                <a:cs typeface="Calibri" pitchFamily="34" charset="-120"/>
              </a:rPr>
              <a:t>Risk Levels →</a:t>
            </a:r>
            <a:endParaRPr lang="en-US" sz="950" dirty="0"/>
          </a:p>
        </p:txBody>
      </p:sp>
      <p:sp>
        <p:nvSpPr>
          <p:cNvPr id="45" name="Shape 43"/>
          <p:cNvSpPr/>
          <p:nvPr/>
        </p:nvSpPr>
        <p:spPr>
          <a:xfrm>
            <a:off x="1783080" y="4626864"/>
            <a:ext cx="1664208" cy="201168"/>
          </a:xfrm>
          <a:prstGeom prst="rect">
            <a:avLst/>
          </a:prstGeom>
          <a:solidFill>
            <a:srgbClr val="22C55E"/>
          </a:solidFill>
          <a:ln w="12700">
            <a:solidFill>
              <a:srgbClr val="22C55E"/>
            </a:solidFill>
            <a:prstDash val="solid"/>
          </a:ln>
        </p:spPr>
        <p:txBody>
          <a:bodyPr/>
          <a:lstStyle/>
          <a:p>
            <a:endParaRPr lang="en-IN"/>
          </a:p>
        </p:txBody>
      </p:sp>
      <p:sp>
        <p:nvSpPr>
          <p:cNvPr id="46" name="Text 44"/>
          <p:cNvSpPr/>
          <p:nvPr/>
        </p:nvSpPr>
        <p:spPr>
          <a:xfrm>
            <a:off x="1783080" y="4626864"/>
            <a:ext cx="1664208"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LOW (0–40)</a:t>
            </a:r>
            <a:endParaRPr lang="en-US" sz="900" dirty="0"/>
          </a:p>
        </p:txBody>
      </p:sp>
      <p:sp>
        <p:nvSpPr>
          <p:cNvPr id="47" name="Shape 45"/>
          <p:cNvSpPr/>
          <p:nvPr/>
        </p:nvSpPr>
        <p:spPr>
          <a:xfrm>
            <a:off x="3566160" y="4626864"/>
            <a:ext cx="1664208" cy="201168"/>
          </a:xfrm>
          <a:prstGeom prst="rect">
            <a:avLst/>
          </a:prstGeom>
          <a:solidFill>
            <a:srgbClr val="F59E0B"/>
          </a:solidFill>
          <a:ln w="12700">
            <a:solidFill>
              <a:srgbClr val="F59E0B"/>
            </a:solidFill>
            <a:prstDash val="solid"/>
          </a:ln>
        </p:spPr>
        <p:txBody>
          <a:bodyPr/>
          <a:lstStyle/>
          <a:p>
            <a:endParaRPr lang="en-IN"/>
          </a:p>
        </p:txBody>
      </p:sp>
      <p:sp>
        <p:nvSpPr>
          <p:cNvPr id="48" name="Text 46"/>
          <p:cNvSpPr/>
          <p:nvPr/>
        </p:nvSpPr>
        <p:spPr>
          <a:xfrm>
            <a:off x="3566160" y="4626864"/>
            <a:ext cx="1664208"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MEDIUM (40–55)</a:t>
            </a:r>
            <a:endParaRPr lang="en-US" sz="900" dirty="0"/>
          </a:p>
        </p:txBody>
      </p:sp>
      <p:sp>
        <p:nvSpPr>
          <p:cNvPr id="49" name="Shape 47"/>
          <p:cNvSpPr/>
          <p:nvPr/>
        </p:nvSpPr>
        <p:spPr>
          <a:xfrm>
            <a:off x="5349240" y="4626864"/>
            <a:ext cx="1664208" cy="201168"/>
          </a:xfrm>
          <a:prstGeom prst="rect">
            <a:avLst/>
          </a:prstGeom>
          <a:solidFill>
            <a:srgbClr val="EA580C"/>
          </a:solidFill>
          <a:ln w="12700">
            <a:solidFill>
              <a:srgbClr val="EA580C"/>
            </a:solidFill>
            <a:prstDash val="solid"/>
          </a:ln>
        </p:spPr>
        <p:txBody>
          <a:bodyPr/>
          <a:lstStyle/>
          <a:p>
            <a:endParaRPr lang="en-IN"/>
          </a:p>
        </p:txBody>
      </p:sp>
      <p:sp>
        <p:nvSpPr>
          <p:cNvPr id="50" name="Text 48"/>
          <p:cNvSpPr/>
          <p:nvPr/>
        </p:nvSpPr>
        <p:spPr>
          <a:xfrm>
            <a:off x="5349240" y="4626864"/>
            <a:ext cx="1664208"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HIGH (55–75)</a:t>
            </a:r>
            <a:endParaRPr lang="en-US" sz="900" dirty="0"/>
          </a:p>
        </p:txBody>
      </p:sp>
      <p:sp>
        <p:nvSpPr>
          <p:cNvPr id="51" name="Shape 49"/>
          <p:cNvSpPr/>
          <p:nvPr/>
        </p:nvSpPr>
        <p:spPr>
          <a:xfrm>
            <a:off x="7132320" y="4626864"/>
            <a:ext cx="1664208" cy="201168"/>
          </a:xfrm>
          <a:prstGeom prst="rect">
            <a:avLst/>
          </a:prstGeom>
          <a:solidFill>
            <a:srgbClr val="EF4444"/>
          </a:solidFill>
          <a:ln w="12700">
            <a:solidFill>
              <a:srgbClr val="EF4444"/>
            </a:solidFill>
            <a:prstDash val="solid"/>
          </a:ln>
        </p:spPr>
        <p:txBody>
          <a:bodyPr/>
          <a:lstStyle/>
          <a:p>
            <a:endParaRPr lang="en-IN"/>
          </a:p>
        </p:txBody>
      </p:sp>
      <p:sp>
        <p:nvSpPr>
          <p:cNvPr id="52" name="Text 50"/>
          <p:cNvSpPr/>
          <p:nvPr/>
        </p:nvSpPr>
        <p:spPr>
          <a:xfrm>
            <a:off x="7132320" y="4626864"/>
            <a:ext cx="1664208"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CRITICAL (75+)</a:t>
            </a:r>
            <a:endParaRPr lang="en-US" sz="900" dirty="0"/>
          </a:p>
        </p:txBody>
      </p:sp>
      <p:sp>
        <p:nvSpPr>
          <p:cNvPr id="53" name="Shape 51"/>
          <p:cNvSpPr/>
          <p:nvPr/>
        </p:nvSpPr>
        <p:spPr>
          <a:xfrm>
            <a:off x="0" y="4818888"/>
            <a:ext cx="9144000" cy="324612"/>
          </a:xfrm>
          <a:prstGeom prst="rect">
            <a:avLst/>
          </a:prstGeom>
          <a:solidFill>
            <a:srgbClr val="E2E8F0"/>
          </a:solidFill>
          <a:ln w="12700">
            <a:solidFill>
              <a:srgbClr val="E2E8F0"/>
            </a:solidFill>
            <a:prstDash val="solid"/>
          </a:ln>
        </p:spPr>
        <p:txBody>
          <a:bodyPr/>
          <a:lstStyle/>
          <a:p>
            <a:endParaRPr lang="en-IN"/>
          </a:p>
        </p:txBody>
      </p:sp>
      <p:sp>
        <p:nvSpPr>
          <p:cNvPr id="54" name="Text 52"/>
          <p:cNvSpPr/>
          <p:nvPr/>
        </p:nvSpPr>
        <p:spPr>
          <a:xfrm>
            <a:off x="274320" y="4837176"/>
            <a:ext cx="7772400" cy="27432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AP-Wrims Early Warning System  |  HierachAI Technologies Pvt. Ltd.  |  DPIIT Recognised · Women-Led · Andhra Pradesh</a:t>
            </a:r>
            <a:endParaRPr lang="en-US" sz="800" dirty="0"/>
          </a:p>
        </p:txBody>
      </p:sp>
      <p:sp>
        <p:nvSpPr>
          <p:cNvPr id="55" name="Text 53"/>
          <p:cNvSpPr/>
          <p:nvPr/>
        </p:nvSpPr>
        <p:spPr>
          <a:xfrm>
            <a:off x="8046720" y="4837176"/>
            <a:ext cx="914400" cy="274320"/>
          </a:xfrm>
          <a:prstGeom prst="rect">
            <a:avLst/>
          </a:prstGeom>
          <a:noFill/>
          <a:ln/>
        </p:spPr>
        <p:txBody>
          <a:bodyPr wrap="square" lIns="0" tIns="0" rIns="0" bIns="0" rtlCol="0" anchor="ctr"/>
          <a:lstStyle/>
          <a:p>
            <a:pPr marL="0" indent="0" algn="r">
              <a:buNone/>
            </a:pPr>
            <a:r>
              <a:rPr lang="en-US" sz="800" dirty="0">
                <a:solidFill>
                  <a:srgbClr val="1E3A5F"/>
                </a:solidFill>
                <a:latin typeface="Calibri" pitchFamily="34" charset="0"/>
                <a:ea typeface="Calibri" pitchFamily="34" charset="-122"/>
                <a:cs typeface="Calibri" pitchFamily="34" charset="-120"/>
              </a:rPr>
              <a:t>6 / 16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txBody>
          <a:bodyPr/>
          <a:lstStyle/>
          <a:p>
            <a:endParaRPr lang="en-IN"/>
          </a:p>
        </p:txBody>
      </p:sp>
      <p:sp>
        <p:nvSpPr>
          <p:cNvPr id="3" name="Shape 1"/>
          <p:cNvSpPr/>
          <p:nvPr/>
        </p:nvSpPr>
        <p:spPr>
          <a:xfrm>
            <a:off x="0" y="73152"/>
            <a:ext cx="9144000" cy="658368"/>
          </a:xfrm>
          <a:prstGeom prst="rect">
            <a:avLst/>
          </a:prstGeom>
          <a:solidFill>
            <a:srgbClr val="FFFFFF"/>
          </a:solidFill>
          <a:ln w="12700">
            <a:solidFill>
              <a:srgbClr val="E2E8F0"/>
            </a:solidFill>
            <a:prstDash val="solid"/>
          </a:ln>
        </p:spPr>
        <p:txBody>
          <a:bodyPr/>
          <a:lstStyle/>
          <a:p>
            <a:endParaRPr lang="en-IN"/>
          </a:p>
        </p:txBody>
      </p:sp>
      <p:sp>
        <p:nvSpPr>
          <p:cNvPr id="4" name="Text 2"/>
          <p:cNvSpPr/>
          <p:nvPr/>
        </p:nvSpPr>
        <p:spPr>
          <a:xfrm>
            <a:off x="365760" y="91440"/>
            <a:ext cx="8412480" cy="475488"/>
          </a:xfrm>
          <a:prstGeom prst="rect">
            <a:avLst/>
          </a:prstGeom>
          <a:noFill/>
          <a:ln/>
        </p:spPr>
        <p:txBody>
          <a:bodyPr wrap="square" lIns="0" tIns="0" rIns="0" bIns="0" rtlCol="0" anchor="ctr"/>
          <a:lstStyle/>
          <a:p>
            <a:pPr marL="0" indent="0">
              <a:buNone/>
            </a:pPr>
            <a:r>
              <a:rPr lang="en-US" sz="2000" b="1" dirty="0">
                <a:solidFill>
                  <a:srgbClr val="0F172A"/>
                </a:solidFill>
                <a:latin typeface="Calibri" pitchFamily="34" charset="0"/>
                <a:ea typeface="Calibri" pitchFamily="34" charset="-122"/>
                <a:cs typeface="Calibri" pitchFamily="34" charset="-120"/>
              </a:rPr>
              <a:t>🌊  Cascade Network Intelligence — Pennar Basin</a:t>
            </a:r>
            <a:endParaRPr lang="en-US" sz="2000" dirty="0"/>
          </a:p>
        </p:txBody>
      </p:sp>
      <p:sp>
        <p:nvSpPr>
          <p:cNvPr id="5" name="Shape 3"/>
          <p:cNvSpPr/>
          <p:nvPr/>
        </p:nvSpPr>
        <p:spPr>
          <a:xfrm>
            <a:off x="0" y="731520"/>
            <a:ext cx="9144000" cy="256032"/>
          </a:xfrm>
          <a:prstGeom prst="rect">
            <a:avLst/>
          </a:prstGeom>
          <a:solidFill>
            <a:srgbClr val="EFF6FF"/>
          </a:solidFill>
          <a:ln w="12700">
            <a:solidFill>
              <a:srgbClr val="BFDBFE"/>
            </a:solidFill>
            <a:prstDash val="solid"/>
          </a:ln>
        </p:spPr>
        <p:txBody>
          <a:bodyPr/>
          <a:lstStyle/>
          <a:p>
            <a:endParaRPr lang="en-IN"/>
          </a:p>
        </p:txBody>
      </p:sp>
      <p:sp>
        <p:nvSpPr>
          <p:cNvPr id="6" name="Text 4"/>
          <p:cNvSpPr/>
          <p:nvPr/>
        </p:nvSpPr>
        <p:spPr>
          <a:xfrm>
            <a:off x="365760" y="749808"/>
            <a:ext cx="8412480" cy="219456"/>
          </a:xfrm>
          <a:prstGeom prst="rect">
            <a:avLst/>
          </a:prstGeom>
          <a:noFill/>
          <a:ln/>
        </p:spPr>
        <p:txBody>
          <a:bodyPr wrap="square" lIns="0" tIns="0" rIns="0" bIns="0" rtlCol="0" anchor="ctr"/>
          <a:lstStyle/>
          <a:p>
            <a:pPr marL="0" indent="0">
              <a:buNone/>
            </a:pPr>
            <a:r>
              <a:rPr lang="en-US" sz="950" dirty="0">
                <a:solidFill>
                  <a:srgbClr val="0284C7"/>
                </a:solidFill>
                <a:latin typeface="Calibri" pitchFamily="34" charset="0"/>
                <a:ea typeface="Calibri" pitchFamily="34" charset="-122"/>
                <a:cs typeface="Calibri" pitchFamily="34" charset="-120"/>
              </a:rPr>
              <a:t>Monitoring the entire upstream-downstream relationship — not just individual points</a:t>
            </a:r>
            <a:endParaRPr lang="en-US" sz="950" dirty="0"/>
          </a:p>
        </p:txBody>
      </p:sp>
      <p:sp>
        <p:nvSpPr>
          <p:cNvPr id="7" name="Shape 5"/>
          <p:cNvSpPr/>
          <p:nvPr/>
        </p:nvSpPr>
        <p:spPr>
          <a:xfrm>
            <a:off x="274320" y="1097280"/>
            <a:ext cx="2606040" cy="566928"/>
          </a:xfrm>
          <a:prstGeom prst="rect">
            <a:avLst/>
          </a:prstGeom>
          <a:solidFill>
            <a:srgbClr val="FFF7ED"/>
          </a:solidFill>
          <a:ln w="12700">
            <a:solidFill>
              <a:srgbClr val="EA580C"/>
            </a:solidFill>
            <a:prstDash val="solid"/>
          </a:ln>
          <a:effectLst>
            <a:outerShdw blurRad="76200" dist="25400" dir="8100000" algn="bl" rotWithShape="0">
              <a:srgbClr val="000000">
                <a:alpha val="10000"/>
              </a:srgbClr>
            </a:outerShdw>
          </a:effectLst>
        </p:spPr>
        <p:txBody>
          <a:bodyPr/>
          <a:lstStyle/>
          <a:p>
            <a:endParaRPr lang="en-IN"/>
          </a:p>
        </p:txBody>
      </p:sp>
      <p:sp>
        <p:nvSpPr>
          <p:cNvPr id="8" name="Text 6"/>
          <p:cNvSpPr/>
          <p:nvPr/>
        </p:nvSpPr>
        <p:spPr>
          <a:xfrm>
            <a:off x="365760" y="1143000"/>
            <a:ext cx="2423160" cy="256032"/>
          </a:xfrm>
          <a:prstGeom prst="rect">
            <a:avLst/>
          </a:prstGeom>
          <a:noFill/>
          <a:ln/>
        </p:spPr>
        <p:txBody>
          <a:bodyPr wrap="square" lIns="0" tIns="0" rIns="0" bIns="0" rtlCol="0" anchor="ctr"/>
          <a:lstStyle/>
          <a:p>
            <a:pPr marL="0" indent="0">
              <a:buNone/>
            </a:pPr>
            <a:r>
              <a:rPr lang="en-US" sz="1000" b="1" dirty="0">
                <a:solidFill>
                  <a:srgbClr val="EA580C"/>
                </a:solidFill>
                <a:latin typeface="Calibri" pitchFamily="34" charset="0"/>
                <a:ea typeface="Calibri" pitchFamily="34" charset="-122"/>
                <a:cs typeface="Calibri" pitchFamily="34" charset="-120"/>
              </a:rPr>
              <a:t>PINCHA RIVER</a:t>
            </a:r>
            <a:endParaRPr lang="en-US" sz="1000" dirty="0"/>
          </a:p>
        </p:txBody>
      </p:sp>
      <p:sp>
        <p:nvSpPr>
          <p:cNvPr id="9" name="Text 7"/>
          <p:cNvSpPr/>
          <p:nvPr/>
        </p:nvSpPr>
        <p:spPr>
          <a:xfrm>
            <a:off x="365760" y="1399032"/>
            <a:ext cx="2423160" cy="228600"/>
          </a:xfrm>
          <a:prstGeom prst="rect">
            <a:avLst/>
          </a:prstGeom>
          <a:noFill/>
          <a:ln/>
        </p:spPr>
        <p:txBody>
          <a:bodyPr wrap="square" lIns="0" tIns="0" rIns="0" bIns="0" rtlCol="0" anchor="ctr"/>
          <a:lstStyle/>
          <a:p>
            <a:pPr marL="0" indent="0">
              <a:buNone/>
            </a:pPr>
            <a:r>
              <a:rPr lang="en-US" sz="800" dirty="0">
                <a:solidFill>
                  <a:srgbClr val="EA580C"/>
                </a:solidFill>
                <a:latin typeface="Calibri" pitchFamily="34" charset="0"/>
                <a:ea typeface="Calibri" pitchFamily="34" charset="-122"/>
                <a:cs typeface="Calibri" pitchFamily="34" charset="-120"/>
              </a:rPr>
              <a:t>Upstream trigger · Nov18: 3,034cs ↑16.6%</a:t>
            </a:r>
            <a:endParaRPr lang="en-US" sz="800" dirty="0"/>
          </a:p>
        </p:txBody>
      </p:sp>
      <p:sp>
        <p:nvSpPr>
          <p:cNvPr id="10" name="Shape 8"/>
          <p:cNvSpPr/>
          <p:nvPr/>
        </p:nvSpPr>
        <p:spPr>
          <a:xfrm>
            <a:off x="2971800" y="1097280"/>
            <a:ext cx="2606040" cy="566928"/>
          </a:xfrm>
          <a:prstGeom prst="rect">
            <a:avLst/>
          </a:prstGeom>
          <a:solidFill>
            <a:srgbClr val="FFF7ED"/>
          </a:solidFill>
          <a:ln w="12700">
            <a:solidFill>
              <a:srgbClr val="EA580C"/>
            </a:solidFill>
            <a:prstDash val="solid"/>
          </a:ln>
          <a:effectLst>
            <a:outerShdw blurRad="76200" dist="25400" dir="8100000" algn="bl" rotWithShape="0">
              <a:srgbClr val="000000">
                <a:alpha val="10000"/>
              </a:srgbClr>
            </a:outerShdw>
          </a:effectLst>
        </p:spPr>
        <p:txBody>
          <a:bodyPr/>
          <a:lstStyle/>
          <a:p>
            <a:endParaRPr lang="en-IN"/>
          </a:p>
        </p:txBody>
      </p:sp>
      <p:sp>
        <p:nvSpPr>
          <p:cNvPr id="11" name="Text 9"/>
          <p:cNvSpPr/>
          <p:nvPr/>
        </p:nvSpPr>
        <p:spPr>
          <a:xfrm>
            <a:off x="3063240" y="1143000"/>
            <a:ext cx="2423160" cy="256032"/>
          </a:xfrm>
          <a:prstGeom prst="rect">
            <a:avLst/>
          </a:prstGeom>
          <a:noFill/>
          <a:ln/>
        </p:spPr>
        <p:txBody>
          <a:bodyPr wrap="square" lIns="0" tIns="0" rIns="0" bIns="0" rtlCol="0" anchor="ctr"/>
          <a:lstStyle/>
          <a:p>
            <a:pPr marL="0" indent="0">
              <a:buNone/>
            </a:pPr>
            <a:r>
              <a:rPr lang="en-US" sz="1000" b="1" dirty="0">
                <a:solidFill>
                  <a:srgbClr val="EA580C"/>
                </a:solidFill>
                <a:latin typeface="Calibri" pitchFamily="34" charset="0"/>
                <a:ea typeface="Calibri" pitchFamily="34" charset="-122"/>
                <a:cs typeface="Calibri" pitchFamily="34" charset="-120"/>
              </a:rPr>
              <a:t>BAHUDA RIVER</a:t>
            </a:r>
            <a:endParaRPr lang="en-US" sz="1000" dirty="0"/>
          </a:p>
        </p:txBody>
      </p:sp>
      <p:sp>
        <p:nvSpPr>
          <p:cNvPr id="12" name="Text 10"/>
          <p:cNvSpPr/>
          <p:nvPr/>
        </p:nvSpPr>
        <p:spPr>
          <a:xfrm>
            <a:off x="3063240" y="1399032"/>
            <a:ext cx="2423160" cy="228600"/>
          </a:xfrm>
          <a:prstGeom prst="rect">
            <a:avLst/>
          </a:prstGeom>
          <a:noFill/>
          <a:ln/>
        </p:spPr>
        <p:txBody>
          <a:bodyPr wrap="square" lIns="0" tIns="0" rIns="0" bIns="0" rtlCol="0" anchor="ctr"/>
          <a:lstStyle/>
          <a:p>
            <a:pPr marL="0" indent="0">
              <a:buNone/>
            </a:pPr>
            <a:r>
              <a:rPr lang="en-US" sz="800" dirty="0">
                <a:solidFill>
                  <a:srgbClr val="EA580C"/>
                </a:solidFill>
                <a:latin typeface="Calibri" pitchFamily="34" charset="0"/>
                <a:ea typeface="Calibri" pitchFamily="34" charset="-122"/>
                <a:cs typeface="Calibri" pitchFamily="34" charset="-120"/>
              </a:rPr>
              <a:t>Primary headstream · Feeds confluence</a:t>
            </a:r>
            <a:endParaRPr lang="en-US" sz="800" dirty="0"/>
          </a:p>
        </p:txBody>
      </p:sp>
      <p:sp>
        <p:nvSpPr>
          <p:cNvPr id="13" name="Shape 11"/>
          <p:cNvSpPr/>
          <p:nvPr/>
        </p:nvSpPr>
        <p:spPr>
          <a:xfrm>
            <a:off x="274320" y="1847088"/>
            <a:ext cx="5303520" cy="566928"/>
          </a:xfrm>
          <a:prstGeom prst="rect">
            <a:avLst/>
          </a:prstGeom>
          <a:solidFill>
            <a:srgbClr val="EFF6FF"/>
          </a:solidFill>
          <a:ln w="12700">
            <a:solidFill>
              <a:srgbClr val="0284C7"/>
            </a:solidFill>
            <a:prstDash val="solid"/>
          </a:ln>
          <a:effectLst>
            <a:outerShdw blurRad="76200" dist="25400" dir="8100000" algn="bl" rotWithShape="0">
              <a:srgbClr val="000000">
                <a:alpha val="10000"/>
              </a:srgbClr>
            </a:outerShdw>
          </a:effectLst>
        </p:spPr>
        <p:txBody>
          <a:bodyPr/>
          <a:lstStyle/>
          <a:p>
            <a:endParaRPr lang="en-IN"/>
          </a:p>
        </p:txBody>
      </p:sp>
      <p:sp>
        <p:nvSpPr>
          <p:cNvPr id="14" name="Text 12"/>
          <p:cNvSpPr/>
          <p:nvPr/>
        </p:nvSpPr>
        <p:spPr>
          <a:xfrm>
            <a:off x="365760" y="1892808"/>
            <a:ext cx="5120640" cy="256032"/>
          </a:xfrm>
          <a:prstGeom prst="rect">
            <a:avLst/>
          </a:prstGeom>
          <a:noFill/>
          <a:ln/>
        </p:spPr>
        <p:txBody>
          <a:bodyPr wrap="square" lIns="0" tIns="0" rIns="0" bIns="0" rtlCol="0" anchor="ctr"/>
          <a:lstStyle/>
          <a:p>
            <a:pPr marL="0" indent="0">
              <a:buNone/>
            </a:pPr>
            <a:r>
              <a:rPr lang="en-US" sz="1000" b="1" dirty="0">
                <a:solidFill>
                  <a:srgbClr val="0284C7"/>
                </a:solidFill>
                <a:latin typeface="Calibri" pitchFamily="34" charset="0"/>
                <a:ea typeface="Calibri" pitchFamily="34" charset="-122"/>
                <a:cs typeface="Calibri" pitchFamily="34" charset="-120"/>
              </a:rPr>
              <a:t>RAYAVARAM CONFLUENCE</a:t>
            </a:r>
            <a:endParaRPr lang="en-US" sz="1000" dirty="0"/>
          </a:p>
        </p:txBody>
      </p:sp>
      <p:sp>
        <p:nvSpPr>
          <p:cNvPr id="15" name="Text 13"/>
          <p:cNvSpPr/>
          <p:nvPr/>
        </p:nvSpPr>
        <p:spPr>
          <a:xfrm>
            <a:off x="365760" y="2148840"/>
            <a:ext cx="5120640" cy="228600"/>
          </a:xfrm>
          <a:prstGeom prst="rect">
            <a:avLst/>
          </a:prstGeom>
          <a:noFill/>
          <a:ln/>
        </p:spPr>
        <p:txBody>
          <a:bodyPr wrap="square" lIns="0" tIns="0" rIns="0" bIns="0" rtlCol="0" anchor="ctr"/>
          <a:lstStyle/>
          <a:p>
            <a:pPr marL="0" indent="0">
              <a:buNone/>
            </a:pPr>
            <a:r>
              <a:rPr lang="en-US" sz="800" dirty="0">
                <a:solidFill>
                  <a:srgbClr val="0284C7"/>
                </a:solidFill>
                <a:latin typeface="Calibri" pitchFamily="34" charset="0"/>
                <a:ea typeface="Calibri" pitchFamily="34" charset="-122"/>
                <a:cs typeface="Calibri" pitchFamily="34" charset="-120"/>
              </a:rPr>
              <a:t>Pincha + Bahuda merge → Cheyyeru River formed here</a:t>
            </a:r>
            <a:endParaRPr lang="en-US" sz="800" dirty="0"/>
          </a:p>
        </p:txBody>
      </p:sp>
      <p:sp>
        <p:nvSpPr>
          <p:cNvPr id="16" name="Shape 14"/>
          <p:cNvSpPr/>
          <p:nvPr/>
        </p:nvSpPr>
        <p:spPr>
          <a:xfrm>
            <a:off x="274320" y="2542032"/>
            <a:ext cx="5303520" cy="566928"/>
          </a:xfrm>
          <a:prstGeom prst="rect">
            <a:avLst/>
          </a:prstGeom>
          <a:solidFill>
            <a:srgbClr val="EF4444"/>
          </a:solidFill>
          <a:ln w="12700">
            <a:solidFill>
              <a:srgbClr val="EF4444"/>
            </a:solidFill>
            <a:prstDash val="solid"/>
          </a:ln>
          <a:effectLst>
            <a:outerShdw blurRad="76200" dist="25400" dir="8100000" algn="bl" rotWithShape="0">
              <a:srgbClr val="000000">
                <a:alpha val="10000"/>
              </a:srgbClr>
            </a:outerShdw>
          </a:effectLst>
        </p:spPr>
        <p:txBody>
          <a:bodyPr/>
          <a:lstStyle/>
          <a:p>
            <a:endParaRPr lang="en-IN"/>
          </a:p>
        </p:txBody>
      </p:sp>
      <p:sp>
        <p:nvSpPr>
          <p:cNvPr id="17" name="Text 15"/>
          <p:cNvSpPr/>
          <p:nvPr/>
        </p:nvSpPr>
        <p:spPr>
          <a:xfrm>
            <a:off x="365760" y="2587752"/>
            <a:ext cx="5120640"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  ANNAMAYYA DAM  —  CRITICAL</a:t>
            </a:r>
            <a:endParaRPr lang="en-US" sz="1000" dirty="0"/>
          </a:p>
        </p:txBody>
      </p:sp>
      <p:sp>
        <p:nvSpPr>
          <p:cNvPr id="18" name="Text 16"/>
          <p:cNvSpPr/>
          <p:nvPr/>
        </p:nvSpPr>
        <p:spPr>
          <a:xfrm>
            <a:off x="365760" y="2843784"/>
            <a:ext cx="5120640" cy="228600"/>
          </a:xfrm>
          <a:prstGeom prst="rect">
            <a:avLst/>
          </a:prstGeom>
          <a:noFill/>
          <a:ln/>
        </p:spPr>
        <p:txBody>
          <a:bodyPr wrap="square" lIns="0" tIns="0" rIns="0" bIns="0" rtlCol="0" anchor="ctr"/>
          <a:lstStyle/>
          <a:p>
            <a:pPr marL="0" indent="0">
              <a:buNone/>
            </a:pPr>
            <a:r>
              <a:rPr lang="en-US" sz="800" dirty="0">
                <a:solidFill>
                  <a:srgbClr val="FECACA"/>
                </a:solidFill>
                <a:latin typeface="Calibri" pitchFamily="34" charset="0"/>
                <a:ea typeface="Calibri" pitchFamily="34" charset="-122"/>
                <a:cs typeface="Calibri" pitchFamily="34" charset="-120"/>
              </a:rPr>
              <a:t>Cheyyeru River, Rajampet · Under reconstruction ₹775Cr · Nov18: 11,531cs in vs 12,159cs out</a:t>
            </a:r>
            <a:endParaRPr lang="en-US" sz="800" dirty="0"/>
          </a:p>
        </p:txBody>
      </p:sp>
      <p:sp>
        <p:nvSpPr>
          <p:cNvPr id="19" name="Shape 17"/>
          <p:cNvSpPr/>
          <p:nvPr/>
        </p:nvSpPr>
        <p:spPr>
          <a:xfrm>
            <a:off x="274320" y="3236976"/>
            <a:ext cx="5303520" cy="566928"/>
          </a:xfrm>
          <a:prstGeom prst="rect">
            <a:avLst/>
          </a:prstGeom>
          <a:solidFill>
            <a:srgbClr val="FEF2F2"/>
          </a:solidFill>
          <a:ln w="12700">
            <a:solidFill>
              <a:srgbClr val="EF4444"/>
            </a:solidFill>
            <a:prstDash val="solid"/>
          </a:ln>
          <a:effectLst>
            <a:outerShdw blurRad="76200" dist="25400" dir="8100000" algn="bl" rotWithShape="0">
              <a:srgbClr val="000000">
                <a:alpha val="10000"/>
              </a:srgbClr>
            </a:outerShdw>
          </a:effectLst>
        </p:spPr>
        <p:txBody>
          <a:bodyPr/>
          <a:lstStyle/>
          <a:p>
            <a:endParaRPr lang="en-IN"/>
          </a:p>
        </p:txBody>
      </p:sp>
      <p:sp>
        <p:nvSpPr>
          <p:cNvPr id="20" name="Text 18"/>
          <p:cNvSpPr/>
          <p:nvPr/>
        </p:nvSpPr>
        <p:spPr>
          <a:xfrm>
            <a:off x="365760" y="3282696"/>
            <a:ext cx="5120640" cy="256032"/>
          </a:xfrm>
          <a:prstGeom prst="rect">
            <a:avLst/>
          </a:prstGeom>
          <a:noFill/>
          <a:ln/>
        </p:spPr>
        <p:txBody>
          <a:bodyPr wrap="square" lIns="0" tIns="0" rIns="0" bIns="0" rtlCol="0" anchor="ctr"/>
          <a:lstStyle/>
          <a:p>
            <a:pPr marL="0" indent="0">
              <a:buNone/>
            </a:pPr>
            <a:r>
              <a:rPr lang="en-US" sz="1000" b="1" dirty="0">
                <a:solidFill>
                  <a:srgbClr val="EF4444"/>
                </a:solidFill>
                <a:latin typeface="Calibri" pitchFamily="34" charset="0"/>
                <a:ea typeface="Calibri" pitchFamily="34" charset="-122"/>
                <a:cs typeface="Calibri" pitchFamily="34" charset="-120"/>
              </a:rPr>
              <a:t>DOWNSTREAM VILLAGES</a:t>
            </a:r>
            <a:endParaRPr lang="en-US" sz="1000" dirty="0"/>
          </a:p>
        </p:txBody>
      </p:sp>
      <p:sp>
        <p:nvSpPr>
          <p:cNvPr id="21" name="Text 19"/>
          <p:cNvSpPr/>
          <p:nvPr/>
        </p:nvSpPr>
        <p:spPr>
          <a:xfrm>
            <a:off x="365760" y="3538728"/>
            <a:ext cx="5120640" cy="228600"/>
          </a:xfrm>
          <a:prstGeom prst="rect">
            <a:avLst/>
          </a:prstGeom>
          <a:noFill/>
          <a:ln/>
        </p:spPr>
        <p:txBody>
          <a:bodyPr wrap="square" lIns="0" tIns="0" rIns="0" bIns="0" rtlCol="0" anchor="ctr"/>
          <a:lstStyle/>
          <a:p>
            <a:pPr marL="0" indent="0">
              <a:buNone/>
            </a:pPr>
            <a:r>
              <a:rPr lang="en-US" sz="800" dirty="0">
                <a:solidFill>
                  <a:srgbClr val="EF4444"/>
                </a:solidFill>
                <a:latin typeface="Calibri" pitchFamily="34" charset="0"/>
                <a:ea typeface="Calibri" pitchFamily="34" charset="-122"/>
                <a:cs typeface="Calibri" pitchFamily="34" charset="-120"/>
              </a:rPr>
              <a:t>Pulapathur · Mandapalli · Togurupeta · Gundlur · Attirala · Rajampet · Nandalur</a:t>
            </a:r>
            <a:endParaRPr lang="en-US" sz="800" dirty="0"/>
          </a:p>
        </p:txBody>
      </p:sp>
      <p:sp>
        <p:nvSpPr>
          <p:cNvPr id="22" name="Shape 20"/>
          <p:cNvSpPr/>
          <p:nvPr/>
        </p:nvSpPr>
        <p:spPr>
          <a:xfrm>
            <a:off x="274320" y="3931920"/>
            <a:ext cx="5303520" cy="566928"/>
          </a:xfrm>
          <a:prstGeom prst="rect">
            <a:avLst/>
          </a:prstGeom>
          <a:solidFill>
            <a:srgbClr val="EFF6FF"/>
          </a:solidFill>
          <a:ln w="12700">
            <a:solidFill>
              <a:srgbClr val="0284C7"/>
            </a:solidFill>
            <a:prstDash val="solid"/>
          </a:ln>
          <a:effectLst>
            <a:outerShdw blurRad="76200" dist="25400" dir="8100000" algn="bl" rotWithShape="0">
              <a:srgbClr val="000000">
                <a:alpha val="10000"/>
              </a:srgbClr>
            </a:outerShdw>
          </a:effectLst>
        </p:spPr>
        <p:txBody>
          <a:bodyPr/>
          <a:lstStyle/>
          <a:p>
            <a:endParaRPr lang="en-IN"/>
          </a:p>
        </p:txBody>
      </p:sp>
      <p:sp>
        <p:nvSpPr>
          <p:cNvPr id="23" name="Text 21"/>
          <p:cNvSpPr/>
          <p:nvPr/>
        </p:nvSpPr>
        <p:spPr>
          <a:xfrm>
            <a:off x="365760" y="3977640"/>
            <a:ext cx="5120640" cy="256032"/>
          </a:xfrm>
          <a:prstGeom prst="rect">
            <a:avLst/>
          </a:prstGeom>
          <a:noFill/>
          <a:ln/>
        </p:spPr>
        <p:txBody>
          <a:bodyPr wrap="square" lIns="0" tIns="0" rIns="0" bIns="0" rtlCol="0" anchor="ctr"/>
          <a:lstStyle/>
          <a:p>
            <a:pPr marL="0" indent="0">
              <a:buNone/>
            </a:pPr>
            <a:r>
              <a:rPr lang="en-US" sz="1000" b="1" dirty="0">
                <a:solidFill>
                  <a:srgbClr val="0284C7"/>
                </a:solidFill>
                <a:latin typeface="Calibri" pitchFamily="34" charset="0"/>
                <a:ea typeface="Calibri" pitchFamily="34" charset="-122"/>
                <a:cs typeface="Calibri" pitchFamily="34" charset="-120"/>
              </a:rPr>
              <a:t>PENNAR RIVER  →  SOMASILA DAM  →  BAY OF BENGAL</a:t>
            </a:r>
            <a:endParaRPr lang="en-US" sz="1000" dirty="0"/>
          </a:p>
        </p:txBody>
      </p:sp>
      <p:sp>
        <p:nvSpPr>
          <p:cNvPr id="24" name="Text 22"/>
          <p:cNvSpPr/>
          <p:nvPr/>
        </p:nvSpPr>
        <p:spPr>
          <a:xfrm>
            <a:off x="365760" y="4233672"/>
            <a:ext cx="5120640" cy="228600"/>
          </a:xfrm>
          <a:prstGeom prst="rect">
            <a:avLst/>
          </a:prstGeom>
          <a:noFill/>
          <a:ln/>
        </p:spPr>
        <p:txBody>
          <a:bodyPr wrap="square" lIns="0" tIns="0" rIns="0" bIns="0" rtlCol="0" anchor="ctr"/>
          <a:lstStyle/>
          <a:p>
            <a:pPr marL="0" indent="0">
              <a:buNone/>
            </a:pPr>
            <a:r>
              <a:rPr lang="en-US" sz="800" dirty="0">
                <a:solidFill>
                  <a:srgbClr val="0284C7"/>
                </a:solidFill>
                <a:latin typeface="Calibri" pitchFamily="34" charset="0"/>
                <a:ea typeface="Calibri" pitchFamily="34" charset="-122"/>
                <a:cs typeface="Calibri" pitchFamily="34" charset="-120"/>
              </a:rPr>
              <a:t>Gundlamada confluence · Nov19: 5,12,303cs surge received at Somasila</a:t>
            </a:r>
            <a:endParaRPr lang="en-US" sz="800" dirty="0"/>
          </a:p>
        </p:txBody>
      </p:sp>
      <p:sp>
        <p:nvSpPr>
          <p:cNvPr id="25" name="Text 23"/>
          <p:cNvSpPr/>
          <p:nvPr/>
        </p:nvSpPr>
        <p:spPr>
          <a:xfrm>
            <a:off x="1371600" y="1691640"/>
            <a:ext cx="457200" cy="182880"/>
          </a:xfrm>
          <a:prstGeom prst="rect">
            <a:avLst/>
          </a:prstGeom>
          <a:noFill/>
          <a:ln/>
        </p:spPr>
        <p:txBody>
          <a:bodyPr wrap="square" lIns="0" tIns="0" rIns="0" bIns="0" rtlCol="0" anchor="ctr"/>
          <a:lstStyle/>
          <a:p>
            <a:pPr marL="0" indent="0" algn="ctr">
              <a:buNone/>
            </a:pPr>
            <a:r>
              <a:rPr lang="en-US" sz="1600" dirty="0">
                <a:solidFill>
                  <a:srgbClr val="EA580C"/>
                </a:solidFill>
                <a:latin typeface="Calibri" pitchFamily="34" charset="0"/>
                <a:ea typeface="Calibri" pitchFamily="34" charset="-122"/>
                <a:cs typeface="Calibri" pitchFamily="34" charset="-120"/>
              </a:rPr>
              <a:t>↘</a:t>
            </a:r>
            <a:endParaRPr lang="en-US" sz="1600" dirty="0"/>
          </a:p>
        </p:txBody>
      </p:sp>
      <p:sp>
        <p:nvSpPr>
          <p:cNvPr id="26" name="Text 24"/>
          <p:cNvSpPr/>
          <p:nvPr/>
        </p:nvSpPr>
        <p:spPr>
          <a:xfrm>
            <a:off x="3931920" y="1691640"/>
            <a:ext cx="457200" cy="182880"/>
          </a:xfrm>
          <a:prstGeom prst="rect">
            <a:avLst/>
          </a:prstGeom>
          <a:noFill/>
          <a:ln/>
        </p:spPr>
        <p:txBody>
          <a:bodyPr wrap="square" lIns="0" tIns="0" rIns="0" bIns="0" rtlCol="0" anchor="ctr"/>
          <a:lstStyle/>
          <a:p>
            <a:pPr marL="0" indent="0" algn="ctr">
              <a:buNone/>
            </a:pPr>
            <a:r>
              <a:rPr lang="en-US" sz="1600" dirty="0">
                <a:solidFill>
                  <a:srgbClr val="EA580C"/>
                </a:solidFill>
                <a:latin typeface="Calibri" pitchFamily="34" charset="0"/>
                <a:ea typeface="Calibri" pitchFamily="34" charset="-122"/>
                <a:cs typeface="Calibri" pitchFamily="34" charset="-120"/>
              </a:rPr>
              <a:t>↙</a:t>
            </a:r>
            <a:endParaRPr lang="en-US" sz="1600" dirty="0"/>
          </a:p>
        </p:txBody>
      </p:sp>
      <p:sp>
        <p:nvSpPr>
          <p:cNvPr id="27" name="Text 25"/>
          <p:cNvSpPr/>
          <p:nvPr/>
        </p:nvSpPr>
        <p:spPr>
          <a:xfrm>
            <a:off x="2560320" y="2377440"/>
            <a:ext cx="457200" cy="182880"/>
          </a:xfrm>
          <a:prstGeom prst="rect">
            <a:avLst/>
          </a:prstGeom>
          <a:noFill/>
          <a:ln/>
        </p:spPr>
        <p:txBody>
          <a:bodyPr wrap="square" lIns="0" tIns="0" rIns="0" bIns="0" rtlCol="0" anchor="ctr"/>
          <a:lstStyle/>
          <a:p>
            <a:pPr marL="0" indent="0" algn="ctr">
              <a:buNone/>
            </a:pPr>
            <a:r>
              <a:rPr lang="en-US" sz="1200" dirty="0">
                <a:solidFill>
                  <a:srgbClr val="EF4444"/>
                </a:solidFill>
                <a:latin typeface="Calibri" pitchFamily="34" charset="0"/>
                <a:ea typeface="Calibri" pitchFamily="34" charset="-122"/>
                <a:cs typeface="Calibri" pitchFamily="34" charset="-120"/>
              </a:rPr>
              <a:t>▼</a:t>
            </a:r>
            <a:endParaRPr lang="en-US" sz="1200" dirty="0"/>
          </a:p>
        </p:txBody>
      </p:sp>
      <p:sp>
        <p:nvSpPr>
          <p:cNvPr id="28" name="Text 26"/>
          <p:cNvSpPr/>
          <p:nvPr/>
        </p:nvSpPr>
        <p:spPr>
          <a:xfrm>
            <a:off x="2560320" y="3072384"/>
            <a:ext cx="457200" cy="182880"/>
          </a:xfrm>
          <a:prstGeom prst="rect">
            <a:avLst/>
          </a:prstGeom>
          <a:noFill/>
          <a:ln/>
        </p:spPr>
        <p:txBody>
          <a:bodyPr wrap="square" lIns="0" tIns="0" rIns="0" bIns="0" rtlCol="0" anchor="ctr"/>
          <a:lstStyle/>
          <a:p>
            <a:pPr marL="0" indent="0" algn="ctr">
              <a:buNone/>
            </a:pPr>
            <a:r>
              <a:rPr lang="en-US" sz="1200" dirty="0">
                <a:solidFill>
                  <a:srgbClr val="EF4444"/>
                </a:solidFill>
                <a:latin typeface="Calibri" pitchFamily="34" charset="0"/>
                <a:ea typeface="Calibri" pitchFamily="34" charset="-122"/>
                <a:cs typeface="Calibri" pitchFamily="34" charset="-120"/>
              </a:rPr>
              <a:t>▼</a:t>
            </a:r>
            <a:endParaRPr lang="en-US" sz="1200" dirty="0"/>
          </a:p>
        </p:txBody>
      </p:sp>
      <p:sp>
        <p:nvSpPr>
          <p:cNvPr id="29" name="Text 27"/>
          <p:cNvSpPr/>
          <p:nvPr/>
        </p:nvSpPr>
        <p:spPr>
          <a:xfrm>
            <a:off x="2560320" y="3767328"/>
            <a:ext cx="457200" cy="182880"/>
          </a:xfrm>
          <a:prstGeom prst="rect">
            <a:avLst/>
          </a:prstGeom>
          <a:noFill/>
          <a:ln/>
        </p:spPr>
        <p:txBody>
          <a:bodyPr wrap="square" lIns="0" tIns="0" rIns="0" bIns="0" rtlCol="0" anchor="ctr"/>
          <a:lstStyle/>
          <a:p>
            <a:pPr marL="0" indent="0" algn="ctr">
              <a:buNone/>
            </a:pPr>
            <a:r>
              <a:rPr lang="en-US" sz="1200" dirty="0">
                <a:solidFill>
                  <a:srgbClr val="EF4444"/>
                </a:solidFill>
                <a:latin typeface="Calibri" pitchFamily="34" charset="0"/>
                <a:ea typeface="Calibri" pitchFamily="34" charset="-122"/>
                <a:cs typeface="Calibri" pitchFamily="34" charset="-120"/>
              </a:rPr>
              <a:t>▼</a:t>
            </a:r>
            <a:endParaRPr lang="en-US" sz="1200" dirty="0"/>
          </a:p>
        </p:txBody>
      </p:sp>
      <p:sp>
        <p:nvSpPr>
          <p:cNvPr id="30" name="Shape 28"/>
          <p:cNvSpPr/>
          <p:nvPr/>
        </p:nvSpPr>
        <p:spPr>
          <a:xfrm>
            <a:off x="5806440" y="1078992"/>
            <a:ext cx="3063240" cy="3657600"/>
          </a:xfrm>
          <a:prstGeom prst="rect">
            <a:avLst/>
          </a:prstGeom>
          <a:solidFill>
            <a:srgbClr val="0A1628"/>
          </a:solidFill>
          <a:ln w="12700">
            <a:solidFill>
              <a:srgbClr val="0A1628"/>
            </a:solidFill>
            <a:prstDash val="solid"/>
          </a:ln>
          <a:effectLst>
            <a:outerShdw blurRad="76200" dist="25400" dir="8100000" algn="bl" rotWithShape="0">
              <a:srgbClr val="000000">
                <a:alpha val="10000"/>
              </a:srgbClr>
            </a:outerShdw>
          </a:effectLst>
        </p:spPr>
        <p:txBody>
          <a:bodyPr/>
          <a:lstStyle/>
          <a:p>
            <a:endParaRPr lang="en-IN"/>
          </a:p>
        </p:txBody>
      </p:sp>
      <p:sp>
        <p:nvSpPr>
          <p:cNvPr id="31" name="Shape 29"/>
          <p:cNvSpPr/>
          <p:nvPr/>
        </p:nvSpPr>
        <p:spPr>
          <a:xfrm>
            <a:off x="5806440" y="1078992"/>
            <a:ext cx="3063240" cy="347472"/>
          </a:xfrm>
          <a:prstGeom prst="rect">
            <a:avLst/>
          </a:prstGeom>
          <a:solidFill>
            <a:srgbClr val="EF4444"/>
          </a:solidFill>
          <a:ln w="12700">
            <a:solidFill>
              <a:srgbClr val="EF4444"/>
            </a:solidFill>
            <a:prstDash val="solid"/>
          </a:ln>
        </p:spPr>
        <p:txBody>
          <a:bodyPr/>
          <a:lstStyle/>
          <a:p>
            <a:endParaRPr lang="en-IN"/>
          </a:p>
        </p:txBody>
      </p:sp>
      <p:sp>
        <p:nvSpPr>
          <p:cNvPr id="32" name="Text 30"/>
          <p:cNvSpPr/>
          <p:nvPr/>
        </p:nvSpPr>
        <p:spPr>
          <a:xfrm>
            <a:off x="5897880" y="1124712"/>
            <a:ext cx="2880360"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  Nov 18, 2021 — CASCADE</a:t>
            </a:r>
            <a:endParaRPr lang="en-US" sz="900" dirty="0"/>
          </a:p>
        </p:txBody>
      </p:sp>
      <p:sp>
        <p:nvSpPr>
          <p:cNvPr id="33" name="Text 31"/>
          <p:cNvSpPr/>
          <p:nvPr/>
        </p:nvSpPr>
        <p:spPr>
          <a:xfrm>
            <a:off x="5897880" y="1508760"/>
            <a:ext cx="1371600" cy="256032"/>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Pincha Inflow:</a:t>
            </a:r>
            <a:endParaRPr lang="en-US" sz="900" dirty="0"/>
          </a:p>
        </p:txBody>
      </p:sp>
      <p:sp>
        <p:nvSpPr>
          <p:cNvPr id="34" name="Text 32"/>
          <p:cNvSpPr/>
          <p:nvPr/>
        </p:nvSpPr>
        <p:spPr>
          <a:xfrm>
            <a:off x="7269480" y="1508760"/>
            <a:ext cx="868680" cy="256032"/>
          </a:xfrm>
          <a:prstGeom prst="rect">
            <a:avLst/>
          </a:prstGeom>
          <a:noFill/>
          <a:ln/>
        </p:spPr>
        <p:txBody>
          <a:bodyPr wrap="square" lIns="0" tIns="0" rIns="0" bIns="0" rtlCol="0" anchor="ctr"/>
          <a:lstStyle/>
          <a:p>
            <a:pPr marL="0" indent="0">
              <a:buNone/>
            </a:pPr>
            <a:r>
              <a:rPr lang="en-US" sz="900" b="1" dirty="0">
                <a:solidFill>
                  <a:srgbClr val="EA580C"/>
                </a:solidFill>
                <a:latin typeface="Calibri" pitchFamily="34" charset="0"/>
                <a:ea typeface="Calibri" pitchFamily="34" charset="-122"/>
                <a:cs typeface="Calibri" pitchFamily="34" charset="-120"/>
              </a:rPr>
              <a:t>3,034 cs</a:t>
            </a:r>
            <a:endParaRPr lang="en-US" sz="900" dirty="0"/>
          </a:p>
        </p:txBody>
      </p:sp>
      <p:sp>
        <p:nvSpPr>
          <p:cNvPr id="35" name="Text 33"/>
          <p:cNvSpPr/>
          <p:nvPr/>
        </p:nvSpPr>
        <p:spPr>
          <a:xfrm>
            <a:off x="8119872" y="1508760"/>
            <a:ext cx="685800" cy="256032"/>
          </a:xfrm>
          <a:prstGeom prst="rect">
            <a:avLst/>
          </a:prstGeom>
          <a:noFill/>
          <a:ln/>
        </p:spPr>
        <p:txBody>
          <a:bodyPr wrap="square" lIns="0" tIns="0" rIns="0" bIns="0" rtlCol="0" anchor="ctr"/>
          <a:lstStyle/>
          <a:p>
            <a:pPr marL="0" indent="0">
              <a:buNone/>
            </a:pPr>
            <a:r>
              <a:rPr lang="en-US" sz="800" dirty="0">
                <a:solidFill>
                  <a:srgbClr val="EA580C"/>
                </a:solidFill>
                <a:latin typeface="Calibri" pitchFamily="34" charset="0"/>
                <a:ea typeface="Calibri" pitchFamily="34" charset="-122"/>
                <a:cs typeface="Calibri" pitchFamily="34" charset="-120"/>
              </a:rPr>
              <a:t>↑+16.6%</a:t>
            </a:r>
            <a:endParaRPr lang="en-US" sz="800" dirty="0"/>
          </a:p>
        </p:txBody>
      </p:sp>
      <p:sp>
        <p:nvSpPr>
          <p:cNvPr id="36" name="Text 34"/>
          <p:cNvSpPr/>
          <p:nvPr/>
        </p:nvSpPr>
        <p:spPr>
          <a:xfrm>
            <a:off x="5897880" y="1828800"/>
            <a:ext cx="1371600" cy="256032"/>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Annamayya In:</a:t>
            </a:r>
            <a:endParaRPr lang="en-US" sz="900" dirty="0"/>
          </a:p>
        </p:txBody>
      </p:sp>
      <p:sp>
        <p:nvSpPr>
          <p:cNvPr id="37" name="Text 35"/>
          <p:cNvSpPr/>
          <p:nvPr/>
        </p:nvSpPr>
        <p:spPr>
          <a:xfrm>
            <a:off x="7269480" y="1828800"/>
            <a:ext cx="868680" cy="256032"/>
          </a:xfrm>
          <a:prstGeom prst="rect">
            <a:avLst/>
          </a:prstGeom>
          <a:noFill/>
          <a:ln/>
        </p:spPr>
        <p:txBody>
          <a:bodyPr wrap="square" lIns="0" tIns="0" rIns="0" bIns="0" rtlCol="0" anchor="ctr"/>
          <a:lstStyle/>
          <a:p>
            <a:pPr marL="0" indent="0">
              <a:buNone/>
            </a:pPr>
            <a:r>
              <a:rPr lang="en-US" sz="900" b="1" dirty="0">
                <a:solidFill>
                  <a:srgbClr val="EF4444"/>
                </a:solidFill>
                <a:latin typeface="Calibri" pitchFamily="34" charset="0"/>
                <a:ea typeface="Calibri" pitchFamily="34" charset="-122"/>
                <a:cs typeface="Calibri" pitchFamily="34" charset="-120"/>
              </a:rPr>
              <a:t>11,531 cs</a:t>
            </a:r>
            <a:endParaRPr lang="en-US" sz="900" dirty="0"/>
          </a:p>
        </p:txBody>
      </p:sp>
      <p:sp>
        <p:nvSpPr>
          <p:cNvPr id="38" name="Text 36"/>
          <p:cNvSpPr/>
          <p:nvPr/>
        </p:nvSpPr>
        <p:spPr>
          <a:xfrm>
            <a:off x="8119872" y="1828800"/>
            <a:ext cx="685800" cy="256032"/>
          </a:xfrm>
          <a:prstGeom prst="rect">
            <a:avLst/>
          </a:prstGeom>
          <a:noFill/>
          <a:ln/>
        </p:spPr>
        <p:txBody>
          <a:bodyPr wrap="square" lIns="0" tIns="0" rIns="0" bIns="0" rtlCol="0" anchor="ctr"/>
          <a:lstStyle/>
          <a:p>
            <a:pPr marL="0" indent="0">
              <a:buNone/>
            </a:pPr>
            <a:r>
              <a:rPr lang="en-US" sz="800" dirty="0">
                <a:solidFill>
                  <a:srgbClr val="EF4444"/>
                </a:solidFill>
                <a:latin typeface="Calibri" pitchFamily="34" charset="0"/>
                <a:ea typeface="Calibri" pitchFamily="34" charset="-122"/>
                <a:cs typeface="Calibri" pitchFamily="34" charset="-120"/>
              </a:rPr>
              <a:t>⚠️ Max</a:t>
            </a:r>
            <a:endParaRPr lang="en-US" sz="800" dirty="0"/>
          </a:p>
        </p:txBody>
      </p:sp>
      <p:sp>
        <p:nvSpPr>
          <p:cNvPr id="39" name="Text 37"/>
          <p:cNvSpPr/>
          <p:nvPr/>
        </p:nvSpPr>
        <p:spPr>
          <a:xfrm>
            <a:off x="5897880" y="2148840"/>
            <a:ext cx="1371600" cy="256032"/>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Annamayya Out:</a:t>
            </a:r>
            <a:endParaRPr lang="en-US" sz="900" dirty="0"/>
          </a:p>
        </p:txBody>
      </p:sp>
      <p:sp>
        <p:nvSpPr>
          <p:cNvPr id="40" name="Text 38"/>
          <p:cNvSpPr/>
          <p:nvPr/>
        </p:nvSpPr>
        <p:spPr>
          <a:xfrm>
            <a:off x="7269480" y="2148840"/>
            <a:ext cx="868680" cy="256032"/>
          </a:xfrm>
          <a:prstGeom prst="rect">
            <a:avLst/>
          </a:prstGeom>
          <a:noFill/>
          <a:ln/>
        </p:spPr>
        <p:txBody>
          <a:bodyPr wrap="square" lIns="0" tIns="0" rIns="0" bIns="0" rtlCol="0" anchor="ctr"/>
          <a:lstStyle/>
          <a:p>
            <a:pPr marL="0" indent="0">
              <a:buNone/>
            </a:pPr>
            <a:r>
              <a:rPr lang="en-US" sz="900" b="1" dirty="0">
                <a:solidFill>
                  <a:srgbClr val="EF4444"/>
                </a:solidFill>
                <a:latin typeface="Calibri" pitchFamily="34" charset="0"/>
                <a:ea typeface="Calibri" pitchFamily="34" charset="-122"/>
                <a:cs typeface="Calibri" pitchFamily="34" charset="-120"/>
              </a:rPr>
              <a:t>12,159 cs</a:t>
            </a:r>
            <a:endParaRPr lang="en-US" sz="900" dirty="0"/>
          </a:p>
        </p:txBody>
      </p:sp>
      <p:sp>
        <p:nvSpPr>
          <p:cNvPr id="41" name="Text 39"/>
          <p:cNvSpPr/>
          <p:nvPr/>
        </p:nvSpPr>
        <p:spPr>
          <a:xfrm>
            <a:off x="8119872" y="2148840"/>
            <a:ext cx="685800" cy="256032"/>
          </a:xfrm>
          <a:prstGeom prst="rect">
            <a:avLst/>
          </a:prstGeom>
          <a:noFill/>
          <a:ln/>
        </p:spPr>
        <p:txBody>
          <a:bodyPr wrap="square" lIns="0" tIns="0" rIns="0" bIns="0" rtlCol="0" anchor="ctr"/>
          <a:lstStyle/>
          <a:p>
            <a:pPr marL="0" indent="0">
              <a:buNone/>
            </a:pPr>
            <a:r>
              <a:rPr lang="en-US" sz="800" dirty="0">
                <a:solidFill>
                  <a:srgbClr val="EF4444"/>
                </a:solidFill>
                <a:latin typeface="Calibri" pitchFamily="34" charset="0"/>
                <a:ea typeface="Calibri" pitchFamily="34" charset="-122"/>
                <a:cs typeface="Calibri" pitchFamily="34" charset="-120"/>
              </a:rPr>
              <a:t>❌ Out&gt;In</a:t>
            </a:r>
            <a:endParaRPr lang="en-US" sz="800" dirty="0"/>
          </a:p>
        </p:txBody>
      </p:sp>
      <p:sp>
        <p:nvSpPr>
          <p:cNvPr id="42" name="Text 40"/>
          <p:cNvSpPr/>
          <p:nvPr/>
        </p:nvSpPr>
        <p:spPr>
          <a:xfrm>
            <a:off x="5897880" y="2468880"/>
            <a:ext cx="1371600" cy="256032"/>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Soil Moisture:</a:t>
            </a:r>
            <a:endParaRPr lang="en-US" sz="900" dirty="0"/>
          </a:p>
        </p:txBody>
      </p:sp>
      <p:sp>
        <p:nvSpPr>
          <p:cNvPr id="43" name="Text 41"/>
          <p:cNvSpPr/>
          <p:nvPr/>
        </p:nvSpPr>
        <p:spPr>
          <a:xfrm>
            <a:off x="7269480" y="2468880"/>
            <a:ext cx="868680" cy="256032"/>
          </a:xfrm>
          <a:prstGeom prst="rect">
            <a:avLst/>
          </a:prstGeom>
          <a:noFill/>
          <a:ln/>
        </p:spPr>
        <p:txBody>
          <a:bodyPr wrap="square" lIns="0" tIns="0" rIns="0" bIns="0" rtlCol="0" anchor="ctr"/>
          <a:lstStyle/>
          <a:p>
            <a:pPr marL="0" indent="0">
              <a:buNone/>
            </a:pPr>
            <a:r>
              <a:rPr lang="en-US" sz="900" b="1" dirty="0">
                <a:solidFill>
                  <a:srgbClr val="EF4444"/>
                </a:solidFill>
                <a:latin typeface="Calibri" pitchFamily="34" charset="0"/>
                <a:ea typeface="Calibri" pitchFamily="34" charset="-122"/>
                <a:cs typeface="Calibri" pitchFamily="34" charset="-120"/>
              </a:rPr>
              <a:t>99.9%</a:t>
            </a:r>
            <a:endParaRPr lang="en-US" sz="900" dirty="0"/>
          </a:p>
        </p:txBody>
      </p:sp>
      <p:sp>
        <p:nvSpPr>
          <p:cNvPr id="44" name="Text 42"/>
          <p:cNvSpPr/>
          <p:nvPr/>
        </p:nvSpPr>
        <p:spPr>
          <a:xfrm>
            <a:off x="8119872" y="2468880"/>
            <a:ext cx="685800" cy="256032"/>
          </a:xfrm>
          <a:prstGeom prst="rect">
            <a:avLst/>
          </a:prstGeom>
          <a:noFill/>
          <a:ln/>
        </p:spPr>
        <p:txBody>
          <a:bodyPr wrap="square" lIns="0" tIns="0" rIns="0" bIns="0" rtlCol="0" anchor="ctr"/>
          <a:lstStyle/>
          <a:p>
            <a:pPr marL="0" indent="0">
              <a:buNone/>
            </a:pPr>
            <a:r>
              <a:rPr lang="en-US" sz="800" dirty="0">
                <a:solidFill>
                  <a:srgbClr val="EF4444"/>
                </a:solidFill>
                <a:latin typeface="Calibri" pitchFamily="34" charset="0"/>
                <a:ea typeface="Calibri" pitchFamily="34" charset="-122"/>
                <a:cs typeface="Calibri" pitchFamily="34" charset="-120"/>
              </a:rPr>
              <a:t>🔴 Max</a:t>
            </a:r>
            <a:endParaRPr lang="en-US" sz="800" dirty="0"/>
          </a:p>
        </p:txBody>
      </p:sp>
      <p:sp>
        <p:nvSpPr>
          <p:cNvPr id="45" name="Text 43"/>
          <p:cNvSpPr/>
          <p:nvPr/>
        </p:nvSpPr>
        <p:spPr>
          <a:xfrm>
            <a:off x="5897880" y="2788920"/>
            <a:ext cx="1371600" cy="256032"/>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Rainfall Nov:</a:t>
            </a:r>
            <a:endParaRPr lang="en-US" sz="900" dirty="0"/>
          </a:p>
        </p:txBody>
      </p:sp>
      <p:sp>
        <p:nvSpPr>
          <p:cNvPr id="46" name="Text 44"/>
          <p:cNvSpPr/>
          <p:nvPr/>
        </p:nvSpPr>
        <p:spPr>
          <a:xfrm>
            <a:off x="7269480" y="2788920"/>
            <a:ext cx="868680" cy="256032"/>
          </a:xfrm>
          <a:prstGeom prst="rect">
            <a:avLst/>
          </a:prstGeom>
          <a:noFill/>
          <a:ln/>
        </p:spPr>
        <p:txBody>
          <a:bodyPr wrap="square" lIns="0" tIns="0" rIns="0" bIns="0" rtlCol="0" anchor="ctr"/>
          <a:lstStyle/>
          <a:p>
            <a:pPr marL="0" indent="0">
              <a:buNone/>
            </a:pPr>
            <a:r>
              <a:rPr lang="en-US" sz="900" b="1" dirty="0">
                <a:solidFill>
                  <a:srgbClr val="EF4444"/>
                </a:solidFill>
                <a:latin typeface="Calibri" pitchFamily="34" charset="0"/>
                <a:ea typeface="Calibri" pitchFamily="34" charset="-122"/>
                <a:cs typeface="Calibri" pitchFamily="34" charset="-120"/>
              </a:rPr>
              <a:t>+380%</a:t>
            </a:r>
            <a:endParaRPr lang="en-US" sz="900" dirty="0"/>
          </a:p>
        </p:txBody>
      </p:sp>
      <p:sp>
        <p:nvSpPr>
          <p:cNvPr id="47" name="Text 45"/>
          <p:cNvSpPr/>
          <p:nvPr/>
        </p:nvSpPr>
        <p:spPr>
          <a:xfrm>
            <a:off x="8119872" y="2788920"/>
            <a:ext cx="685800" cy="256032"/>
          </a:xfrm>
          <a:prstGeom prst="rect">
            <a:avLst/>
          </a:prstGeom>
          <a:noFill/>
          <a:ln/>
        </p:spPr>
        <p:txBody>
          <a:bodyPr wrap="square" lIns="0" tIns="0" rIns="0" bIns="0" rtlCol="0" anchor="ctr"/>
          <a:lstStyle/>
          <a:p>
            <a:pPr marL="0" indent="0">
              <a:buNone/>
            </a:pPr>
            <a:r>
              <a:rPr lang="en-US" sz="800" dirty="0">
                <a:solidFill>
                  <a:srgbClr val="EF4444"/>
                </a:solidFill>
                <a:latin typeface="Calibri" pitchFamily="34" charset="0"/>
                <a:ea typeface="Calibri" pitchFamily="34" charset="-122"/>
                <a:cs typeface="Calibri" pitchFamily="34" charset="-120"/>
              </a:rPr>
              <a:t>⛈️ Extreme</a:t>
            </a:r>
            <a:endParaRPr lang="en-US" sz="800" dirty="0"/>
          </a:p>
        </p:txBody>
      </p:sp>
      <p:sp>
        <p:nvSpPr>
          <p:cNvPr id="48" name="Text 46"/>
          <p:cNvSpPr/>
          <p:nvPr/>
        </p:nvSpPr>
        <p:spPr>
          <a:xfrm>
            <a:off x="5897880" y="3108960"/>
            <a:ext cx="1371600" cy="256032"/>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MI Tank Fill:</a:t>
            </a:r>
            <a:endParaRPr lang="en-US" sz="900" dirty="0"/>
          </a:p>
        </p:txBody>
      </p:sp>
      <p:sp>
        <p:nvSpPr>
          <p:cNvPr id="49" name="Text 47"/>
          <p:cNvSpPr/>
          <p:nvPr/>
        </p:nvSpPr>
        <p:spPr>
          <a:xfrm>
            <a:off x="7269480" y="3108960"/>
            <a:ext cx="868680" cy="256032"/>
          </a:xfrm>
          <a:prstGeom prst="rect">
            <a:avLst/>
          </a:prstGeom>
          <a:noFill/>
          <a:ln/>
        </p:spPr>
        <p:txBody>
          <a:bodyPr wrap="square" lIns="0" tIns="0" rIns="0" bIns="0" rtlCol="0" anchor="ctr"/>
          <a:lstStyle/>
          <a:p>
            <a:pPr marL="0" indent="0">
              <a:buNone/>
            </a:pPr>
            <a:r>
              <a:rPr lang="en-US" sz="900" b="1" dirty="0">
                <a:solidFill>
                  <a:srgbClr val="EA580C"/>
                </a:solidFill>
                <a:latin typeface="Calibri" pitchFamily="34" charset="0"/>
                <a:ea typeface="Calibri" pitchFamily="34" charset="-122"/>
                <a:cs typeface="Calibri" pitchFamily="34" charset="-120"/>
              </a:rPr>
              <a:t>83.2%</a:t>
            </a:r>
            <a:endParaRPr lang="en-US" sz="900" dirty="0"/>
          </a:p>
        </p:txBody>
      </p:sp>
      <p:sp>
        <p:nvSpPr>
          <p:cNvPr id="50" name="Text 48"/>
          <p:cNvSpPr/>
          <p:nvPr/>
        </p:nvSpPr>
        <p:spPr>
          <a:xfrm>
            <a:off x="8119872" y="3108960"/>
            <a:ext cx="685800" cy="256032"/>
          </a:xfrm>
          <a:prstGeom prst="rect">
            <a:avLst/>
          </a:prstGeom>
          <a:noFill/>
          <a:ln/>
        </p:spPr>
        <p:txBody>
          <a:bodyPr wrap="square" lIns="0" tIns="0" rIns="0" bIns="0" rtlCol="0" anchor="ctr"/>
          <a:lstStyle/>
          <a:p>
            <a:pPr marL="0" indent="0">
              <a:buNone/>
            </a:pPr>
            <a:r>
              <a:rPr lang="en-US" sz="800" dirty="0">
                <a:solidFill>
                  <a:srgbClr val="EA580C"/>
                </a:solidFill>
                <a:latin typeface="Calibri" pitchFamily="34" charset="0"/>
                <a:ea typeface="Calibri" pitchFamily="34" charset="-122"/>
                <a:cs typeface="Calibri" pitchFamily="34" charset="-120"/>
              </a:rPr>
              <a:t>⚠️ High</a:t>
            </a:r>
            <a:endParaRPr lang="en-US" sz="800" dirty="0"/>
          </a:p>
        </p:txBody>
      </p:sp>
      <p:sp>
        <p:nvSpPr>
          <p:cNvPr id="51" name="Text 49"/>
          <p:cNvSpPr/>
          <p:nvPr/>
        </p:nvSpPr>
        <p:spPr>
          <a:xfrm>
            <a:off x="5897880" y="3429000"/>
            <a:ext cx="1371600" cy="256032"/>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Network Risk:</a:t>
            </a:r>
            <a:endParaRPr lang="en-US" sz="900" dirty="0"/>
          </a:p>
        </p:txBody>
      </p:sp>
      <p:sp>
        <p:nvSpPr>
          <p:cNvPr id="52" name="Text 50"/>
          <p:cNvSpPr/>
          <p:nvPr/>
        </p:nvSpPr>
        <p:spPr>
          <a:xfrm>
            <a:off x="7269480" y="3429000"/>
            <a:ext cx="868680" cy="256032"/>
          </a:xfrm>
          <a:prstGeom prst="rect">
            <a:avLst/>
          </a:prstGeom>
          <a:noFill/>
          <a:ln/>
        </p:spPr>
        <p:txBody>
          <a:bodyPr wrap="square" lIns="0" tIns="0" rIns="0" bIns="0" rtlCol="0" anchor="ctr"/>
          <a:lstStyle/>
          <a:p>
            <a:pPr marL="0" indent="0">
              <a:buNone/>
            </a:pPr>
            <a:r>
              <a:rPr lang="en-US" sz="900" b="1" dirty="0">
                <a:solidFill>
                  <a:srgbClr val="EF4444"/>
                </a:solidFill>
                <a:latin typeface="Calibri" pitchFamily="34" charset="0"/>
                <a:ea typeface="Calibri" pitchFamily="34" charset="-122"/>
                <a:cs typeface="Calibri" pitchFamily="34" charset="-120"/>
              </a:rPr>
              <a:t>86.4/100</a:t>
            </a:r>
            <a:endParaRPr lang="en-US" sz="900" dirty="0"/>
          </a:p>
        </p:txBody>
      </p:sp>
      <p:sp>
        <p:nvSpPr>
          <p:cNvPr id="53" name="Text 51"/>
          <p:cNvSpPr/>
          <p:nvPr/>
        </p:nvSpPr>
        <p:spPr>
          <a:xfrm>
            <a:off x="8119872" y="3429000"/>
            <a:ext cx="685800" cy="256032"/>
          </a:xfrm>
          <a:prstGeom prst="rect">
            <a:avLst/>
          </a:prstGeom>
          <a:noFill/>
          <a:ln/>
        </p:spPr>
        <p:txBody>
          <a:bodyPr wrap="square" lIns="0" tIns="0" rIns="0" bIns="0" rtlCol="0" anchor="ctr"/>
          <a:lstStyle/>
          <a:p>
            <a:pPr marL="0" indent="0">
              <a:buNone/>
            </a:pPr>
            <a:r>
              <a:rPr lang="en-US" sz="800" dirty="0">
                <a:solidFill>
                  <a:srgbClr val="EF4444"/>
                </a:solidFill>
                <a:latin typeface="Calibri" pitchFamily="34" charset="0"/>
                <a:ea typeface="Calibri" pitchFamily="34" charset="-122"/>
                <a:cs typeface="Calibri" pitchFamily="34" charset="-120"/>
              </a:rPr>
              <a:t>🚨 CRITICAL</a:t>
            </a:r>
            <a:endParaRPr lang="en-US" sz="800" dirty="0"/>
          </a:p>
        </p:txBody>
      </p:sp>
      <p:sp>
        <p:nvSpPr>
          <p:cNvPr id="54" name="Text 52"/>
          <p:cNvSpPr/>
          <p:nvPr/>
        </p:nvSpPr>
        <p:spPr>
          <a:xfrm>
            <a:off x="5897880" y="3749040"/>
            <a:ext cx="1371600" cy="256032"/>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Time to Failure:</a:t>
            </a:r>
            <a:endParaRPr lang="en-US" sz="900" dirty="0"/>
          </a:p>
        </p:txBody>
      </p:sp>
      <p:sp>
        <p:nvSpPr>
          <p:cNvPr id="55" name="Text 53"/>
          <p:cNvSpPr/>
          <p:nvPr/>
        </p:nvSpPr>
        <p:spPr>
          <a:xfrm>
            <a:off x="7269480" y="3749040"/>
            <a:ext cx="868680" cy="256032"/>
          </a:xfrm>
          <a:prstGeom prst="rect">
            <a:avLst/>
          </a:prstGeom>
          <a:noFill/>
          <a:ln/>
        </p:spPr>
        <p:txBody>
          <a:bodyPr wrap="square" lIns="0" tIns="0" rIns="0" bIns="0" rtlCol="0" anchor="ctr"/>
          <a:lstStyle/>
          <a:p>
            <a:pPr marL="0" indent="0">
              <a:buNone/>
            </a:pPr>
            <a:r>
              <a:rPr lang="en-US" sz="900" b="1" dirty="0">
                <a:solidFill>
                  <a:srgbClr val="F59E0B"/>
                </a:solidFill>
                <a:latin typeface="Calibri" pitchFamily="34" charset="0"/>
                <a:ea typeface="Calibri" pitchFamily="34" charset="-122"/>
                <a:cs typeface="Calibri" pitchFamily="34" charset="-120"/>
              </a:rPr>
              <a:t>6-12 hrs</a:t>
            </a:r>
            <a:endParaRPr lang="en-US" sz="900" dirty="0"/>
          </a:p>
        </p:txBody>
      </p:sp>
      <p:sp>
        <p:nvSpPr>
          <p:cNvPr id="56" name="Text 54"/>
          <p:cNvSpPr/>
          <p:nvPr/>
        </p:nvSpPr>
        <p:spPr>
          <a:xfrm>
            <a:off x="8119872" y="3749040"/>
            <a:ext cx="685800" cy="256032"/>
          </a:xfrm>
          <a:prstGeom prst="rect">
            <a:avLst/>
          </a:prstGeom>
          <a:noFill/>
          <a:ln/>
        </p:spPr>
        <p:txBody>
          <a:bodyPr wrap="square" lIns="0" tIns="0" rIns="0" bIns="0" rtlCol="0" anchor="ctr"/>
          <a:lstStyle/>
          <a:p>
            <a:pPr marL="0" indent="0">
              <a:buNone/>
            </a:pPr>
            <a:r>
              <a:rPr lang="en-US" sz="800" dirty="0">
                <a:solidFill>
                  <a:srgbClr val="F59E0B"/>
                </a:solidFill>
                <a:latin typeface="Calibri" pitchFamily="34" charset="0"/>
                <a:ea typeface="Calibri" pitchFamily="34" charset="-122"/>
                <a:cs typeface="Calibri" pitchFamily="34" charset="-120"/>
              </a:rPr>
              <a:t>⏰ URGENT</a:t>
            </a:r>
            <a:endParaRPr lang="en-US" sz="800" dirty="0"/>
          </a:p>
        </p:txBody>
      </p:sp>
      <p:sp>
        <p:nvSpPr>
          <p:cNvPr id="57" name="Shape 55"/>
          <p:cNvSpPr/>
          <p:nvPr/>
        </p:nvSpPr>
        <p:spPr>
          <a:xfrm>
            <a:off x="0" y="4818888"/>
            <a:ext cx="9144000" cy="324612"/>
          </a:xfrm>
          <a:prstGeom prst="rect">
            <a:avLst/>
          </a:prstGeom>
          <a:solidFill>
            <a:srgbClr val="E2E8F0"/>
          </a:solidFill>
          <a:ln w="12700">
            <a:solidFill>
              <a:srgbClr val="E2E8F0"/>
            </a:solidFill>
            <a:prstDash val="solid"/>
          </a:ln>
        </p:spPr>
        <p:txBody>
          <a:bodyPr/>
          <a:lstStyle/>
          <a:p>
            <a:endParaRPr lang="en-IN"/>
          </a:p>
        </p:txBody>
      </p:sp>
      <p:sp>
        <p:nvSpPr>
          <p:cNvPr id="58" name="Text 56"/>
          <p:cNvSpPr/>
          <p:nvPr/>
        </p:nvSpPr>
        <p:spPr>
          <a:xfrm>
            <a:off x="274320" y="4837176"/>
            <a:ext cx="7772400" cy="27432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AP-Wrims Early Warning System  |  HierachAI Technologies Pvt. Ltd.  |  DPIIT Recognised · Women-Led · Andhra Pradesh</a:t>
            </a:r>
            <a:endParaRPr lang="en-US" sz="800" dirty="0"/>
          </a:p>
        </p:txBody>
      </p:sp>
      <p:sp>
        <p:nvSpPr>
          <p:cNvPr id="59" name="Text 57"/>
          <p:cNvSpPr/>
          <p:nvPr/>
        </p:nvSpPr>
        <p:spPr>
          <a:xfrm>
            <a:off x="8046720" y="4837176"/>
            <a:ext cx="914400" cy="274320"/>
          </a:xfrm>
          <a:prstGeom prst="rect">
            <a:avLst/>
          </a:prstGeom>
          <a:noFill/>
          <a:ln/>
        </p:spPr>
        <p:txBody>
          <a:bodyPr wrap="square" lIns="0" tIns="0" rIns="0" bIns="0" rtlCol="0" anchor="ctr"/>
          <a:lstStyle/>
          <a:p>
            <a:pPr marL="0" indent="0" algn="r">
              <a:buNone/>
            </a:pPr>
            <a:r>
              <a:rPr lang="en-US" sz="800" dirty="0">
                <a:solidFill>
                  <a:srgbClr val="1E3A5F"/>
                </a:solidFill>
                <a:latin typeface="Calibri" pitchFamily="34" charset="0"/>
                <a:ea typeface="Calibri" pitchFamily="34" charset="-122"/>
                <a:cs typeface="Calibri" pitchFamily="34" charset="-120"/>
              </a:rPr>
              <a:t>7 / 16</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3A5F"/>
          </a:solidFill>
          <a:ln w="12700">
            <a:solidFill>
              <a:srgbClr val="1E3A5F"/>
            </a:solidFill>
            <a:prstDash val="solid"/>
          </a:ln>
        </p:spPr>
        <p:txBody>
          <a:bodyPr/>
          <a:lstStyle/>
          <a:p>
            <a:endParaRPr lang="en-IN"/>
          </a:p>
        </p:txBody>
      </p:sp>
      <p:sp>
        <p:nvSpPr>
          <p:cNvPr id="3" name="Shape 1"/>
          <p:cNvSpPr/>
          <p:nvPr/>
        </p:nvSpPr>
        <p:spPr>
          <a:xfrm>
            <a:off x="0" y="73152"/>
            <a:ext cx="9144000" cy="658368"/>
          </a:xfrm>
          <a:prstGeom prst="rect">
            <a:avLst/>
          </a:prstGeom>
          <a:solidFill>
            <a:srgbClr val="FFFFFF"/>
          </a:solidFill>
          <a:ln w="12700">
            <a:solidFill>
              <a:srgbClr val="E2E8F0"/>
            </a:solidFill>
            <a:prstDash val="solid"/>
          </a:ln>
        </p:spPr>
        <p:txBody>
          <a:bodyPr/>
          <a:lstStyle/>
          <a:p>
            <a:endParaRPr lang="en-IN"/>
          </a:p>
        </p:txBody>
      </p:sp>
      <p:sp>
        <p:nvSpPr>
          <p:cNvPr id="4" name="Text 2"/>
          <p:cNvSpPr/>
          <p:nvPr/>
        </p:nvSpPr>
        <p:spPr>
          <a:xfrm>
            <a:off x="365760" y="91440"/>
            <a:ext cx="8412480" cy="475488"/>
          </a:xfrm>
          <a:prstGeom prst="rect">
            <a:avLst/>
          </a:prstGeom>
          <a:noFill/>
          <a:ln/>
        </p:spPr>
        <p:txBody>
          <a:bodyPr wrap="square" lIns="0" tIns="0" rIns="0" bIns="0" rtlCol="0" anchor="ctr"/>
          <a:lstStyle/>
          <a:p>
            <a:pPr marL="0" indent="0">
              <a:buNone/>
            </a:pPr>
            <a:r>
              <a:rPr lang="en-US" sz="2000" b="1" dirty="0">
                <a:solidFill>
                  <a:srgbClr val="0F172A"/>
                </a:solidFill>
                <a:latin typeface="Calibri" pitchFamily="34" charset="0"/>
                <a:ea typeface="Calibri" pitchFamily="34" charset="-122"/>
                <a:cs typeface="Calibri" pitchFamily="34" charset="-120"/>
              </a:rPr>
              <a:t>⏳  Historical Replay — Nov 2021 Breach Prediction</a:t>
            </a:r>
            <a:endParaRPr lang="en-US" sz="2000" dirty="0"/>
          </a:p>
        </p:txBody>
      </p:sp>
      <p:sp>
        <p:nvSpPr>
          <p:cNvPr id="5" name="Shape 3"/>
          <p:cNvSpPr/>
          <p:nvPr/>
        </p:nvSpPr>
        <p:spPr>
          <a:xfrm>
            <a:off x="0" y="731520"/>
            <a:ext cx="9144000" cy="256032"/>
          </a:xfrm>
          <a:prstGeom prst="rect">
            <a:avLst/>
          </a:prstGeom>
          <a:solidFill>
            <a:srgbClr val="EFF6FF"/>
          </a:solidFill>
          <a:ln w="12700">
            <a:solidFill>
              <a:srgbClr val="BFDBFE"/>
            </a:solidFill>
            <a:prstDash val="solid"/>
          </a:ln>
        </p:spPr>
        <p:txBody>
          <a:bodyPr/>
          <a:lstStyle/>
          <a:p>
            <a:endParaRPr lang="en-IN"/>
          </a:p>
        </p:txBody>
      </p:sp>
      <p:sp>
        <p:nvSpPr>
          <p:cNvPr id="6" name="Text 4"/>
          <p:cNvSpPr/>
          <p:nvPr/>
        </p:nvSpPr>
        <p:spPr>
          <a:xfrm>
            <a:off x="365760" y="749808"/>
            <a:ext cx="8412480" cy="219456"/>
          </a:xfrm>
          <a:prstGeom prst="rect">
            <a:avLst/>
          </a:prstGeom>
          <a:noFill/>
          <a:ln/>
        </p:spPr>
        <p:txBody>
          <a:bodyPr wrap="square" lIns="0" tIns="0" rIns="0" bIns="0" rtlCol="0" anchor="ctr"/>
          <a:lstStyle/>
          <a:p>
            <a:pPr marL="0" indent="0">
              <a:buNone/>
            </a:pPr>
            <a:r>
              <a:rPr lang="en-US" sz="950" dirty="0">
                <a:solidFill>
                  <a:srgbClr val="0284C7"/>
                </a:solidFill>
                <a:latin typeface="Calibri" pitchFamily="34" charset="0"/>
                <a:ea typeface="Calibri" pitchFamily="34" charset="-122"/>
                <a:cs typeface="Calibri" pitchFamily="34" charset="-120"/>
              </a:rPr>
              <a:t>Retrospective validation: system scores across all 4 critical dates</a:t>
            </a:r>
            <a:endParaRPr lang="en-US" sz="950" dirty="0"/>
          </a:p>
        </p:txBody>
      </p:sp>
      <p:sp>
        <p:nvSpPr>
          <p:cNvPr id="7" name="Shape 5"/>
          <p:cNvSpPr/>
          <p:nvPr/>
        </p:nvSpPr>
        <p:spPr>
          <a:xfrm>
            <a:off x="274320" y="1024128"/>
            <a:ext cx="2011680" cy="932688"/>
          </a:xfrm>
          <a:prstGeom prst="rect">
            <a:avLst/>
          </a:prstGeom>
          <a:solidFill>
            <a:srgbClr val="FFF7ED"/>
          </a:solidFill>
          <a:ln w="12700">
            <a:solidFill>
              <a:srgbClr val="EA580C"/>
            </a:solidFill>
            <a:prstDash val="solid"/>
          </a:ln>
          <a:effectLst>
            <a:outerShdw blurRad="76200" dist="25400" dir="8100000" algn="bl" rotWithShape="0">
              <a:srgbClr val="000000">
                <a:alpha val="10000"/>
              </a:srgbClr>
            </a:outerShdw>
          </a:effectLst>
        </p:spPr>
        <p:txBody>
          <a:bodyPr/>
          <a:lstStyle/>
          <a:p>
            <a:endParaRPr lang="en-IN"/>
          </a:p>
        </p:txBody>
      </p:sp>
      <p:sp>
        <p:nvSpPr>
          <p:cNvPr id="8" name="Text 6"/>
          <p:cNvSpPr/>
          <p:nvPr/>
        </p:nvSpPr>
        <p:spPr>
          <a:xfrm>
            <a:off x="274320" y="1060704"/>
            <a:ext cx="2011680" cy="228600"/>
          </a:xfrm>
          <a:prstGeom prst="rect">
            <a:avLst/>
          </a:prstGeom>
          <a:noFill/>
          <a:ln/>
        </p:spPr>
        <p:txBody>
          <a:bodyPr wrap="square" lIns="0" tIns="0" rIns="0" bIns="0" rtlCol="0" anchor="ctr"/>
          <a:lstStyle/>
          <a:p>
            <a:pPr marL="0" indent="0" algn="ctr">
              <a:buNone/>
            </a:pPr>
            <a:r>
              <a:rPr lang="en-US" sz="950" b="1" dirty="0">
                <a:solidFill>
                  <a:srgbClr val="EA580C"/>
                </a:solidFill>
                <a:latin typeface="Calibri" pitchFamily="34" charset="0"/>
                <a:ea typeface="Calibri" pitchFamily="34" charset="-122"/>
                <a:cs typeface="Calibri" pitchFamily="34" charset="-120"/>
              </a:rPr>
              <a:t>Nov 17 2021</a:t>
            </a:r>
            <a:endParaRPr lang="en-US" sz="950" dirty="0"/>
          </a:p>
        </p:txBody>
      </p:sp>
      <p:sp>
        <p:nvSpPr>
          <p:cNvPr id="9" name="Text 7"/>
          <p:cNvSpPr/>
          <p:nvPr/>
        </p:nvSpPr>
        <p:spPr>
          <a:xfrm>
            <a:off x="274320" y="1280160"/>
            <a:ext cx="2011680" cy="228600"/>
          </a:xfrm>
          <a:prstGeom prst="rect">
            <a:avLst/>
          </a:prstGeom>
          <a:noFill/>
          <a:ln/>
        </p:spPr>
        <p:txBody>
          <a:bodyPr wrap="square" lIns="0" tIns="0" rIns="0" bIns="0" rtlCol="0" anchor="ctr"/>
          <a:lstStyle/>
          <a:p>
            <a:pPr marL="0" indent="0" algn="ctr">
              <a:buNone/>
            </a:pPr>
            <a:r>
              <a:rPr lang="en-US" sz="1000" b="1" dirty="0">
                <a:solidFill>
                  <a:srgbClr val="EA580C"/>
                </a:solidFill>
                <a:latin typeface="Calibri" pitchFamily="34" charset="0"/>
                <a:ea typeface="Calibri" pitchFamily="34" charset="-122"/>
                <a:cs typeface="Calibri" pitchFamily="34" charset="-120"/>
              </a:rPr>
              <a:t>HIGH — 67.9/100</a:t>
            </a:r>
            <a:endParaRPr lang="en-US" sz="1000" dirty="0"/>
          </a:p>
        </p:txBody>
      </p:sp>
      <p:sp>
        <p:nvSpPr>
          <p:cNvPr id="10" name="Text 8"/>
          <p:cNvSpPr/>
          <p:nvPr/>
        </p:nvSpPr>
        <p:spPr>
          <a:xfrm>
            <a:off x="274320" y="1499616"/>
            <a:ext cx="2011680" cy="201168"/>
          </a:xfrm>
          <a:prstGeom prst="rect">
            <a:avLst/>
          </a:prstGeom>
          <a:noFill/>
          <a:ln/>
        </p:spPr>
        <p:txBody>
          <a:bodyPr wrap="square" lIns="0" tIns="0" rIns="0" bIns="0" rtlCol="0" anchor="ctr"/>
          <a:lstStyle/>
          <a:p>
            <a:pPr marL="0" indent="0" algn="ctr">
              <a:buNone/>
            </a:pPr>
            <a:r>
              <a:rPr lang="en-US" sz="850" dirty="0">
                <a:solidFill>
                  <a:srgbClr val="EA580C"/>
                </a:solidFill>
                <a:latin typeface="Calibri" pitchFamily="34" charset="0"/>
                <a:ea typeface="Calibri" pitchFamily="34" charset="-122"/>
                <a:cs typeface="Calibri" pitchFamily="34" charset="-120"/>
              </a:rPr>
              <a:t>TTF: 24–48 hrs</a:t>
            </a:r>
            <a:endParaRPr lang="en-US" sz="850" dirty="0"/>
          </a:p>
        </p:txBody>
      </p:sp>
      <p:sp>
        <p:nvSpPr>
          <p:cNvPr id="11" name="Text 9"/>
          <p:cNvSpPr/>
          <p:nvPr/>
        </p:nvSpPr>
        <p:spPr>
          <a:xfrm>
            <a:off x="2304288" y="1335024"/>
            <a:ext cx="137160" cy="228600"/>
          </a:xfrm>
          <a:prstGeom prst="rect">
            <a:avLst/>
          </a:prstGeom>
          <a:noFill/>
          <a:ln/>
        </p:spPr>
        <p:txBody>
          <a:bodyPr wrap="square" lIns="0" tIns="0" rIns="0" bIns="0"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
        <p:nvSpPr>
          <p:cNvPr id="12" name="Shape 10"/>
          <p:cNvSpPr/>
          <p:nvPr/>
        </p:nvSpPr>
        <p:spPr>
          <a:xfrm>
            <a:off x="274320" y="2011680"/>
            <a:ext cx="2011680" cy="868680"/>
          </a:xfrm>
          <a:prstGeom prst="rect">
            <a:avLst/>
          </a:prstGeom>
          <a:solidFill>
            <a:srgbClr val="FFFFFF"/>
          </a:solidFill>
          <a:ln w="12700">
            <a:solidFill>
              <a:srgbClr val="EA580C"/>
            </a:solidFill>
            <a:prstDash val="solid"/>
          </a:ln>
          <a:effectLst>
            <a:outerShdw blurRad="76200" dist="25400" dir="8100000" algn="bl" rotWithShape="0">
              <a:srgbClr val="000000">
                <a:alpha val="10000"/>
              </a:srgbClr>
            </a:outerShdw>
          </a:effectLst>
        </p:spPr>
        <p:txBody>
          <a:bodyPr/>
          <a:lstStyle/>
          <a:p>
            <a:endParaRPr lang="en-IN"/>
          </a:p>
        </p:txBody>
      </p:sp>
      <p:sp>
        <p:nvSpPr>
          <p:cNvPr id="13" name="Text 11"/>
          <p:cNvSpPr/>
          <p:nvPr/>
        </p:nvSpPr>
        <p:spPr>
          <a:xfrm>
            <a:off x="347472" y="2066544"/>
            <a:ext cx="1901952" cy="749808"/>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Dam backing up: 11,531cs in, 3cs out. Soil 98.9%. Rainfall +380%.</a:t>
            </a:r>
            <a:endParaRPr lang="en-US" sz="900" dirty="0"/>
          </a:p>
        </p:txBody>
      </p:sp>
      <p:sp>
        <p:nvSpPr>
          <p:cNvPr id="14" name="Shape 12"/>
          <p:cNvSpPr/>
          <p:nvPr/>
        </p:nvSpPr>
        <p:spPr>
          <a:xfrm>
            <a:off x="2450592" y="1024128"/>
            <a:ext cx="2011680" cy="932688"/>
          </a:xfrm>
          <a:prstGeom prst="rect">
            <a:avLst/>
          </a:prstGeom>
          <a:solidFill>
            <a:srgbClr val="EF4444"/>
          </a:solidFill>
          <a:ln w="12700">
            <a:solidFill>
              <a:srgbClr val="EF4444"/>
            </a:solidFill>
            <a:prstDash val="solid"/>
          </a:ln>
          <a:effectLst>
            <a:outerShdw blurRad="76200" dist="25400" dir="8100000" algn="bl" rotWithShape="0">
              <a:srgbClr val="000000">
                <a:alpha val="10000"/>
              </a:srgbClr>
            </a:outerShdw>
          </a:effectLst>
        </p:spPr>
        <p:txBody>
          <a:bodyPr/>
          <a:lstStyle/>
          <a:p>
            <a:endParaRPr lang="en-IN"/>
          </a:p>
        </p:txBody>
      </p:sp>
      <p:sp>
        <p:nvSpPr>
          <p:cNvPr id="15" name="Text 13"/>
          <p:cNvSpPr/>
          <p:nvPr/>
        </p:nvSpPr>
        <p:spPr>
          <a:xfrm>
            <a:off x="2450592" y="1060704"/>
            <a:ext cx="2011680" cy="22860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Nov 18 2021</a:t>
            </a:r>
            <a:endParaRPr lang="en-US" sz="950" dirty="0"/>
          </a:p>
        </p:txBody>
      </p:sp>
      <p:sp>
        <p:nvSpPr>
          <p:cNvPr id="16" name="Text 14"/>
          <p:cNvSpPr/>
          <p:nvPr/>
        </p:nvSpPr>
        <p:spPr>
          <a:xfrm>
            <a:off x="2450592" y="1280160"/>
            <a:ext cx="2011680" cy="2286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CRITICAL — 86.4/100</a:t>
            </a:r>
            <a:endParaRPr lang="en-US" sz="1000" dirty="0"/>
          </a:p>
        </p:txBody>
      </p:sp>
      <p:sp>
        <p:nvSpPr>
          <p:cNvPr id="17" name="Text 15"/>
          <p:cNvSpPr/>
          <p:nvPr/>
        </p:nvSpPr>
        <p:spPr>
          <a:xfrm>
            <a:off x="2450592" y="1499616"/>
            <a:ext cx="2011680" cy="201168"/>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TTF: 6–12 hrs</a:t>
            </a:r>
            <a:endParaRPr lang="en-US" sz="850" dirty="0"/>
          </a:p>
        </p:txBody>
      </p:sp>
      <p:sp>
        <p:nvSpPr>
          <p:cNvPr id="18" name="Text 16"/>
          <p:cNvSpPr/>
          <p:nvPr/>
        </p:nvSpPr>
        <p:spPr>
          <a:xfrm>
            <a:off x="4480560" y="1335024"/>
            <a:ext cx="137160" cy="228600"/>
          </a:xfrm>
          <a:prstGeom prst="rect">
            <a:avLst/>
          </a:prstGeom>
          <a:noFill/>
          <a:ln/>
        </p:spPr>
        <p:txBody>
          <a:bodyPr wrap="square" lIns="0" tIns="0" rIns="0" bIns="0"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
        <p:nvSpPr>
          <p:cNvPr id="19" name="Shape 17"/>
          <p:cNvSpPr/>
          <p:nvPr/>
        </p:nvSpPr>
        <p:spPr>
          <a:xfrm>
            <a:off x="2450592" y="2011680"/>
            <a:ext cx="2011680" cy="868680"/>
          </a:xfrm>
          <a:prstGeom prst="rect">
            <a:avLst/>
          </a:prstGeom>
          <a:solidFill>
            <a:srgbClr val="FFFFFF"/>
          </a:solidFill>
          <a:ln w="12700">
            <a:solidFill>
              <a:srgbClr val="EF4444"/>
            </a:solidFill>
            <a:prstDash val="solid"/>
          </a:ln>
          <a:effectLst>
            <a:outerShdw blurRad="76200" dist="25400" dir="8100000" algn="bl" rotWithShape="0">
              <a:srgbClr val="000000">
                <a:alpha val="10000"/>
              </a:srgbClr>
            </a:outerShdw>
          </a:effectLst>
        </p:spPr>
        <p:txBody>
          <a:bodyPr/>
          <a:lstStyle/>
          <a:p>
            <a:endParaRPr lang="en-IN"/>
          </a:p>
        </p:txBody>
      </p:sp>
      <p:sp>
        <p:nvSpPr>
          <p:cNvPr id="20" name="Text 18"/>
          <p:cNvSpPr/>
          <p:nvPr/>
        </p:nvSpPr>
        <p:spPr>
          <a:xfrm>
            <a:off x="2523744" y="2066544"/>
            <a:ext cx="1901952" cy="749808"/>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CASCADE. Pincha +16.6%. All signals simultaneously critical.</a:t>
            </a:r>
            <a:endParaRPr lang="en-US" sz="900" dirty="0"/>
          </a:p>
        </p:txBody>
      </p:sp>
      <p:sp>
        <p:nvSpPr>
          <p:cNvPr id="21" name="Shape 19"/>
          <p:cNvSpPr/>
          <p:nvPr/>
        </p:nvSpPr>
        <p:spPr>
          <a:xfrm>
            <a:off x="4626864" y="1024128"/>
            <a:ext cx="2011680" cy="932688"/>
          </a:xfrm>
          <a:prstGeom prst="rect">
            <a:avLst/>
          </a:prstGeom>
          <a:solidFill>
            <a:srgbClr val="0A1628"/>
          </a:solidFill>
          <a:ln w="12700">
            <a:solidFill>
              <a:srgbClr val="0A1628"/>
            </a:solidFill>
            <a:prstDash val="solid"/>
          </a:ln>
          <a:effectLst>
            <a:outerShdw blurRad="76200" dist="25400" dir="8100000" algn="bl" rotWithShape="0">
              <a:srgbClr val="000000">
                <a:alpha val="10000"/>
              </a:srgbClr>
            </a:outerShdw>
          </a:effectLst>
        </p:spPr>
        <p:txBody>
          <a:bodyPr/>
          <a:lstStyle/>
          <a:p>
            <a:endParaRPr lang="en-IN"/>
          </a:p>
        </p:txBody>
      </p:sp>
      <p:sp>
        <p:nvSpPr>
          <p:cNvPr id="22" name="Text 20"/>
          <p:cNvSpPr/>
          <p:nvPr/>
        </p:nvSpPr>
        <p:spPr>
          <a:xfrm>
            <a:off x="4626864" y="1060704"/>
            <a:ext cx="2011680" cy="22860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Nov 19 2021</a:t>
            </a:r>
            <a:endParaRPr lang="en-US" sz="950" dirty="0"/>
          </a:p>
        </p:txBody>
      </p:sp>
      <p:sp>
        <p:nvSpPr>
          <p:cNvPr id="23" name="Text 21"/>
          <p:cNvSpPr/>
          <p:nvPr/>
        </p:nvSpPr>
        <p:spPr>
          <a:xfrm>
            <a:off x="4626864" y="1280160"/>
            <a:ext cx="2011680" cy="2286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BREACH — 91.2/100</a:t>
            </a:r>
            <a:endParaRPr lang="en-US" sz="1000" dirty="0"/>
          </a:p>
        </p:txBody>
      </p:sp>
      <p:sp>
        <p:nvSpPr>
          <p:cNvPr id="24" name="Text 22"/>
          <p:cNvSpPr/>
          <p:nvPr/>
        </p:nvSpPr>
        <p:spPr>
          <a:xfrm>
            <a:off x="4626864" y="1499616"/>
            <a:ext cx="2011680" cy="201168"/>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TTF: BREACH</a:t>
            </a:r>
            <a:endParaRPr lang="en-US" sz="850" dirty="0"/>
          </a:p>
        </p:txBody>
      </p:sp>
      <p:sp>
        <p:nvSpPr>
          <p:cNvPr id="25" name="Text 23"/>
          <p:cNvSpPr/>
          <p:nvPr/>
        </p:nvSpPr>
        <p:spPr>
          <a:xfrm>
            <a:off x="6656832" y="1335024"/>
            <a:ext cx="137160" cy="228600"/>
          </a:xfrm>
          <a:prstGeom prst="rect">
            <a:avLst/>
          </a:prstGeom>
          <a:noFill/>
          <a:ln/>
        </p:spPr>
        <p:txBody>
          <a:bodyPr wrap="square" lIns="0" tIns="0" rIns="0" bIns="0"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
        <p:nvSpPr>
          <p:cNvPr id="26" name="Shape 24"/>
          <p:cNvSpPr/>
          <p:nvPr/>
        </p:nvSpPr>
        <p:spPr>
          <a:xfrm>
            <a:off x="4626864" y="2011680"/>
            <a:ext cx="2011680" cy="868680"/>
          </a:xfrm>
          <a:prstGeom prst="rect">
            <a:avLst/>
          </a:prstGeom>
          <a:solidFill>
            <a:srgbClr val="FFFFFF"/>
          </a:solidFill>
          <a:ln w="12700">
            <a:solidFill>
              <a:srgbClr val="0A1628"/>
            </a:solidFill>
            <a:prstDash val="solid"/>
          </a:ln>
          <a:effectLst>
            <a:outerShdw blurRad="76200" dist="25400" dir="8100000" algn="bl" rotWithShape="0">
              <a:srgbClr val="000000">
                <a:alpha val="10000"/>
              </a:srgbClr>
            </a:outerShdw>
          </a:effectLst>
        </p:spPr>
        <p:txBody>
          <a:bodyPr/>
          <a:lstStyle/>
          <a:p>
            <a:endParaRPr lang="en-IN"/>
          </a:p>
        </p:txBody>
      </p:sp>
      <p:sp>
        <p:nvSpPr>
          <p:cNvPr id="27" name="Text 25"/>
          <p:cNvSpPr/>
          <p:nvPr/>
        </p:nvSpPr>
        <p:spPr>
          <a:xfrm>
            <a:off x="4700016" y="2066544"/>
            <a:ext cx="1901952" cy="749808"/>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Pincha 1,28,988cs. Annamayya dead. Breach 5:30AM. 33 deaths.</a:t>
            </a:r>
            <a:endParaRPr lang="en-US" sz="900" dirty="0"/>
          </a:p>
        </p:txBody>
      </p:sp>
      <p:sp>
        <p:nvSpPr>
          <p:cNvPr id="28" name="Shape 26"/>
          <p:cNvSpPr/>
          <p:nvPr/>
        </p:nvSpPr>
        <p:spPr>
          <a:xfrm>
            <a:off x="6803136" y="1024128"/>
            <a:ext cx="2011680" cy="932688"/>
          </a:xfrm>
          <a:prstGeom prst="rect">
            <a:avLst/>
          </a:prstGeom>
          <a:solidFill>
            <a:srgbClr val="FFF7ED"/>
          </a:solidFill>
          <a:ln w="12700">
            <a:solidFill>
              <a:srgbClr val="EA580C"/>
            </a:solidFill>
            <a:prstDash val="solid"/>
          </a:ln>
          <a:effectLst>
            <a:outerShdw blurRad="76200" dist="25400" dir="8100000" algn="bl" rotWithShape="0">
              <a:srgbClr val="000000">
                <a:alpha val="10000"/>
              </a:srgbClr>
            </a:outerShdw>
          </a:effectLst>
        </p:spPr>
        <p:txBody>
          <a:bodyPr/>
          <a:lstStyle/>
          <a:p>
            <a:endParaRPr lang="en-IN"/>
          </a:p>
        </p:txBody>
      </p:sp>
      <p:sp>
        <p:nvSpPr>
          <p:cNvPr id="29" name="Text 27"/>
          <p:cNvSpPr/>
          <p:nvPr/>
        </p:nvSpPr>
        <p:spPr>
          <a:xfrm>
            <a:off x="6803136" y="1060704"/>
            <a:ext cx="2011680" cy="228600"/>
          </a:xfrm>
          <a:prstGeom prst="rect">
            <a:avLst/>
          </a:prstGeom>
          <a:noFill/>
          <a:ln/>
        </p:spPr>
        <p:txBody>
          <a:bodyPr wrap="square" lIns="0" tIns="0" rIns="0" bIns="0" rtlCol="0" anchor="ctr"/>
          <a:lstStyle/>
          <a:p>
            <a:pPr marL="0" indent="0" algn="ctr">
              <a:buNone/>
            </a:pPr>
            <a:r>
              <a:rPr lang="en-US" sz="950" b="1" dirty="0">
                <a:solidFill>
                  <a:srgbClr val="EA580C"/>
                </a:solidFill>
                <a:latin typeface="Calibri" pitchFamily="34" charset="0"/>
                <a:ea typeface="Calibri" pitchFamily="34" charset="-122"/>
                <a:cs typeface="Calibri" pitchFamily="34" charset="-120"/>
              </a:rPr>
              <a:t>Nov 20 2021</a:t>
            </a:r>
            <a:endParaRPr lang="en-US" sz="950" dirty="0"/>
          </a:p>
        </p:txBody>
      </p:sp>
      <p:sp>
        <p:nvSpPr>
          <p:cNvPr id="30" name="Text 28"/>
          <p:cNvSpPr/>
          <p:nvPr/>
        </p:nvSpPr>
        <p:spPr>
          <a:xfrm>
            <a:off x="6803136" y="1280160"/>
            <a:ext cx="2011680" cy="228600"/>
          </a:xfrm>
          <a:prstGeom prst="rect">
            <a:avLst/>
          </a:prstGeom>
          <a:noFill/>
          <a:ln/>
        </p:spPr>
        <p:txBody>
          <a:bodyPr wrap="square" lIns="0" tIns="0" rIns="0" bIns="0" rtlCol="0" anchor="ctr"/>
          <a:lstStyle/>
          <a:p>
            <a:pPr marL="0" indent="0" algn="ctr">
              <a:buNone/>
            </a:pPr>
            <a:r>
              <a:rPr lang="en-US" sz="1000" b="1" dirty="0">
                <a:solidFill>
                  <a:srgbClr val="EA580C"/>
                </a:solidFill>
                <a:latin typeface="Calibri" pitchFamily="34" charset="0"/>
                <a:ea typeface="Calibri" pitchFamily="34" charset="-122"/>
                <a:cs typeface="Calibri" pitchFamily="34" charset="-120"/>
              </a:rPr>
              <a:t>HIGH — 66.2/100</a:t>
            </a:r>
            <a:endParaRPr lang="en-US" sz="1000" dirty="0"/>
          </a:p>
        </p:txBody>
      </p:sp>
      <p:sp>
        <p:nvSpPr>
          <p:cNvPr id="31" name="Text 29"/>
          <p:cNvSpPr/>
          <p:nvPr/>
        </p:nvSpPr>
        <p:spPr>
          <a:xfrm>
            <a:off x="6803136" y="1499616"/>
            <a:ext cx="2011680" cy="201168"/>
          </a:xfrm>
          <a:prstGeom prst="rect">
            <a:avLst/>
          </a:prstGeom>
          <a:noFill/>
          <a:ln/>
        </p:spPr>
        <p:txBody>
          <a:bodyPr wrap="square" lIns="0" tIns="0" rIns="0" bIns="0" rtlCol="0" anchor="ctr"/>
          <a:lstStyle/>
          <a:p>
            <a:pPr marL="0" indent="0" algn="ctr">
              <a:buNone/>
            </a:pPr>
            <a:r>
              <a:rPr lang="en-US" sz="850" dirty="0">
                <a:solidFill>
                  <a:srgbClr val="EA580C"/>
                </a:solidFill>
                <a:latin typeface="Calibri" pitchFamily="34" charset="0"/>
                <a:ea typeface="Calibri" pitchFamily="34" charset="-122"/>
                <a:cs typeface="Calibri" pitchFamily="34" charset="-120"/>
              </a:rPr>
              <a:t>TTF: Receding</a:t>
            </a:r>
            <a:endParaRPr lang="en-US" sz="850" dirty="0"/>
          </a:p>
        </p:txBody>
      </p:sp>
      <p:sp>
        <p:nvSpPr>
          <p:cNvPr id="32" name="Shape 30"/>
          <p:cNvSpPr/>
          <p:nvPr/>
        </p:nvSpPr>
        <p:spPr>
          <a:xfrm>
            <a:off x="6803136" y="2011680"/>
            <a:ext cx="2011680" cy="868680"/>
          </a:xfrm>
          <a:prstGeom prst="rect">
            <a:avLst/>
          </a:prstGeom>
          <a:solidFill>
            <a:srgbClr val="FFFFFF"/>
          </a:solidFill>
          <a:ln w="12700">
            <a:solidFill>
              <a:srgbClr val="EA580C"/>
            </a:solidFill>
            <a:prstDash val="solid"/>
          </a:ln>
          <a:effectLst>
            <a:outerShdw blurRad="76200" dist="25400" dir="8100000" algn="bl" rotWithShape="0">
              <a:srgbClr val="000000">
                <a:alpha val="10000"/>
              </a:srgbClr>
            </a:outerShdw>
          </a:effectLst>
        </p:spPr>
        <p:txBody>
          <a:bodyPr/>
          <a:lstStyle/>
          <a:p>
            <a:endParaRPr lang="en-IN"/>
          </a:p>
        </p:txBody>
      </p:sp>
      <p:sp>
        <p:nvSpPr>
          <p:cNvPr id="33" name="Text 31"/>
          <p:cNvSpPr/>
          <p:nvPr/>
        </p:nvSpPr>
        <p:spPr>
          <a:xfrm>
            <a:off x="6876288" y="2066544"/>
            <a:ext cx="1901952" cy="749808"/>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Receding. Somasila received 5,12,303cs. Assessment ongoing.</a:t>
            </a:r>
            <a:endParaRPr lang="en-US" sz="900" dirty="0"/>
          </a:p>
        </p:txBody>
      </p:sp>
      <p:sp>
        <p:nvSpPr>
          <p:cNvPr id="34" name="Shape 32"/>
          <p:cNvSpPr/>
          <p:nvPr/>
        </p:nvSpPr>
        <p:spPr>
          <a:xfrm>
            <a:off x="274320" y="2999232"/>
            <a:ext cx="8595360" cy="36576"/>
          </a:xfrm>
          <a:prstGeom prst="rect">
            <a:avLst/>
          </a:prstGeom>
          <a:solidFill>
            <a:srgbClr val="F59E0B"/>
          </a:solidFill>
          <a:ln w="12700">
            <a:solidFill>
              <a:srgbClr val="F59E0B"/>
            </a:solidFill>
            <a:prstDash val="solid"/>
          </a:ln>
        </p:spPr>
        <p:txBody>
          <a:bodyPr/>
          <a:lstStyle/>
          <a:p>
            <a:endParaRPr lang="en-IN"/>
          </a:p>
        </p:txBody>
      </p:sp>
      <p:sp>
        <p:nvSpPr>
          <p:cNvPr id="35" name="Text 33"/>
          <p:cNvSpPr/>
          <p:nvPr/>
        </p:nvSpPr>
        <p:spPr>
          <a:xfrm>
            <a:off x="274320" y="3072384"/>
            <a:ext cx="8229600" cy="256032"/>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Nov 18 Factor Breakdown — Why CRITICAL (86.4/100):</a:t>
            </a:r>
            <a:endParaRPr lang="en-US" sz="1200" dirty="0"/>
          </a:p>
        </p:txBody>
      </p:sp>
      <p:sp>
        <p:nvSpPr>
          <p:cNvPr id="36" name="Shape 34"/>
          <p:cNvSpPr/>
          <p:nvPr/>
        </p:nvSpPr>
        <p:spPr>
          <a:xfrm>
            <a:off x="274320" y="3383280"/>
            <a:ext cx="8595360" cy="219456"/>
          </a:xfrm>
          <a:prstGeom prst="rect">
            <a:avLst/>
          </a:prstGeom>
          <a:solidFill>
            <a:srgbClr val="FFFFFF"/>
          </a:solidFill>
          <a:ln w="12700">
            <a:solidFill>
              <a:srgbClr val="E2E8F0"/>
            </a:solidFill>
            <a:prstDash val="solid"/>
          </a:ln>
        </p:spPr>
        <p:txBody>
          <a:bodyPr/>
          <a:lstStyle/>
          <a:p>
            <a:endParaRPr lang="en-IN"/>
          </a:p>
        </p:txBody>
      </p:sp>
      <p:sp>
        <p:nvSpPr>
          <p:cNvPr id="37" name="Text 35"/>
          <p:cNvSpPr/>
          <p:nvPr/>
        </p:nvSpPr>
        <p:spPr>
          <a:xfrm>
            <a:off x="365760" y="3401568"/>
            <a:ext cx="2926080" cy="182880"/>
          </a:xfrm>
          <a:prstGeom prst="rect">
            <a:avLst/>
          </a:prstGeom>
          <a:noFill/>
          <a:ln/>
        </p:spPr>
        <p:txBody>
          <a:bodyPr wrap="square" lIns="0" tIns="0" rIns="0" bIns="0" rtlCol="0" anchor="ctr"/>
          <a:lstStyle/>
          <a:p>
            <a:pPr marL="0" indent="0">
              <a:buNone/>
            </a:pPr>
            <a:r>
              <a:rPr lang="en-US" sz="950" dirty="0">
                <a:solidFill>
                  <a:srgbClr val="0F172A"/>
                </a:solidFill>
                <a:latin typeface="Calibri" pitchFamily="34" charset="0"/>
                <a:ea typeface="Calibri" pitchFamily="34" charset="-122"/>
                <a:cs typeface="Calibri" pitchFamily="34" charset="-120"/>
              </a:rPr>
              <a:t>Soil Moisture (100cm)</a:t>
            </a:r>
            <a:endParaRPr lang="en-US" sz="950" dirty="0"/>
          </a:p>
        </p:txBody>
      </p:sp>
      <p:sp>
        <p:nvSpPr>
          <p:cNvPr id="38" name="Shape 36"/>
          <p:cNvSpPr/>
          <p:nvPr/>
        </p:nvSpPr>
        <p:spPr>
          <a:xfrm>
            <a:off x="3337560" y="3429000"/>
            <a:ext cx="4572000" cy="137160"/>
          </a:xfrm>
          <a:prstGeom prst="rect">
            <a:avLst/>
          </a:prstGeom>
          <a:solidFill>
            <a:srgbClr val="E2E8F0"/>
          </a:solidFill>
          <a:ln w="12700">
            <a:solidFill>
              <a:srgbClr val="E2E8F0"/>
            </a:solidFill>
            <a:prstDash val="solid"/>
          </a:ln>
        </p:spPr>
        <p:txBody>
          <a:bodyPr/>
          <a:lstStyle/>
          <a:p>
            <a:endParaRPr lang="en-IN"/>
          </a:p>
        </p:txBody>
      </p:sp>
      <p:sp>
        <p:nvSpPr>
          <p:cNvPr id="39" name="Shape 37"/>
          <p:cNvSpPr/>
          <p:nvPr/>
        </p:nvSpPr>
        <p:spPr>
          <a:xfrm>
            <a:off x="3337560" y="3429000"/>
            <a:ext cx="4572000" cy="137160"/>
          </a:xfrm>
          <a:prstGeom prst="rect">
            <a:avLst/>
          </a:prstGeom>
          <a:solidFill>
            <a:srgbClr val="EF4444"/>
          </a:solidFill>
          <a:ln w="12700">
            <a:solidFill>
              <a:srgbClr val="EF4444"/>
            </a:solidFill>
            <a:prstDash val="solid"/>
          </a:ln>
        </p:spPr>
        <p:txBody>
          <a:bodyPr/>
          <a:lstStyle/>
          <a:p>
            <a:endParaRPr lang="en-IN"/>
          </a:p>
        </p:txBody>
      </p:sp>
      <p:sp>
        <p:nvSpPr>
          <p:cNvPr id="40" name="Text 38"/>
          <p:cNvSpPr/>
          <p:nvPr/>
        </p:nvSpPr>
        <p:spPr>
          <a:xfrm>
            <a:off x="7955280" y="3401568"/>
            <a:ext cx="731520" cy="182880"/>
          </a:xfrm>
          <a:prstGeom prst="rect">
            <a:avLst/>
          </a:prstGeom>
          <a:noFill/>
          <a:ln/>
        </p:spPr>
        <p:txBody>
          <a:bodyPr wrap="square" lIns="0" tIns="0" rIns="0" bIns="0" rtlCol="0" anchor="ctr"/>
          <a:lstStyle/>
          <a:p>
            <a:pPr marL="0" indent="0">
              <a:buNone/>
            </a:pPr>
            <a:r>
              <a:rPr lang="en-US" sz="950" b="1" dirty="0">
                <a:solidFill>
                  <a:srgbClr val="EF4444"/>
                </a:solidFill>
                <a:latin typeface="Calibri" pitchFamily="34" charset="0"/>
                <a:ea typeface="Calibri" pitchFamily="34" charset="-122"/>
                <a:cs typeface="Calibri" pitchFamily="34" charset="-120"/>
              </a:rPr>
              <a:t>25 pts</a:t>
            </a:r>
            <a:endParaRPr lang="en-US" sz="950" dirty="0"/>
          </a:p>
        </p:txBody>
      </p:sp>
      <p:sp>
        <p:nvSpPr>
          <p:cNvPr id="41" name="Shape 39"/>
          <p:cNvSpPr/>
          <p:nvPr/>
        </p:nvSpPr>
        <p:spPr>
          <a:xfrm>
            <a:off x="274320" y="3621024"/>
            <a:ext cx="8595360" cy="219456"/>
          </a:xfrm>
          <a:prstGeom prst="rect">
            <a:avLst/>
          </a:prstGeom>
          <a:solidFill>
            <a:srgbClr val="F8FAFC"/>
          </a:solidFill>
          <a:ln w="12700">
            <a:solidFill>
              <a:srgbClr val="E2E8F0"/>
            </a:solidFill>
            <a:prstDash val="solid"/>
          </a:ln>
        </p:spPr>
        <p:txBody>
          <a:bodyPr/>
          <a:lstStyle/>
          <a:p>
            <a:endParaRPr lang="en-IN"/>
          </a:p>
        </p:txBody>
      </p:sp>
      <p:sp>
        <p:nvSpPr>
          <p:cNvPr id="42" name="Text 40"/>
          <p:cNvSpPr/>
          <p:nvPr/>
        </p:nvSpPr>
        <p:spPr>
          <a:xfrm>
            <a:off x="365760" y="3639312"/>
            <a:ext cx="2926080" cy="182880"/>
          </a:xfrm>
          <a:prstGeom prst="rect">
            <a:avLst/>
          </a:prstGeom>
          <a:noFill/>
          <a:ln/>
        </p:spPr>
        <p:txBody>
          <a:bodyPr wrap="square" lIns="0" tIns="0" rIns="0" bIns="0" rtlCol="0" anchor="ctr"/>
          <a:lstStyle/>
          <a:p>
            <a:pPr marL="0" indent="0">
              <a:buNone/>
            </a:pPr>
            <a:r>
              <a:rPr lang="en-US" sz="950" dirty="0">
                <a:solidFill>
                  <a:srgbClr val="0F172A"/>
                </a:solidFill>
                <a:latin typeface="Calibri" pitchFamily="34" charset="0"/>
                <a:ea typeface="Calibri" pitchFamily="34" charset="-122"/>
                <a:cs typeface="Calibri" pitchFamily="34" charset="-120"/>
              </a:rPr>
              <a:t>Cascade Risk Bonus</a:t>
            </a:r>
            <a:endParaRPr lang="en-US" sz="950" dirty="0"/>
          </a:p>
        </p:txBody>
      </p:sp>
      <p:sp>
        <p:nvSpPr>
          <p:cNvPr id="43" name="Shape 41"/>
          <p:cNvSpPr/>
          <p:nvPr/>
        </p:nvSpPr>
        <p:spPr>
          <a:xfrm>
            <a:off x="3337560" y="3666744"/>
            <a:ext cx="4572000" cy="137160"/>
          </a:xfrm>
          <a:prstGeom prst="rect">
            <a:avLst/>
          </a:prstGeom>
          <a:solidFill>
            <a:srgbClr val="E2E8F0"/>
          </a:solidFill>
          <a:ln w="12700">
            <a:solidFill>
              <a:srgbClr val="E2E8F0"/>
            </a:solidFill>
            <a:prstDash val="solid"/>
          </a:ln>
        </p:spPr>
        <p:txBody>
          <a:bodyPr/>
          <a:lstStyle/>
          <a:p>
            <a:endParaRPr lang="en-IN"/>
          </a:p>
        </p:txBody>
      </p:sp>
      <p:sp>
        <p:nvSpPr>
          <p:cNvPr id="44" name="Shape 42"/>
          <p:cNvSpPr/>
          <p:nvPr/>
        </p:nvSpPr>
        <p:spPr>
          <a:xfrm>
            <a:off x="3337560" y="3666744"/>
            <a:ext cx="3657600" cy="137160"/>
          </a:xfrm>
          <a:prstGeom prst="rect">
            <a:avLst/>
          </a:prstGeom>
          <a:solidFill>
            <a:srgbClr val="EF4444"/>
          </a:solidFill>
          <a:ln w="12700">
            <a:solidFill>
              <a:srgbClr val="EF4444"/>
            </a:solidFill>
            <a:prstDash val="solid"/>
          </a:ln>
        </p:spPr>
        <p:txBody>
          <a:bodyPr/>
          <a:lstStyle/>
          <a:p>
            <a:endParaRPr lang="en-IN"/>
          </a:p>
        </p:txBody>
      </p:sp>
      <p:sp>
        <p:nvSpPr>
          <p:cNvPr id="45" name="Text 43"/>
          <p:cNvSpPr/>
          <p:nvPr/>
        </p:nvSpPr>
        <p:spPr>
          <a:xfrm>
            <a:off x="7955280" y="3639312"/>
            <a:ext cx="731520" cy="182880"/>
          </a:xfrm>
          <a:prstGeom prst="rect">
            <a:avLst/>
          </a:prstGeom>
          <a:noFill/>
          <a:ln/>
        </p:spPr>
        <p:txBody>
          <a:bodyPr wrap="square" lIns="0" tIns="0" rIns="0" bIns="0" rtlCol="0" anchor="ctr"/>
          <a:lstStyle/>
          <a:p>
            <a:pPr marL="0" indent="0">
              <a:buNone/>
            </a:pPr>
            <a:r>
              <a:rPr lang="en-US" sz="950" b="1" dirty="0">
                <a:solidFill>
                  <a:srgbClr val="EF4444"/>
                </a:solidFill>
                <a:latin typeface="Calibri" pitchFamily="34" charset="0"/>
                <a:ea typeface="Calibri" pitchFamily="34" charset="-122"/>
                <a:cs typeface="Calibri" pitchFamily="34" charset="-120"/>
              </a:rPr>
              <a:t>20 pts</a:t>
            </a:r>
            <a:endParaRPr lang="en-US" sz="950" dirty="0"/>
          </a:p>
        </p:txBody>
      </p:sp>
      <p:sp>
        <p:nvSpPr>
          <p:cNvPr id="46" name="Shape 44"/>
          <p:cNvSpPr/>
          <p:nvPr/>
        </p:nvSpPr>
        <p:spPr>
          <a:xfrm>
            <a:off x="274320" y="3858768"/>
            <a:ext cx="8595360" cy="219456"/>
          </a:xfrm>
          <a:prstGeom prst="rect">
            <a:avLst/>
          </a:prstGeom>
          <a:solidFill>
            <a:srgbClr val="FFFFFF"/>
          </a:solidFill>
          <a:ln w="12700">
            <a:solidFill>
              <a:srgbClr val="E2E8F0"/>
            </a:solidFill>
            <a:prstDash val="solid"/>
          </a:ln>
        </p:spPr>
        <p:txBody>
          <a:bodyPr/>
          <a:lstStyle/>
          <a:p>
            <a:endParaRPr lang="en-IN"/>
          </a:p>
        </p:txBody>
      </p:sp>
      <p:sp>
        <p:nvSpPr>
          <p:cNvPr id="47" name="Text 45"/>
          <p:cNvSpPr/>
          <p:nvPr/>
        </p:nvSpPr>
        <p:spPr>
          <a:xfrm>
            <a:off x="365760" y="3877056"/>
            <a:ext cx="2926080" cy="182880"/>
          </a:xfrm>
          <a:prstGeom prst="rect">
            <a:avLst/>
          </a:prstGeom>
          <a:noFill/>
          <a:ln/>
        </p:spPr>
        <p:txBody>
          <a:bodyPr wrap="square" lIns="0" tIns="0" rIns="0" bIns="0" rtlCol="0" anchor="ctr"/>
          <a:lstStyle/>
          <a:p>
            <a:pPr marL="0" indent="0">
              <a:buNone/>
            </a:pPr>
            <a:r>
              <a:rPr lang="en-US" sz="950" dirty="0">
                <a:solidFill>
                  <a:srgbClr val="0F172A"/>
                </a:solidFill>
                <a:latin typeface="Calibri" pitchFamily="34" charset="0"/>
                <a:ea typeface="Calibri" pitchFamily="34" charset="-122"/>
                <a:cs typeface="Calibri" pitchFamily="34" charset="-120"/>
              </a:rPr>
              <a:t>Rainfall Anomaly (+380%)</a:t>
            </a:r>
            <a:endParaRPr lang="en-US" sz="950" dirty="0"/>
          </a:p>
        </p:txBody>
      </p:sp>
      <p:sp>
        <p:nvSpPr>
          <p:cNvPr id="48" name="Shape 46"/>
          <p:cNvSpPr/>
          <p:nvPr/>
        </p:nvSpPr>
        <p:spPr>
          <a:xfrm>
            <a:off x="3337560" y="3904488"/>
            <a:ext cx="4572000" cy="137160"/>
          </a:xfrm>
          <a:prstGeom prst="rect">
            <a:avLst/>
          </a:prstGeom>
          <a:solidFill>
            <a:srgbClr val="E2E8F0"/>
          </a:solidFill>
          <a:ln w="12700">
            <a:solidFill>
              <a:srgbClr val="E2E8F0"/>
            </a:solidFill>
            <a:prstDash val="solid"/>
          </a:ln>
        </p:spPr>
        <p:txBody>
          <a:bodyPr/>
          <a:lstStyle/>
          <a:p>
            <a:endParaRPr lang="en-IN"/>
          </a:p>
        </p:txBody>
      </p:sp>
      <p:sp>
        <p:nvSpPr>
          <p:cNvPr id="49" name="Shape 47"/>
          <p:cNvSpPr/>
          <p:nvPr/>
        </p:nvSpPr>
        <p:spPr>
          <a:xfrm>
            <a:off x="3337560" y="3904488"/>
            <a:ext cx="3511296" cy="137160"/>
          </a:xfrm>
          <a:prstGeom prst="rect">
            <a:avLst/>
          </a:prstGeom>
          <a:solidFill>
            <a:srgbClr val="EA580C"/>
          </a:solidFill>
          <a:ln w="12700">
            <a:solidFill>
              <a:srgbClr val="EA580C"/>
            </a:solidFill>
            <a:prstDash val="solid"/>
          </a:ln>
        </p:spPr>
        <p:txBody>
          <a:bodyPr/>
          <a:lstStyle/>
          <a:p>
            <a:endParaRPr lang="en-IN"/>
          </a:p>
        </p:txBody>
      </p:sp>
      <p:sp>
        <p:nvSpPr>
          <p:cNvPr id="50" name="Text 48"/>
          <p:cNvSpPr/>
          <p:nvPr/>
        </p:nvSpPr>
        <p:spPr>
          <a:xfrm>
            <a:off x="7955280" y="3877056"/>
            <a:ext cx="731520" cy="182880"/>
          </a:xfrm>
          <a:prstGeom prst="rect">
            <a:avLst/>
          </a:prstGeom>
          <a:noFill/>
          <a:ln/>
        </p:spPr>
        <p:txBody>
          <a:bodyPr wrap="square" lIns="0" tIns="0" rIns="0" bIns="0" rtlCol="0" anchor="ctr"/>
          <a:lstStyle/>
          <a:p>
            <a:pPr marL="0" indent="0">
              <a:buNone/>
            </a:pPr>
            <a:r>
              <a:rPr lang="en-US" sz="950" b="1" dirty="0">
                <a:solidFill>
                  <a:srgbClr val="EA580C"/>
                </a:solidFill>
                <a:latin typeface="Calibri" pitchFamily="34" charset="0"/>
                <a:ea typeface="Calibri" pitchFamily="34" charset="-122"/>
                <a:cs typeface="Calibri" pitchFamily="34" charset="-120"/>
              </a:rPr>
              <a:t>19.2 pts</a:t>
            </a:r>
            <a:endParaRPr lang="en-US" sz="950" dirty="0"/>
          </a:p>
        </p:txBody>
      </p:sp>
      <p:sp>
        <p:nvSpPr>
          <p:cNvPr id="51" name="Shape 49"/>
          <p:cNvSpPr/>
          <p:nvPr/>
        </p:nvSpPr>
        <p:spPr>
          <a:xfrm>
            <a:off x="274320" y="4096512"/>
            <a:ext cx="8595360" cy="219456"/>
          </a:xfrm>
          <a:prstGeom prst="rect">
            <a:avLst/>
          </a:prstGeom>
          <a:solidFill>
            <a:srgbClr val="F8FAFC"/>
          </a:solidFill>
          <a:ln w="12700">
            <a:solidFill>
              <a:srgbClr val="E2E8F0"/>
            </a:solidFill>
            <a:prstDash val="solid"/>
          </a:ln>
        </p:spPr>
        <p:txBody>
          <a:bodyPr/>
          <a:lstStyle/>
          <a:p>
            <a:endParaRPr lang="en-IN"/>
          </a:p>
        </p:txBody>
      </p:sp>
      <p:sp>
        <p:nvSpPr>
          <p:cNvPr id="52" name="Text 50"/>
          <p:cNvSpPr/>
          <p:nvPr/>
        </p:nvSpPr>
        <p:spPr>
          <a:xfrm>
            <a:off x="365760" y="4114800"/>
            <a:ext cx="2926080" cy="182880"/>
          </a:xfrm>
          <a:prstGeom prst="rect">
            <a:avLst/>
          </a:prstGeom>
          <a:noFill/>
          <a:ln/>
        </p:spPr>
        <p:txBody>
          <a:bodyPr wrap="square" lIns="0" tIns="0" rIns="0" bIns="0" rtlCol="0" anchor="ctr"/>
          <a:lstStyle/>
          <a:p>
            <a:pPr marL="0" indent="0">
              <a:buNone/>
            </a:pPr>
            <a:r>
              <a:rPr lang="en-US" sz="950" dirty="0">
                <a:solidFill>
                  <a:srgbClr val="0F172A"/>
                </a:solidFill>
                <a:latin typeface="Calibri" pitchFamily="34" charset="0"/>
                <a:ea typeface="Calibri" pitchFamily="34" charset="-122"/>
                <a:cs typeface="Calibri" pitchFamily="34" charset="-120"/>
              </a:rPr>
              <a:t>MI Tank Saturation (83.2%)</a:t>
            </a:r>
            <a:endParaRPr lang="en-US" sz="950" dirty="0"/>
          </a:p>
        </p:txBody>
      </p:sp>
      <p:sp>
        <p:nvSpPr>
          <p:cNvPr id="53" name="Shape 51"/>
          <p:cNvSpPr/>
          <p:nvPr/>
        </p:nvSpPr>
        <p:spPr>
          <a:xfrm>
            <a:off x="3337560" y="4142232"/>
            <a:ext cx="4572000" cy="137160"/>
          </a:xfrm>
          <a:prstGeom prst="rect">
            <a:avLst/>
          </a:prstGeom>
          <a:solidFill>
            <a:srgbClr val="E2E8F0"/>
          </a:solidFill>
          <a:ln w="12700">
            <a:solidFill>
              <a:srgbClr val="E2E8F0"/>
            </a:solidFill>
            <a:prstDash val="solid"/>
          </a:ln>
        </p:spPr>
        <p:txBody>
          <a:bodyPr/>
          <a:lstStyle/>
          <a:p>
            <a:endParaRPr lang="en-IN"/>
          </a:p>
        </p:txBody>
      </p:sp>
      <p:sp>
        <p:nvSpPr>
          <p:cNvPr id="54" name="Shape 52"/>
          <p:cNvSpPr/>
          <p:nvPr/>
        </p:nvSpPr>
        <p:spPr>
          <a:xfrm>
            <a:off x="3337560" y="4142232"/>
            <a:ext cx="2194560" cy="137160"/>
          </a:xfrm>
          <a:prstGeom prst="rect">
            <a:avLst/>
          </a:prstGeom>
          <a:solidFill>
            <a:srgbClr val="F59E0B"/>
          </a:solidFill>
          <a:ln w="12700">
            <a:solidFill>
              <a:srgbClr val="F59E0B"/>
            </a:solidFill>
            <a:prstDash val="solid"/>
          </a:ln>
        </p:spPr>
        <p:txBody>
          <a:bodyPr/>
          <a:lstStyle/>
          <a:p>
            <a:endParaRPr lang="en-IN"/>
          </a:p>
        </p:txBody>
      </p:sp>
      <p:sp>
        <p:nvSpPr>
          <p:cNvPr id="55" name="Text 53"/>
          <p:cNvSpPr/>
          <p:nvPr/>
        </p:nvSpPr>
        <p:spPr>
          <a:xfrm>
            <a:off x="7955280" y="4114800"/>
            <a:ext cx="731520" cy="182880"/>
          </a:xfrm>
          <a:prstGeom prst="rect">
            <a:avLst/>
          </a:prstGeom>
          <a:noFill/>
          <a:ln/>
        </p:spPr>
        <p:txBody>
          <a:bodyPr wrap="square" lIns="0" tIns="0" rIns="0" bIns="0" rtlCol="0" anchor="ctr"/>
          <a:lstStyle/>
          <a:p>
            <a:pPr marL="0" indent="0">
              <a:buNone/>
            </a:pPr>
            <a:r>
              <a:rPr lang="en-US" sz="950" b="1" dirty="0">
                <a:solidFill>
                  <a:srgbClr val="F59E0B"/>
                </a:solidFill>
                <a:latin typeface="Calibri" pitchFamily="34" charset="0"/>
                <a:ea typeface="Calibri" pitchFamily="34" charset="-122"/>
                <a:cs typeface="Calibri" pitchFamily="34" charset="-120"/>
              </a:rPr>
              <a:t>12 pts</a:t>
            </a:r>
            <a:endParaRPr lang="en-US" sz="950" dirty="0"/>
          </a:p>
        </p:txBody>
      </p:sp>
      <p:sp>
        <p:nvSpPr>
          <p:cNvPr id="56" name="Shape 54"/>
          <p:cNvSpPr/>
          <p:nvPr/>
        </p:nvSpPr>
        <p:spPr>
          <a:xfrm>
            <a:off x="274320" y="4334256"/>
            <a:ext cx="8595360" cy="219456"/>
          </a:xfrm>
          <a:prstGeom prst="rect">
            <a:avLst/>
          </a:prstGeom>
          <a:solidFill>
            <a:srgbClr val="FFFFFF"/>
          </a:solidFill>
          <a:ln w="12700">
            <a:solidFill>
              <a:srgbClr val="E2E8F0"/>
            </a:solidFill>
            <a:prstDash val="solid"/>
          </a:ln>
        </p:spPr>
        <p:txBody>
          <a:bodyPr/>
          <a:lstStyle/>
          <a:p>
            <a:endParaRPr lang="en-IN"/>
          </a:p>
        </p:txBody>
      </p:sp>
      <p:sp>
        <p:nvSpPr>
          <p:cNvPr id="57" name="Text 55"/>
          <p:cNvSpPr/>
          <p:nvPr/>
        </p:nvSpPr>
        <p:spPr>
          <a:xfrm>
            <a:off x="365760" y="4352544"/>
            <a:ext cx="2926080" cy="182880"/>
          </a:xfrm>
          <a:prstGeom prst="rect">
            <a:avLst/>
          </a:prstGeom>
          <a:noFill/>
          <a:ln/>
        </p:spPr>
        <p:txBody>
          <a:bodyPr wrap="square" lIns="0" tIns="0" rIns="0" bIns="0" rtlCol="0" anchor="ctr"/>
          <a:lstStyle/>
          <a:p>
            <a:pPr marL="0" indent="0">
              <a:buNone/>
            </a:pPr>
            <a:r>
              <a:rPr lang="en-US" sz="950" dirty="0">
                <a:solidFill>
                  <a:srgbClr val="0F172A"/>
                </a:solidFill>
                <a:latin typeface="Calibri" pitchFamily="34" charset="0"/>
                <a:ea typeface="Calibri" pitchFamily="34" charset="-122"/>
                <a:cs typeface="Calibri" pitchFamily="34" charset="-120"/>
              </a:rPr>
              <a:t>Dam Offline Penalty</a:t>
            </a:r>
            <a:endParaRPr lang="en-US" sz="950" dirty="0"/>
          </a:p>
        </p:txBody>
      </p:sp>
      <p:sp>
        <p:nvSpPr>
          <p:cNvPr id="58" name="Shape 56"/>
          <p:cNvSpPr/>
          <p:nvPr/>
        </p:nvSpPr>
        <p:spPr>
          <a:xfrm>
            <a:off x="3337560" y="4379976"/>
            <a:ext cx="4572000" cy="137160"/>
          </a:xfrm>
          <a:prstGeom prst="rect">
            <a:avLst/>
          </a:prstGeom>
          <a:solidFill>
            <a:srgbClr val="E2E8F0"/>
          </a:solidFill>
          <a:ln w="12700">
            <a:solidFill>
              <a:srgbClr val="E2E8F0"/>
            </a:solidFill>
            <a:prstDash val="solid"/>
          </a:ln>
        </p:spPr>
        <p:txBody>
          <a:bodyPr/>
          <a:lstStyle/>
          <a:p>
            <a:endParaRPr lang="en-IN"/>
          </a:p>
        </p:txBody>
      </p:sp>
      <p:sp>
        <p:nvSpPr>
          <p:cNvPr id="59" name="Shape 57"/>
          <p:cNvSpPr/>
          <p:nvPr/>
        </p:nvSpPr>
        <p:spPr>
          <a:xfrm>
            <a:off x="3337560" y="4379976"/>
            <a:ext cx="914400" cy="137160"/>
          </a:xfrm>
          <a:prstGeom prst="rect">
            <a:avLst/>
          </a:prstGeom>
          <a:solidFill>
            <a:srgbClr val="64748B"/>
          </a:solidFill>
          <a:ln w="12700">
            <a:solidFill>
              <a:srgbClr val="64748B"/>
            </a:solidFill>
            <a:prstDash val="solid"/>
          </a:ln>
        </p:spPr>
        <p:txBody>
          <a:bodyPr/>
          <a:lstStyle/>
          <a:p>
            <a:endParaRPr lang="en-IN"/>
          </a:p>
        </p:txBody>
      </p:sp>
      <p:sp>
        <p:nvSpPr>
          <p:cNvPr id="60" name="Text 58"/>
          <p:cNvSpPr/>
          <p:nvPr/>
        </p:nvSpPr>
        <p:spPr>
          <a:xfrm>
            <a:off x="7955280" y="4352544"/>
            <a:ext cx="731520" cy="182880"/>
          </a:xfrm>
          <a:prstGeom prst="rect">
            <a:avLst/>
          </a:prstGeom>
          <a:noFill/>
          <a:ln/>
        </p:spPr>
        <p:txBody>
          <a:bodyPr wrap="square" lIns="0" tIns="0" rIns="0" bIns="0" rtlCol="0" anchor="ctr"/>
          <a:lstStyle/>
          <a:p>
            <a:pPr marL="0" indent="0">
              <a:buNone/>
            </a:pPr>
            <a:r>
              <a:rPr lang="en-US" sz="950" b="1" dirty="0">
                <a:solidFill>
                  <a:srgbClr val="64748B"/>
                </a:solidFill>
                <a:latin typeface="Calibri" pitchFamily="34" charset="0"/>
                <a:ea typeface="Calibri" pitchFamily="34" charset="-122"/>
                <a:cs typeface="Calibri" pitchFamily="34" charset="-120"/>
              </a:rPr>
              <a:t>5 pts</a:t>
            </a:r>
            <a:endParaRPr lang="en-US" sz="950" dirty="0"/>
          </a:p>
        </p:txBody>
      </p:sp>
      <p:sp>
        <p:nvSpPr>
          <p:cNvPr id="61" name="Shape 59"/>
          <p:cNvSpPr/>
          <p:nvPr/>
        </p:nvSpPr>
        <p:spPr>
          <a:xfrm>
            <a:off x="274320" y="4572000"/>
            <a:ext cx="8595360" cy="219456"/>
          </a:xfrm>
          <a:prstGeom prst="rect">
            <a:avLst/>
          </a:prstGeom>
          <a:solidFill>
            <a:srgbClr val="F8FAFC"/>
          </a:solidFill>
          <a:ln w="12700">
            <a:solidFill>
              <a:srgbClr val="E2E8F0"/>
            </a:solidFill>
            <a:prstDash val="solid"/>
          </a:ln>
        </p:spPr>
        <p:txBody>
          <a:bodyPr/>
          <a:lstStyle/>
          <a:p>
            <a:endParaRPr lang="en-IN"/>
          </a:p>
        </p:txBody>
      </p:sp>
      <p:sp>
        <p:nvSpPr>
          <p:cNvPr id="62" name="Text 60"/>
          <p:cNvSpPr/>
          <p:nvPr/>
        </p:nvSpPr>
        <p:spPr>
          <a:xfrm>
            <a:off x="365760" y="4590288"/>
            <a:ext cx="2926080" cy="182880"/>
          </a:xfrm>
          <a:prstGeom prst="rect">
            <a:avLst/>
          </a:prstGeom>
          <a:noFill/>
          <a:ln/>
        </p:spPr>
        <p:txBody>
          <a:bodyPr wrap="square" lIns="0" tIns="0" rIns="0" bIns="0" rtlCol="0" anchor="ctr"/>
          <a:lstStyle/>
          <a:p>
            <a:pPr marL="0" indent="0">
              <a:buNone/>
            </a:pPr>
            <a:r>
              <a:rPr lang="en-US" sz="950" dirty="0">
                <a:solidFill>
                  <a:srgbClr val="0F172A"/>
                </a:solidFill>
                <a:latin typeface="Calibri" pitchFamily="34" charset="0"/>
                <a:ea typeface="Calibri" pitchFamily="34" charset="-122"/>
                <a:cs typeface="Calibri" pitchFamily="34" charset="-120"/>
              </a:rPr>
              <a:t>Inflow Surge Rate (+16.6%)</a:t>
            </a:r>
            <a:endParaRPr lang="en-US" sz="950" dirty="0"/>
          </a:p>
        </p:txBody>
      </p:sp>
      <p:sp>
        <p:nvSpPr>
          <p:cNvPr id="63" name="Shape 61"/>
          <p:cNvSpPr/>
          <p:nvPr/>
        </p:nvSpPr>
        <p:spPr>
          <a:xfrm>
            <a:off x="3337560" y="4617720"/>
            <a:ext cx="4572000" cy="137160"/>
          </a:xfrm>
          <a:prstGeom prst="rect">
            <a:avLst/>
          </a:prstGeom>
          <a:solidFill>
            <a:srgbClr val="E2E8F0"/>
          </a:solidFill>
          <a:ln w="12700">
            <a:solidFill>
              <a:srgbClr val="E2E8F0"/>
            </a:solidFill>
            <a:prstDash val="solid"/>
          </a:ln>
        </p:spPr>
        <p:txBody>
          <a:bodyPr/>
          <a:lstStyle/>
          <a:p>
            <a:endParaRPr lang="en-IN"/>
          </a:p>
        </p:txBody>
      </p:sp>
      <p:sp>
        <p:nvSpPr>
          <p:cNvPr id="64" name="Shape 62"/>
          <p:cNvSpPr/>
          <p:nvPr/>
        </p:nvSpPr>
        <p:spPr>
          <a:xfrm>
            <a:off x="3337560" y="4617720"/>
            <a:ext cx="768096" cy="137160"/>
          </a:xfrm>
          <a:prstGeom prst="rect">
            <a:avLst/>
          </a:prstGeom>
          <a:solidFill>
            <a:srgbClr val="F59E0B"/>
          </a:solidFill>
          <a:ln w="12700">
            <a:solidFill>
              <a:srgbClr val="F59E0B"/>
            </a:solidFill>
            <a:prstDash val="solid"/>
          </a:ln>
        </p:spPr>
        <p:txBody>
          <a:bodyPr/>
          <a:lstStyle/>
          <a:p>
            <a:endParaRPr lang="en-IN"/>
          </a:p>
        </p:txBody>
      </p:sp>
      <p:sp>
        <p:nvSpPr>
          <p:cNvPr id="65" name="Text 63"/>
          <p:cNvSpPr/>
          <p:nvPr/>
        </p:nvSpPr>
        <p:spPr>
          <a:xfrm>
            <a:off x="7955280" y="4590288"/>
            <a:ext cx="731520" cy="182880"/>
          </a:xfrm>
          <a:prstGeom prst="rect">
            <a:avLst/>
          </a:prstGeom>
          <a:noFill/>
          <a:ln/>
        </p:spPr>
        <p:txBody>
          <a:bodyPr wrap="square" lIns="0" tIns="0" rIns="0" bIns="0" rtlCol="0" anchor="ctr"/>
          <a:lstStyle/>
          <a:p>
            <a:pPr marL="0" indent="0">
              <a:buNone/>
            </a:pPr>
            <a:r>
              <a:rPr lang="en-US" sz="950" b="1" dirty="0">
                <a:solidFill>
                  <a:srgbClr val="F59E0B"/>
                </a:solidFill>
                <a:latin typeface="Calibri" pitchFamily="34" charset="0"/>
                <a:ea typeface="Calibri" pitchFamily="34" charset="-122"/>
                <a:cs typeface="Calibri" pitchFamily="34" charset="-120"/>
              </a:rPr>
              <a:t>4.2 pts</a:t>
            </a:r>
            <a:endParaRPr lang="en-US" sz="950" dirty="0"/>
          </a:p>
        </p:txBody>
      </p:sp>
      <p:sp>
        <p:nvSpPr>
          <p:cNvPr id="66" name="Text 64"/>
          <p:cNvSpPr/>
          <p:nvPr/>
        </p:nvSpPr>
        <p:spPr>
          <a:xfrm>
            <a:off x="5669280" y="4645152"/>
            <a:ext cx="3108960" cy="182880"/>
          </a:xfrm>
          <a:prstGeom prst="rect">
            <a:avLst/>
          </a:prstGeom>
          <a:noFill/>
          <a:ln/>
        </p:spPr>
        <p:txBody>
          <a:bodyPr wrap="square" lIns="0" tIns="0" rIns="0" bIns="0" rtlCol="0" anchor="ctr"/>
          <a:lstStyle/>
          <a:p>
            <a:pPr marL="0" indent="0" algn="r">
              <a:buNone/>
            </a:pPr>
            <a:r>
              <a:rPr lang="en-US" sz="1100" b="1" dirty="0">
                <a:solidFill>
                  <a:srgbClr val="EF4444"/>
                </a:solidFill>
                <a:latin typeface="Calibri" pitchFamily="34" charset="0"/>
                <a:ea typeface="Calibri" pitchFamily="34" charset="-122"/>
                <a:cs typeface="Calibri" pitchFamily="34" charset="-120"/>
              </a:rPr>
              <a:t>TOTAL: 86.4 / 100 — CRITICAL  🚨</a:t>
            </a:r>
            <a:endParaRPr lang="en-US" sz="1100" dirty="0"/>
          </a:p>
        </p:txBody>
      </p:sp>
      <p:sp>
        <p:nvSpPr>
          <p:cNvPr id="67" name="Shape 65"/>
          <p:cNvSpPr/>
          <p:nvPr/>
        </p:nvSpPr>
        <p:spPr>
          <a:xfrm>
            <a:off x="0" y="4818888"/>
            <a:ext cx="9144000" cy="324612"/>
          </a:xfrm>
          <a:prstGeom prst="rect">
            <a:avLst/>
          </a:prstGeom>
          <a:solidFill>
            <a:srgbClr val="E2E8F0"/>
          </a:solidFill>
          <a:ln w="12700">
            <a:solidFill>
              <a:srgbClr val="E2E8F0"/>
            </a:solidFill>
            <a:prstDash val="solid"/>
          </a:ln>
        </p:spPr>
        <p:txBody>
          <a:bodyPr/>
          <a:lstStyle/>
          <a:p>
            <a:endParaRPr lang="en-IN"/>
          </a:p>
        </p:txBody>
      </p:sp>
      <p:sp>
        <p:nvSpPr>
          <p:cNvPr id="68" name="Text 66"/>
          <p:cNvSpPr/>
          <p:nvPr/>
        </p:nvSpPr>
        <p:spPr>
          <a:xfrm>
            <a:off x="274320" y="4837176"/>
            <a:ext cx="7772400" cy="27432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AP-Wrims Early Warning System  |  HierachAI Technologies Pvt. Ltd.  |  DPIIT Recognised · Women-Led · Andhra Pradesh</a:t>
            </a:r>
            <a:endParaRPr lang="en-US" sz="800" dirty="0"/>
          </a:p>
        </p:txBody>
      </p:sp>
      <p:sp>
        <p:nvSpPr>
          <p:cNvPr id="69" name="Text 67"/>
          <p:cNvSpPr/>
          <p:nvPr/>
        </p:nvSpPr>
        <p:spPr>
          <a:xfrm>
            <a:off x="8046720" y="4837176"/>
            <a:ext cx="914400" cy="274320"/>
          </a:xfrm>
          <a:prstGeom prst="rect">
            <a:avLst/>
          </a:prstGeom>
          <a:noFill/>
          <a:ln/>
        </p:spPr>
        <p:txBody>
          <a:bodyPr wrap="square" lIns="0" tIns="0" rIns="0" bIns="0" rtlCol="0" anchor="ctr"/>
          <a:lstStyle/>
          <a:p>
            <a:pPr marL="0" indent="0" algn="r">
              <a:buNone/>
            </a:pPr>
            <a:r>
              <a:rPr lang="en-US" sz="800" dirty="0">
                <a:solidFill>
                  <a:srgbClr val="1E3A5F"/>
                </a:solidFill>
                <a:latin typeface="Calibri" pitchFamily="34" charset="0"/>
                <a:ea typeface="Calibri" pitchFamily="34" charset="-122"/>
                <a:cs typeface="Calibri" pitchFamily="34" charset="-120"/>
              </a:rPr>
              <a:t>8 / 16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F1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w="12700">
            <a:solidFill>
              <a:srgbClr val="0EA5E9"/>
            </a:solidFill>
            <a:prstDash val="solid"/>
          </a:ln>
        </p:spPr>
        <p:txBody>
          <a:bodyPr/>
          <a:lstStyle/>
          <a:p>
            <a:endParaRPr lang="en-IN"/>
          </a:p>
        </p:txBody>
      </p:sp>
      <p:sp>
        <p:nvSpPr>
          <p:cNvPr id="3" name="Text 1"/>
          <p:cNvSpPr/>
          <p:nvPr/>
        </p:nvSpPr>
        <p:spPr>
          <a:xfrm>
            <a:off x="365760" y="128016"/>
            <a:ext cx="8412480" cy="32004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  Sentinel-1 SAR — Actual Flood Extent Detected</a:t>
            </a:r>
            <a:endParaRPr lang="en-US" sz="1800" dirty="0"/>
          </a:p>
        </p:txBody>
      </p:sp>
      <p:sp>
        <p:nvSpPr>
          <p:cNvPr id="4" name="Text 2"/>
          <p:cNvSpPr/>
          <p:nvPr/>
        </p:nvSpPr>
        <p:spPr>
          <a:xfrm>
            <a:off x="365760" y="457200"/>
            <a:ext cx="8412480" cy="219456"/>
          </a:xfrm>
          <a:prstGeom prst="rect">
            <a:avLst/>
          </a:prstGeom>
          <a:noFill/>
          <a:ln/>
        </p:spPr>
        <p:txBody>
          <a:bodyPr wrap="square" lIns="0" tIns="0" rIns="0" bIns="0" rtlCol="0" anchor="ctr"/>
          <a:lstStyle/>
          <a:p>
            <a:pPr marL="0" indent="0">
              <a:buNone/>
            </a:pPr>
            <a:r>
              <a:rPr lang="en-US" sz="950" dirty="0">
                <a:solidFill>
                  <a:srgbClr val="0EA5E9"/>
                </a:solidFill>
                <a:latin typeface="Calibri" pitchFamily="34" charset="0"/>
                <a:ea typeface="Calibri" pitchFamily="34" charset="-122"/>
                <a:cs typeface="Calibri" pitchFamily="34" charset="-120"/>
              </a:rPr>
              <a:t>Real satellite radar data confirming the Nov 2021 Annamayya breach · ESA Copernicus · Google Earth Engine</a:t>
            </a:r>
            <a:endParaRPr lang="en-US" sz="950" dirty="0"/>
          </a:p>
        </p:txBody>
      </p:sp>
      <p:sp>
        <p:nvSpPr>
          <p:cNvPr id="5" name="Shape 3"/>
          <p:cNvSpPr/>
          <p:nvPr/>
        </p:nvSpPr>
        <p:spPr>
          <a:xfrm>
            <a:off x="274320" y="777240"/>
            <a:ext cx="6217920" cy="3931920"/>
          </a:xfrm>
          <a:prstGeom prst="rect">
            <a:avLst/>
          </a:prstGeom>
          <a:solidFill>
            <a:srgbClr val="111827"/>
          </a:solidFill>
          <a:ln w="12700">
            <a:solidFill>
              <a:srgbClr val="0EA5E9"/>
            </a:solidFill>
            <a:prstDash val="solid"/>
          </a:ln>
        </p:spPr>
        <p:txBody>
          <a:bodyPr/>
          <a:lstStyle/>
          <a:p>
            <a:endParaRPr lang="en-IN"/>
          </a:p>
        </p:txBody>
      </p:sp>
      <p:sp>
        <p:nvSpPr>
          <p:cNvPr id="6" name="Text 4"/>
          <p:cNvSpPr/>
          <p:nvPr/>
        </p:nvSpPr>
        <p:spPr>
          <a:xfrm>
            <a:off x="457200" y="1371600"/>
            <a:ext cx="5852160" cy="3108960"/>
          </a:xfrm>
          <a:prstGeom prst="rect">
            <a:avLst/>
          </a:prstGeom>
          <a:noFill/>
          <a:ln/>
        </p:spPr>
        <p:txBody>
          <a:bodyPr wrap="square" lIns="0" tIns="0" rIns="0" bIns="0" rtlCol="0" anchor="ctr"/>
          <a:lstStyle/>
          <a:p>
            <a:pPr marL="0" indent="0" algn="ctr">
              <a:buNone/>
            </a:pPr>
            <a:r>
              <a:rPr lang="en-US" sz="1100" dirty="0">
                <a:solidFill>
                  <a:srgbClr val="0EA5E9"/>
                </a:solidFill>
                <a:latin typeface="Calibri" pitchFamily="34" charset="0"/>
                <a:ea typeface="Calibri" pitchFamily="34" charset="-122"/>
                <a:cs typeface="Calibri" pitchFamily="34" charset="-120"/>
              </a:rPr>
              <a:t>🛰️</a:t>
            </a:r>
            <a:endParaRPr lang="en-US" sz="1100" dirty="0"/>
          </a:p>
          <a:p>
            <a:pPr marL="0" indent="0" algn="ctr">
              <a:buNone/>
            </a:pPr>
            <a:r>
              <a:rPr lang="en-US" sz="1100" dirty="0">
                <a:solidFill>
                  <a:srgbClr val="0EA5E9"/>
                </a:solidFill>
                <a:latin typeface="Calibri" pitchFamily="34" charset="0"/>
                <a:ea typeface="Calibri" pitchFamily="34" charset="-122"/>
                <a:cs typeface="Calibri" pitchFamily="34" charset="-120"/>
              </a:rPr>
              <a:t>SENTINEL-1 SAR FLOOD MAP</a:t>
            </a:r>
            <a:endParaRPr lang="en-US" sz="1100" dirty="0"/>
          </a:p>
          <a:p>
            <a:pPr marL="0" indent="0" algn="ctr">
              <a:buNone/>
            </a:pPr>
            <a:endParaRPr lang="en-US" sz="1100" dirty="0"/>
          </a:p>
          <a:p>
            <a:pPr marL="0" indent="0" algn="ctr">
              <a:buNone/>
            </a:pPr>
            <a:r>
              <a:rPr lang="en-US" sz="1100" dirty="0">
                <a:solidFill>
                  <a:srgbClr val="0EA5E9"/>
                </a:solidFill>
                <a:latin typeface="Calibri" pitchFamily="34" charset="0"/>
                <a:ea typeface="Calibri" pitchFamily="34" charset="-122"/>
                <a:cs typeface="Calibri" pitchFamily="34" charset="-120"/>
              </a:rPr>
              <a:t>Nov 19–25, 2021</a:t>
            </a:r>
            <a:endParaRPr lang="en-US" sz="1100" dirty="0"/>
          </a:p>
          <a:p>
            <a:pPr marL="0" indent="0" algn="ctr">
              <a:buNone/>
            </a:pPr>
            <a:r>
              <a:rPr lang="en-US" sz="1100" dirty="0">
                <a:solidFill>
                  <a:srgbClr val="0EA5E9"/>
                </a:solidFill>
                <a:latin typeface="Calibri" pitchFamily="34" charset="0"/>
                <a:ea typeface="Calibri" pitchFamily="34" charset="-122"/>
                <a:cs typeface="Calibri" pitchFamily="34" charset="-120"/>
              </a:rPr>
              <a:t>Annamayya Dam Catchment</a:t>
            </a:r>
            <a:endParaRPr lang="en-US" sz="1100" dirty="0"/>
          </a:p>
          <a:p>
            <a:pPr marL="0" indent="0" algn="ctr">
              <a:buNone/>
            </a:pPr>
            <a:r>
              <a:rPr lang="en-US" sz="1100" dirty="0">
                <a:solidFill>
                  <a:srgbClr val="0EA5E9"/>
                </a:solidFill>
                <a:latin typeface="Calibri" pitchFamily="34" charset="0"/>
                <a:ea typeface="Calibri" pitchFamily="34" charset="-122"/>
                <a:cs typeface="Calibri" pitchFamily="34" charset="-120"/>
              </a:rPr>
              <a:t>Cheyyeru River Basin</a:t>
            </a:r>
            <a:endParaRPr lang="en-US" sz="1100" dirty="0"/>
          </a:p>
          <a:p>
            <a:pPr marL="0" indent="0" algn="ctr">
              <a:buNone/>
            </a:pPr>
            <a:endParaRPr lang="en-US" sz="1100" dirty="0"/>
          </a:p>
          <a:p>
            <a:pPr marL="0" indent="0" algn="ctr">
              <a:buNone/>
            </a:pPr>
            <a:r>
              <a:rPr lang="en-US" sz="1100" dirty="0">
                <a:solidFill>
                  <a:srgbClr val="0EA5E9"/>
                </a:solidFill>
                <a:latin typeface="Calibri" pitchFamily="34" charset="0"/>
                <a:ea typeface="Calibri" pitchFamily="34" charset="-122"/>
                <a:cs typeface="Calibri" pitchFamily="34" charset="-120"/>
              </a:rPr>
              <a:t>Blue = SAR-detected flood water</a:t>
            </a:r>
            <a:endParaRPr lang="en-US" sz="1100" dirty="0"/>
          </a:p>
          <a:p>
            <a:pPr marL="0" indent="0" algn="ctr">
              <a:buNone/>
            </a:pPr>
            <a:endParaRPr lang="en-US" sz="1100" dirty="0"/>
          </a:p>
          <a:p>
            <a:pPr marL="0" indent="0" algn="ctr">
              <a:buNone/>
            </a:pPr>
            <a:r>
              <a:rPr lang="en-US" sz="1100" dirty="0">
                <a:solidFill>
                  <a:srgbClr val="0EA5E9"/>
                </a:solidFill>
                <a:latin typeface="Calibri" pitchFamily="34" charset="0"/>
                <a:ea typeface="Calibri" pitchFamily="34" charset="-122"/>
                <a:cs typeface="Calibri" pitchFamily="34" charset="-120"/>
              </a:rPr>
              <a:t>[ Insert flood_map_nov2021.png</a:t>
            </a:r>
            <a:endParaRPr lang="en-US" sz="1100" dirty="0"/>
          </a:p>
          <a:p>
            <a:pPr marL="0" indent="0" algn="ctr">
              <a:buNone/>
            </a:pPr>
            <a:r>
              <a:rPr lang="en-US" sz="1100" dirty="0">
                <a:solidFill>
                  <a:srgbClr val="0EA5E9"/>
                </a:solidFill>
                <a:latin typeface="Calibri" pitchFamily="34" charset="0"/>
                <a:ea typeface="Calibri" pitchFamily="34" charset="-122"/>
                <a:cs typeface="Calibri" pitchFamily="34" charset="-120"/>
              </a:rPr>
              <a:t>from your project data folder ]</a:t>
            </a:r>
            <a:endParaRPr lang="en-US" sz="1100" dirty="0"/>
          </a:p>
        </p:txBody>
      </p:sp>
      <p:sp>
        <p:nvSpPr>
          <p:cNvPr id="7" name="Shape 5"/>
          <p:cNvSpPr/>
          <p:nvPr/>
        </p:nvSpPr>
        <p:spPr>
          <a:xfrm>
            <a:off x="6675120" y="822960"/>
            <a:ext cx="2194560" cy="841248"/>
          </a:xfrm>
          <a:prstGeom prst="rect">
            <a:avLst/>
          </a:prstGeom>
          <a:solidFill>
            <a:srgbClr val="111827"/>
          </a:solidFill>
          <a:ln w="12700">
            <a:solidFill>
              <a:srgbClr val="EF4444"/>
            </a:solidFill>
            <a:prstDash val="solid"/>
          </a:ln>
        </p:spPr>
        <p:txBody>
          <a:bodyPr/>
          <a:lstStyle/>
          <a:p>
            <a:endParaRPr lang="en-IN"/>
          </a:p>
        </p:txBody>
      </p:sp>
      <p:sp>
        <p:nvSpPr>
          <p:cNvPr id="8" name="Text 6"/>
          <p:cNvSpPr/>
          <p:nvPr/>
        </p:nvSpPr>
        <p:spPr>
          <a:xfrm>
            <a:off x="6675120" y="868680"/>
            <a:ext cx="2194560" cy="438912"/>
          </a:xfrm>
          <a:prstGeom prst="rect">
            <a:avLst/>
          </a:prstGeom>
          <a:noFill/>
          <a:ln/>
        </p:spPr>
        <p:txBody>
          <a:bodyPr wrap="square" lIns="0" tIns="0" rIns="0" bIns="0" rtlCol="0" anchor="ctr"/>
          <a:lstStyle/>
          <a:p>
            <a:pPr marL="0" indent="0" algn="ctr">
              <a:buNone/>
            </a:pPr>
            <a:r>
              <a:rPr lang="en-US" sz="2600" b="1" dirty="0">
                <a:solidFill>
                  <a:srgbClr val="EF4444"/>
                </a:solidFill>
                <a:latin typeface="Calibri" pitchFamily="34" charset="0"/>
                <a:ea typeface="Calibri" pitchFamily="34" charset="-122"/>
                <a:cs typeface="Calibri" pitchFamily="34" charset="-120"/>
              </a:rPr>
              <a:t>27.24</a:t>
            </a:r>
            <a:endParaRPr lang="en-US" sz="2600" dirty="0"/>
          </a:p>
        </p:txBody>
      </p:sp>
      <p:sp>
        <p:nvSpPr>
          <p:cNvPr id="9" name="Text 7"/>
          <p:cNvSpPr/>
          <p:nvPr/>
        </p:nvSpPr>
        <p:spPr>
          <a:xfrm>
            <a:off x="6675120" y="1335024"/>
            <a:ext cx="2194560" cy="256032"/>
          </a:xfrm>
          <a:prstGeom prst="rect">
            <a:avLst/>
          </a:prstGeom>
          <a:noFill/>
          <a:ln/>
        </p:spPr>
        <p:txBody>
          <a:bodyPr wrap="square" lIns="0" tIns="0" rIns="0" bIns="0" rtlCol="0" anchor="ctr"/>
          <a:lstStyle/>
          <a:p>
            <a:pPr marL="0" indent="0" algn="ctr">
              <a:buNone/>
            </a:pPr>
            <a:r>
              <a:rPr lang="en-US" sz="900" dirty="0">
                <a:solidFill>
                  <a:srgbClr val="CBD5E1"/>
                </a:solidFill>
                <a:latin typeface="Calibri" pitchFamily="34" charset="0"/>
                <a:ea typeface="Calibri" pitchFamily="34" charset="-122"/>
                <a:cs typeface="Calibri" pitchFamily="34" charset="-120"/>
              </a:rPr>
              <a:t>sq km flooded</a:t>
            </a:r>
            <a:endParaRPr lang="en-US" sz="900" dirty="0"/>
          </a:p>
        </p:txBody>
      </p:sp>
      <p:sp>
        <p:nvSpPr>
          <p:cNvPr id="10" name="Shape 8"/>
          <p:cNvSpPr/>
          <p:nvPr/>
        </p:nvSpPr>
        <p:spPr>
          <a:xfrm>
            <a:off x="6675120" y="1783080"/>
            <a:ext cx="2194560" cy="841248"/>
          </a:xfrm>
          <a:prstGeom prst="rect">
            <a:avLst/>
          </a:prstGeom>
          <a:solidFill>
            <a:srgbClr val="111827"/>
          </a:solidFill>
          <a:ln w="12700">
            <a:solidFill>
              <a:srgbClr val="22C55E"/>
            </a:solidFill>
            <a:prstDash val="solid"/>
          </a:ln>
        </p:spPr>
        <p:txBody>
          <a:bodyPr/>
          <a:lstStyle/>
          <a:p>
            <a:endParaRPr lang="en-IN"/>
          </a:p>
        </p:txBody>
      </p:sp>
      <p:sp>
        <p:nvSpPr>
          <p:cNvPr id="11" name="Text 9"/>
          <p:cNvSpPr/>
          <p:nvPr/>
        </p:nvSpPr>
        <p:spPr>
          <a:xfrm>
            <a:off x="6675120" y="1828800"/>
            <a:ext cx="2194560" cy="438912"/>
          </a:xfrm>
          <a:prstGeom prst="rect">
            <a:avLst/>
          </a:prstGeom>
          <a:noFill/>
          <a:ln/>
        </p:spPr>
        <p:txBody>
          <a:bodyPr wrap="square" lIns="0" tIns="0" rIns="0" bIns="0" rtlCol="0" anchor="ctr"/>
          <a:lstStyle/>
          <a:p>
            <a:pPr marL="0" indent="0" algn="ctr">
              <a:buNone/>
            </a:pPr>
            <a:r>
              <a:rPr lang="en-US" sz="2600" b="1" dirty="0">
                <a:solidFill>
                  <a:srgbClr val="22C55E"/>
                </a:solidFill>
                <a:latin typeface="Calibri" pitchFamily="34" charset="0"/>
                <a:ea typeface="Calibri" pitchFamily="34" charset="-122"/>
                <a:cs typeface="Calibri" pitchFamily="34" charset="-120"/>
              </a:rPr>
              <a:t>₹0</a:t>
            </a:r>
            <a:endParaRPr lang="en-US" sz="2600" dirty="0"/>
          </a:p>
        </p:txBody>
      </p:sp>
      <p:sp>
        <p:nvSpPr>
          <p:cNvPr id="12" name="Text 10"/>
          <p:cNvSpPr/>
          <p:nvPr/>
        </p:nvSpPr>
        <p:spPr>
          <a:xfrm>
            <a:off x="6675120" y="2295144"/>
            <a:ext cx="2194560" cy="256032"/>
          </a:xfrm>
          <a:prstGeom prst="rect">
            <a:avLst/>
          </a:prstGeom>
          <a:noFill/>
          <a:ln/>
        </p:spPr>
        <p:txBody>
          <a:bodyPr wrap="square" lIns="0" tIns="0" rIns="0" bIns="0" rtlCol="0" anchor="ctr"/>
          <a:lstStyle/>
          <a:p>
            <a:pPr marL="0" indent="0" algn="ctr">
              <a:buNone/>
            </a:pPr>
            <a:r>
              <a:rPr lang="en-US" sz="900" dirty="0">
                <a:solidFill>
                  <a:srgbClr val="CBD5E1"/>
                </a:solidFill>
                <a:latin typeface="Calibri" pitchFamily="34" charset="0"/>
                <a:ea typeface="Calibri" pitchFamily="34" charset="-122"/>
                <a:cs typeface="Calibri" pitchFamily="34" charset="-120"/>
              </a:rPr>
              <a:t>Satellite cost (ESA)</a:t>
            </a:r>
            <a:endParaRPr lang="en-US" sz="900" dirty="0"/>
          </a:p>
        </p:txBody>
      </p:sp>
      <p:sp>
        <p:nvSpPr>
          <p:cNvPr id="13" name="Shape 11"/>
          <p:cNvSpPr/>
          <p:nvPr/>
        </p:nvSpPr>
        <p:spPr>
          <a:xfrm>
            <a:off x="6675120" y="2743200"/>
            <a:ext cx="2194560" cy="841248"/>
          </a:xfrm>
          <a:prstGeom prst="rect">
            <a:avLst/>
          </a:prstGeom>
          <a:solidFill>
            <a:srgbClr val="111827"/>
          </a:solidFill>
          <a:ln w="12700">
            <a:solidFill>
              <a:srgbClr val="0EA5E9"/>
            </a:solidFill>
            <a:prstDash val="solid"/>
          </a:ln>
        </p:spPr>
        <p:txBody>
          <a:bodyPr/>
          <a:lstStyle/>
          <a:p>
            <a:endParaRPr lang="en-IN"/>
          </a:p>
        </p:txBody>
      </p:sp>
      <p:sp>
        <p:nvSpPr>
          <p:cNvPr id="14" name="Text 12"/>
          <p:cNvSpPr/>
          <p:nvPr/>
        </p:nvSpPr>
        <p:spPr>
          <a:xfrm>
            <a:off x="6675120" y="2788920"/>
            <a:ext cx="2194560" cy="438912"/>
          </a:xfrm>
          <a:prstGeom prst="rect">
            <a:avLst/>
          </a:prstGeom>
          <a:noFill/>
          <a:ln/>
        </p:spPr>
        <p:txBody>
          <a:bodyPr wrap="square" lIns="0" tIns="0" rIns="0" bIns="0" rtlCol="0" anchor="ctr"/>
          <a:lstStyle/>
          <a:p>
            <a:pPr marL="0" indent="0" algn="ctr">
              <a:buNone/>
            </a:pPr>
            <a:r>
              <a:rPr lang="en-US" sz="2600" b="1" dirty="0">
                <a:solidFill>
                  <a:srgbClr val="0EA5E9"/>
                </a:solidFill>
                <a:latin typeface="Calibri" pitchFamily="34" charset="0"/>
                <a:ea typeface="Calibri" pitchFamily="34" charset="-122"/>
                <a:cs typeface="Calibri" pitchFamily="34" charset="-120"/>
              </a:rPr>
              <a:t>10m</a:t>
            </a:r>
            <a:endParaRPr lang="en-US" sz="2600" dirty="0"/>
          </a:p>
        </p:txBody>
      </p:sp>
      <p:sp>
        <p:nvSpPr>
          <p:cNvPr id="15" name="Text 13"/>
          <p:cNvSpPr/>
          <p:nvPr/>
        </p:nvSpPr>
        <p:spPr>
          <a:xfrm>
            <a:off x="6675120" y="3255264"/>
            <a:ext cx="2194560" cy="256032"/>
          </a:xfrm>
          <a:prstGeom prst="rect">
            <a:avLst/>
          </a:prstGeom>
          <a:noFill/>
          <a:ln/>
        </p:spPr>
        <p:txBody>
          <a:bodyPr wrap="square" lIns="0" tIns="0" rIns="0" bIns="0" rtlCol="0" anchor="ctr"/>
          <a:lstStyle/>
          <a:p>
            <a:pPr marL="0" indent="0" algn="ctr">
              <a:buNone/>
            </a:pPr>
            <a:r>
              <a:rPr lang="en-US" sz="900" dirty="0">
                <a:solidFill>
                  <a:srgbClr val="CBD5E1"/>
                </a:solidFill>
                <a:latin typeface="Calibri" pitchFamily="34" charset="0"/>
                <a:ea typeface="Calibri" pitchFamily="34" charset="-122"/>
                <a:cs typeface="Calibri" pitchFamily="34" charset="-120"/>
              </a:rPr>
              <a:t>Ground resolution</a:t>
            </a:r>
            <a:endParaRPr lang="en-US" sz="900" dirty="0"/>
          </a:p>
        </p:txBody>
      </p:sp>
      <p:sp>
        <p:nvSpPr>
          <p:cNvPr id="16" name="Shape 14"/>
          <p:cNvSpPr/>
          <p:nvPr/>
        </p:nvSpPr>
        <p:spPr>
          <a:xfrm>
            <a:off x="6675120" y="3703320"/>
            <a:ext cx="2194560" cy="841248"/>
          </a:xfrm>
          <a:prstGeom prst="rect">
            <a:avLst/>
          </a:prstGeom>
          <a:solidFill>
            <a:srgbClr val="111827"/>
          </a:solidFill>
          <a:ln w="12700">
            <a:solidFill>
              <a:srgbClr val="F59E0B"/>
            </a:solidFill>
            <a:prstDash val="solid"/>
          </a:ln>
        </p:spPr>
        <p:txBody>
          <a:bodyPr/>
          <a:lstStyle/>
          <a:p>
            <a:endParaRPr lang="en-IN"/>
          </a:p>
        </p:txBody>
      </p:sp>
      <p:sp>
        <p:nvSpPr>
          <p:cNvPr id="17" name="Text 15"/>
          <p:cNvSpPr/>
          <p:nvPr/>
        </p:nvSpPr>
        <p:spPr>
          <a:xfrm>
            <a:off x="6675120" y="3749040"/>
            <a:ext cx="2194560" cy="438912"/>
          </a:xfrm>
          <a:prstGeom prst="rect">
            <a:avLst/>
          </a:prstGeom>
          <a:noFill/>
          <a:ln/>
        </p:spPr>
        <p:txBody>
          <a:bodyPr wrap="square" lIns="0" tIns="0" rIns="0" bIns="0" rtlCol="0" anchor="ctr"/>
          <a:lstStyle/>
          <a:p>
            <a:pPr marL="0" indent="0" algn="ctr">
              <a:buNone/>
            </a:pPr>
            <a:r>
              <a:rPr lang="en-US" sz="2600" b="1" dirty="0">
                <a:solidFill>
                  <a:srgbClr val="F59E0B"/>
                </a:solidFill>
                <a:latin typeface="Calibri" pitchFamily="34" charset="0"/>
                <a:ea typeface="Calibri" pitchFamily="34" charset="-122"/>
                <a:cs typeface="Calibri" pitchFamily="34" charset="-120"/>
              </a:rPr>
              <a:t>6 day</a:t>
            </a:r>
            <a:endParaRPr lang="en-US" sz="2600" dirty="0"/>
          </a:p>
        </p:txBody>
      </p:sp>
      <p:sp>
        <p:nvSpPr>
          <p:cNvPr id="18" name="Text 16"/>
          <p:cNvSpPr/>
          <p:nvPr/>
        </p:nvSpPr>
        <p:spPr>
          <a:xfrm>
            <a:off x="6675120" y="4215384"/>
            <a:ext cx="2194560" cy="256032"/>
          </a:xfrm>
          <a:prstGeom prst="rect">
            <a:avLst/>
          </a:prstGeom>
          <a:noFill/>
          <a:ln/>
        </p:spPr>
        <p:txBody>
          <a:bodyPr wrap="square" lIns="0" tIns="0" rIns="0" bIns="0" rtlCol="0" anchor="ctr"/>
          <a:lstStyle/>
          <a:p>
            <a:pPr marL="0" indent="0" algn="ctr">
              <a:buNone/>
            </a:pPr>
            <a:r>
              <a:rPr lang="en-US" sz="900" dirty="0">
                <a:solidFill>
                  <a:srgbClr val="CBD5E1"/>
                </a:solidFill>
                <a:latin typeface="Calibri" pitchFamily="34" charset="0"/>
                <a:ea typeface="Calibri" pitchFamily="34" charset="-122"/>
                <a:cs typeface="Calibri" pitchFamily="34" charset="-120"/>
              </a:rPr>
              <a:t>Satellite revisit</a:t>
            </a:r>
            <a:endParaRPr lang="en-US" sz="900" dirty="0"/>
          </a:p>
        </p:txBody>
      </p:sp>
      <p:sp>
        <p:nvSpPr>
          <p:cNvPr id="19" name="Text 17"/>
          <p:cNvSpPr/>
          <p:nvPr/>
        </p:nvSpPr>
        <p:spPr>
          <a:xfrm>
            <a:off x="274320" y="4754880"/>
            <a:ext cx="8595360" cy="182880"/>
          </a:xfrm>
          <a:prstGeom prst="rect">
            <a:avLst/>
          </a:prstGeom>
          <a:noFill/>
          <a:ln/>
        </p:spPr>
        <p:txBody>
          <a:bodyPr wrap="square" lIns="0" tIns="0" rIns="0" bIns="0"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Data: ESA Copernicus Sentinel-1 SAR · Processed via Google Earth Engine · HierachAI Technologies</a:t>
            </a:r>
            <a:endParaRPr lang="en-US" sz="800" dirty="0"/>
          </a:p>
        </p:txBody>
      </p:sp>
      <p:sp>
        <p:nvSpPr>
          <p:cNvPr id="20" name="Shape 18"/>
          <p:cNvSpPr/>
          <p:nvPr/>
        </p:nvSpPr>
        <p:spPr>
          <a:xfrm>
            <a:off x="0" y="4818888"/>
            <a:ext cx="9144000" cy="324612"/>
          </a:xfrm>
          <a:prstGeom prst="rect">
            <a:avLst/>
          </a:prstGeom>
          <a:solidFill>
            <a:srgbClr val="0A1628"/>
          </a:solidFill>
          <a:ln w="12700">
            <a:solidFill>
              <a:srgbClr val="0A1628"/>
            </a:solidFill>
            <a:prstDash val="solid"/>
          </a:ln>
        </p:spPr>
        <p:txBody>
          <a:bodyPr/>
          <a:lstStyle/>
          <a:p>
            <a:endParaRPr lang="en-IN"/>
          </a:p>
        </p:txBody>
      </p:sp>
      <p:sp>
        <p:nvSpPr>
          <p:cNvPr id="21" name="Text 19"/>
          <p:cNvSpPr/>
          <p:nvPr/>
        </p:nvSpPr>
        <p:spPr>
          <a:xfrm>
            <a:off x="274320" y="4837176"/>
            <a:ext cx="7772400" cy="274320"/>
          </a:xfrm>
          <a:prstGeom prst="rect">
            <a:avLst/>
          </a:prstGeom>
          <a:noFill/>
          <a:ln/>
        </p:spPr>
        <p:txBody>
          <a:bodyPr wrap="square" lIns="0" tIns="0" rIns="0" bIns="0" rtlCol="0" anchor="ctr"/>
          <a:lstStyle/>
          <a:p>
            <a:pPr marL="0" indent="0">
              <a:buNone/>
            </a:pPr>
            <a:r>
              <a:rPr lang="en-US" sz="800" dirty="0">
                <a:solidFill>
                  <a:srgbClr val="0EA5E9"/>
                </a:solidFill>
                <a:latin typeface="Calibri" pitchFamily="34" charset="0"/>
                <a:ea typeface="Calibri" pitchFamily="34" charset="-122"/>
                <a:cs typeface="Calibri" pitchFamily="34" charset="-120"/>
              </a:rPr>
              <a:t>AP-Wrims Early Warning System  |  HierachAI Technologies Pvt. Ltd.  |  DPIIT Recognised · Women-Led · Andhra Pradesh</a:t>
            </a:r>
            <a:endParaRPr lang="en-US" sz="800" dirty="0"/>
          </a:p>
        </p:txBody>
      </p:sp>
      <p:sp>
        <p:nvSpPr>
          <p:cNvPr id="22" name="Text 20"/>
          <p:cNvSpPr/>
          <p:nvPr/>
        </p:nvSpPr>
        <p:spPr>
          <a:xfrm>
            <a:off x="8046720" y="4837176"/>
            <a:ext cx="914400" cy="274320"/>
          </a:xfrm>
          <a:prstGeom prst="rect">
            <a:avLst/>
          </a:prstGeom>
          <a:noFill/>
          <a:ln/>
        </p:spPr>
        <p:txBody>
          <a:bodyPr wrap="square" lIns="0" tIns="0" rIns="0" bIns="0" rtlCol="0" anchor="ctr"/>
          <a:lstStyle/>
          <a:p>
            <a:pPr marL="0" indent="0" algn="r">
              <a:buNone/>
            </a:pPr>
            <a:r>
              <a:rPr lang="en-US" sz="800" dirty="0">
                <a:solidFill>
                  <a:srgbClr val="F59E0B"/>
                </a:solidFill>
                <a:latin typeface="Calibri" pitchFamily="34" charset="0"/>
                <a:ea typeface="Calibri" pitchFamily="34" charset="-122"/>
                <a:cs typeface="Calibri" pitchFamily="34" charset="-120"/>
              </a:rPr>
              <a:t>9 / 16</a:t>
            </a:r>
            <a:endParaRPr lang="en-US" sz="800" dirty="0"/>
          </a:p>
        </p:txBody>
      </p:sp>
      <p:pic>
        <p:nvPicPr>
          <p:cNvPr id="24" name="Picture 23" descr="A map of a river">
            <a:extLst>
              <a:ext uri="{FF2B5EF4-FFF2-40B4-BE49-F238E27FC236}">
                <a16:creationId xmlns:a16="http://schemas.microsoft.com/office/drawing/2014/main" id="{B80C1143-4ECA-C56B-C15E-1C5608B85469}"/>
              </a:ext>
            </a:extLst>
          </p:cNvPr>
          <p:cNvPicPr>
            <a:picLocks noChangeAspect="1"/>
          </p:cNvPicPr>
          <p:nvPr/>
        </p:nvPicPr>
        <p:blipFill>
          <a:blip r:embed="rId3"/>
          <a:stretch>
            <a:fillRect/>
          </a:stretch>
        </p:blipFill>
        <p:spPr>
          <a:xfrm>
            <a:off x="91439" y="740664"/>
            <a:ext cx="6492241" cy="407822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2C55E"/>
          </a:solidFill>
          <a:ln w="12700">
            <a:solidFill>
              <a:srgbClr val="22C55E"/>
            </a:solidFill>
            <a:prstDash val="solid"/>
          </a:ln>
        </p:spPr>
        <p:txBody>
          <a:bodyPr/>
          <a:lstStyle/>
          <a:p>
            <a:endParaRPr lang="en-IN"/>
          </a:p>
        </p:txBody>
      </p:sp>
      <p:sp>
        <p:nvSpPr>
          <p:cNvPr id="3" name="Shape 1"/>
          <p:cNvSpPr/>
          <p:nvPr/>
        </p:nvSpPr>
        <p:spPr>
          <a:xfrm>
            <a:off x="0" y="73152"/>
            <a:ext cx="9144000" cy="658368"/>
          </a:xfrm>
          <a:prstGeom prst="rect">
            <a:avLst/>
          </a:prstGeom>
          <a:solidFill>
            <a:srgbClr val="FFFFFF"/>
          </a:solidFill>
          <a:ln w="12700">
            <a:solidFill>
              <a:srgbClr val="E2E8F0"/>
            </a:solidFill>
            <a:prstDash val="solid"/>
          </a:ln>
        </p:spPr>
        <p:txBody>
          <a:bodyPr/>
          <a:lstStyle/>
          <a:p>
            <a:endParaRPr lang="en-IN"/>
          </a:p>
        </p:txBody>
      </p:sp>
      <p:sp>
        <p:nvSpPr>
          <p:cNvPr id="4" name="Text 2"/>
          <p:cNvSpPr/>
          <p:nvPr/>
        </p:nvSpPr>
        <p:spPr>
          <a:xfrm>
            <a:off x="365760" y="91440"/>
            <a:ext cx="8412480" cy="475488"/>
          </a:xfrm>
          <a:prstGeom prst="rect">
            <a:avLst/>
          </a:prstGeom>
          <a:noFill/>
          <a:ln/>
        </p:spPr>
        <p:txBody>
          <a:bodyPr wrap="square" lIns="0" tIns="0" rIns="0" bIns="0" rtlCol="0" anchor="ctr"/>
          <a:lstStyle/>
          <a:p>
            <a:pPr marL="0" indent="0">
              <a:buNone/>
            </a:pPr>
            <a:r>
              <a:rPr lang="en-US" sz="2000" b="1" dirty="0">
                <a:solidFill>
                  <a:srgbClr val="0F172A"/>
                </a:solidFill>
                <a:latin typeface="Calibri" pitchFamily="34" charset="0"/>
                <a:ea typeface="Calibri" pitchFamily="34" charset="-122"/>
                <a:cs typeface="Calibri" pitchFamily="34" charset="-120"/>
              </a:rPr>
              <a:t>📱  Village Alert System — Last Mile Communication</a:t>
            </a:r>
            <a:endParaRPr lang="en-US" sz="2000" dirty="0"/>
          </a:p>
        </p:txBody>
      </p:sp>
      <p:sp>
        <p:nvSpPr>
          <p:cNvPr id="5" name="Shape 3"/>
          <p:cNvSpPr/>
          <p:nvPr/>
        </p:nvSpPr>
        <p:spPr>
          <a:xfrm>
            <a:off x="0" y="731520"/>
            <a:ext cx="9144000" cy="256032"/>
          </a:xfrm>
          <a:prstGeom prst="rect">
            <a:avLst/>
          </a:prstGeom>
          <a:solidFill>
            <a:srgbClr val="EFF6FF"/>
          </a:solidFill>
          <a:ln w="12700">
            <a:solidFill>
              <a:srgbClr val="BFDBFE"/>
            </a:solidFill>
            <a:prstDash val="solid"/>
          </a:ln>
        </p:spPr>
        <p:txBody>
          <a:bodyPr/>
          <a:lstStyle/>
          <a:p>
            <a:endParaRPr lang="en-IN"/>
          </a:p>
        </p:txBody>
      </p:sp>
      <p:sp>
        <p:nvSpPr>
          <p:cNvPr id="6" name="Text 4"/>
          <p:cNvSpPr/>
          <p:nvPr/>
        </p:nvSpPr>
        <p:spPr>
          <a:xfrm>
            <a:off x="365760" y="749808"/>
            <a:ext cx="8412480" cy="219456"/>
          </a:xfrm>
          <a:prstGeom prst="rect">
            <a:avLst/>
          </a:prstGeom>
          <a:noFill/>
          <a:ln/>
        </p:spPr>
        <p:txBody>
          <a:bodyPr wrap="square" lIns="0" tIns="0" rIns="0" bIns="0" rtlCol="0" anchor="ctr"/>
          <a:lstStyle/>
          <a:p>
            <a:pPr marL="0" indent="0">
              <a:buNone/>
            </a:pPr>
            <a:r>
              <a:rPr lang="en-US" sz="950" dirty="0">
                <a:solidFill>
                  <a:srgbClr val="0284C7"/>
                </a:solidFill>
                <a:latin typeface="Calibri" pitchFamily="34" charset="0"/>
                <a:ea typeface="Calibri" pitchFamily="34" charset="-122"/>
                <a:cs typeface="Calibri" pitchFamily="34" charset="-120"/>
              </a:rPr>
              <a:t>System generates alerts within minutes for review and dispatch</a:t>
            </a:r>
            <a:endParaRPr lang="en-US" sz="950" dirty="0"/>
          </a:p>
        </p:txBody>
      </p:sp>
      <p:sp>
        <p:nvSpPr>
          <p:cNvPr id="7" name="Shape 5"/>
          <p:cNvSpPr/>
          <p:nvPr/>
        </p:nvSpPr>
        <p:spPr>
          <a:xfrm>
            <a:off x="274320" y="1051560"/>
            <a:ext cx="8595360" cy="384048"/>
          </a:xfrm>
          <a:prstGeom prst="rect">
            <a:avLst/>
          </a:prstGeom>
          <a:solidFill>
            <a:srgbClr val="EF4444"/>
          </a:solidFill>
          <a:ln w="12700">
            <a:solidFill>
              <a:srgbClr val="EF4444"/>
            </a:solidFill>
            <a:prstDash val="solid"/>
          </a:ln>
        </p:spPr>
        <p:txBody>
          <a:bodyPr/>
          <a:lstStyle/>
          <a:p>
            <a:endParaRPr lang="en-IN"/>
          </a:p>
        </p:txBody>
      </p:sp>
      <p:sp>
        <p:nvSpPr>
          <p:cNvPr id="8" name="Text 6"/>
          <p:cNvSpPr/>
          <p:nvPr/>
        </p:nvSpPr>
        <p:spPr>
          <a:xfrm>
            <a:off x="365760" y="1097280"/>
            <a:ext cx="841248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Retrospective analysis: Nov 18, 2021 — System would alert ~17 hrs before breach | 1,247 contacts | Alert ready for review and dispatch</a:t>
            </a:r>
            <a:endParaRPr lang="en-US" sz="1100" dirty="0"/>
          </a:p>
        </p:txBody>
      </p:sp>
      <p:sp>
        <p:nvSpPr>
          <p:cNvPr id="9" name="Shape 7"/>
          <p:cNvSpPr/>
          <p:nvPr/>
        </p:nvSpPr>
        <p:spPr>
          <a:xfrm>
            <a:off x="274320" y="1554480"/>
            <a:ext cx="2011680" cy="1115568"/>
          </a:xfrm>
          <a:prstGeom prst="rect">
            <a:avLst/>
          </a:prstGeom>
          <a:solidFill>
            <a:srgbClr val="FFFFFF"/>
          </a:solidFill>
          <a:ln w="12700">
            <a:solidFill>
              <a:srgbClr val="22C55E"/>
            </a:solidFill>
            <a:prstDash val="solid"/>
          </a:ln>
          <a:effectLst>
            <a:outerShdw blurRad="76200" dist="25400" dir="8100000" algn="bl" rotWithShape="0">
              <a:srgbClr val="000000">
                <a:alpha val="10000"/>
              </a:srgbClr>
            </a:outerShdw>
          </a:effectLst>
        </p:spPr>
        <p:txBody>
          <a:bodyPr/>
          <a:lstStyle/>
          <a:p>
            <a:endParaRPr lang="en-IN"/>
          </a:p>
        </p:txBody>
      </p:sp>
      <p:sp>
        <p:nvSpPr>
          <p:cNvPr id="10" name="Shape 8"/>
          <p:cNvSpPr/>
          <p:nvPr/>
        </p:nvSpPr>
        <p:spPr>
          <a:xfrm>
            <a:off x="274320" y="1554480"/>
            <a:ext cx="2011680" cy="36576"/>
          </a:xfrm>
          <a:prstGeom prst="rect">
            <a:avLst/>
          </a:prstGeom>
          <a:solidFill>
            <a:srgbClr val="22C55E"/>
          </a:solidFill>
          <a:ln w="12700">
            <a:solidFill>
              <a:srgbClr val="22C55E"/>
            </a:solidFill>
            <a:prstDash val="solid"/>
          </a:ln>
        </p:spPr>
        <p:txBody>
          <a:bodyPr/>
          <a:lstStyle/>
          <a:p>
            <a:endParaRPr lang="en-IN"/>
          </a:p>
        </p:txBody>
      </p:sp>
      <p:sp>
        <p:nvSpPr>
          <p:cNvPr id="11" name="Text 9"/>
          <p:cNvSpPr/>
          <p:nvPr/>
        </p:nvSpPr>
        <p:spPr>
          <a:xfrm>
            <a:off x="274320" y="1609344"/>
            <a:ext cx="2011680" cy="384048"/>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2" name="Text 10"/>
          <p:cNvSpPr/>
          <p:nvPr/>
        </p:nvSpPr>
        <p:spPr>
          <a:xfrm>
            <a:off x="365760" y="1993392"/>
            <a:ext cx="1828800" cy="201168"/>
          </a:xfrm>
          <a:prstGeom prst="rect">
            <a:avLst/>
          </a:prstGeom>
          <a:noFill/>
          <a:ln/>
        </p:spPr>
        <p:txBody>
          <a:bodyPr wrap="square" lIns="0" tIns="0" rIns="0" bIns="0" rtlCol="0" anchor="ctr"/>
          <a:lstStyle/>
          <a:p>
            <a:pPr marL="0" indent="0" algn="ctr">
              <a:buNone/>
            </a:pPr>
            <a:r>
              <a:rPr lang="en-US" sz="1000" b="1" dirty="0">
                <a:solidFill>
                  <a:srgbClr val="22C55E"/>
                </a:solidFill>
                <a:latin typeface="Calibri" pitchFamily="34" charset="0"/>
                <a:ea typeface="Calibri" pitchFamily="34" charset="-122"/>
                <a:cs typeface="Calibri" pitchFamily="34" charset="-120"/>
              </a:rPr>
              <a:t>Village SMS</a:t>
            </a:r>
            <a:endParaRPr lang="en-US" sz="1000" dirty="0"/>
          </a:p>
        </p:txBody>
      </p:sp>
      <p:sp>
        <p:nvSpPr>
          <p:cNvPr id="13" name="Text 11"/>
          <p:cNvSpPr/>
          <p:nvPr/>
        </p:nvSpPr>
        <p:spPr>
          <a:xfrm>
            <a:off x="365760" y="2212848"/>
            <a:ext cx="1828800" cy="411480"/>
          </a:xfrm>
          <a:prstGeom prst="rect">
            <a:avLst/>
          </a:prstGeom>
          <a:noFill/>
          <a:ln/>
        </p:spPr>
        <p:txBody>
          <a:bodyPr wrap="square" lIns="0" tIns="0" rIns="0" bIns="0" rtlCol="0" anchor="ctr"/>
          <a:lstStyle/>
          <a:p>
            <a:pPr marL="0" indent="0" algn="ctr">
              <a:buNone/>
            </a:pPr>
            <a:r>
              <a:rPr lang="en-US" sz="850" dirty="0">
                <a:solidFill>
                  <a:srgbClr val="334155"/>
                </a:solidFill>
                <a:latin typeface="Calibri" pitchFamily="34" charset="0"/>
                <a:ea typeface="Calibri" pitchFamily="34" charset="-122"/>
                <a:cs typeface="Calibri" pitchFamily="34" charset="-120"/>
              </a:rPr>
              <a:t>1,247 contacts</a:t>
            </a:r>
            <a:endParaRPr lang="en-US" sz="850" dirty="0"/>
          </a:p>
          <a:p>
            <a:pPr marL="0" indent="0" algn="ctr">
              <a:buNone/>
            </a:pPr>
            <a:r>
              <a:rPr lang="en-US" sz="850" dirty="0">
                <a:solidFill>
                  <a:srgbClr val="334155"/>
                </a:solidFill>
                <a:latin typeface="Calibri" pitchFamily="34" charset="0"/>
                <a:ea typeface="Calibri" pitchFamily="34" charset="-122"/>
                <a:cs typeface="Calibri" pitchFamily="34" charset="-120"/>
              </a:rPr>
              <a:t>Mandapalli · Togurupeta</a:t>
            </a:r>
            <a:endParaRPr lang="en-US" sz="850" dirty="0"/>
          </a:p>
          <a:p>
            <a:pPr marL="0" indent="0" algn="ctr">
              <a:buNone/>
            </a:pPr>
            <a:r>
              <a:rPr lang="en-US" sz="850" dirty="0">
                <a:solidFill>
                  <a:srgbClr val="334155"/>
                </a:solidFill>
                <a:latin typeface="Calibri" pitchFamily="34" charset="0"/>
                <a:ea typeface="Calibri" pitchFamily="34" charset="-122"/>
                <a:cs typeface="Calibri" pitchFamily="34" charset="-120"/>
              </a:rPr>
              <a:t>Pulapathur · Gundlur</a:t>
            </a:r>
            <a:endParaRPr lang="en-US" sz="850" dirty="0"/>
          </a:p>
        </p:txBody>
      </p:sp>
      <p:sp>
        <p:nvSpPr>
          <p:cNvPr id="14" name="Shape 12"/>
          <p:cNvSpPr/>
          <p:nvPr/>
        </p:nvSpPr>
        <p:spPr>
          <a:xfrm>
            <a:off x="2450592" y="1554480"/>
            <a:ext cx="2011680" cy="1115568"/>
          </a:xfrm>
          <a:prstGeom prst="rect">
            <a:avLst/>
          </a:prstGeom>
          <a:solidFill>
            <a:srgbClr val="FFFFFF"/>
          </a:solidFill>
          <a:ln w="12700">
            <a:solidFill>
              <a:srgbClr val="0284C7"/>
            </a:solidFill>
            <a:prstDash val="solid"/>
          </a:ln>
          <a:effectLst>
            <a:outerShdw blurRad="76200" dist="25400" dir="8100000" algn="bl" rotWithShape="0">
              <a:srgbClr val="000000">
                <a:alpha val="10000"/>
              </a:srgbClr>
            </a:outerShdw>
          </a:effectLst>
        </p:spPr>
        <p:txBody>
          <a:bodyPr/>
          <a:lstStyle/>
          <a:p>
            <a:endParaRPr lang="en-IN"/>
          </a:p>
        </p:txBody>
      </p:sp>
      <p:sp>
        <p:nvSpPr>
          <p:cNvPr id="15" name="Shape 13"/>
          <p:cNvSpPr/>
          <p:nvPr/>
        </p:nvSpPr>
        <p:spPr>
          <a:xfrm>
            <a:off x="2450592" y="1554480"/>
            <a:ext cx="2011680" cy="36576"/>
          </a:xfrm>
          <a:prstGeom prst="rect">
            <a:avLst/>
          </a:prstGeom>
          <a:solidFill>
            <a:srgbClr val="0284C7"/>
          </a:solidFill>
          <a:ln w="12700">
            <a:solidFill>
              <a:srgbClr val="0284C7"/>
            </a:solidFill>
            <a:prstDash val="solid"/>
          </a:ln>
        </p:spPr>
        <p:txBody>
          <a:bodyPr/>
          <a:lstStyle/>
          <a:p>
            <a:endParaRPr lang="en-IN"/>
          </a:p>
        </p:txBody>
      </p:sp>
      <p:sp>
        <p:nvSpPr>
          <p:cNvPr id="16" name="Text 14"/>
          <p:cNvSpPr/>
          <p:nvPr/>
        </p:nvSpPr>
        <p:spPr>
          <a:xfrm>
            <a:off x="2450592" y="1609344"/>
            <a:ext cx="2011680" cy="384048"/>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7" name="Text 15"/>
          <p:cNvSpPr/>
          <p:nvPr/>
        </p:nvSpPr>
        <p:spPr>
          <a:xfrm>
            <a:off x="2542032" y="1993392"/>
            <a:ext cx="1828800" cy="201168"/>
          </a:xfrm>
          <a:prstGeom prst="rect">
            <a:avLst/>
          </a:prstGeom>
          <a:noFill/>
          <a:ln/>
        </p:spPr>
        <p:txBody>
          <a:bodyPr wrap="square" lIns="0" tIns="0" rIns="0" bIns="0" rtlCol="0" anchor="ctr"/>
          <a:lstStyle/>
          <a:p>
            <a:pPr marL="0" indent="0" algn="ctr">
              <a:buNone/>
            </a:pPr>
            <a:r>
              <a:rPr lang="en-US" sz="1000" b="1" dirty="0">
                <a:solidFill>
                  <a:srgbClr val="0284C7"/>
                </a:solidFill>
                <a:latin typeface="Calibri" pitchFamily="34" charset="0"/>
                <a:ea typeface="Calibri" pitchFamily="34" charset="-122"/>
                <a:cs typeface="Calibri" pitchFamily="34" charset="-120"/>
              </a:rPr>
              <a:t>District Control</a:t>
            </a:r>
            <a:endParaRPr lang="en-US" sz="1000" dirty="0"/>
          </a:p>
        </p:txBody>
      </p:sp>
      <p:sp>
        <p:nvSpPr>
          <p:cNvPr id="18" name="Text 16"/>
          <p:cNvSpPr/>
          <p:nvPr/>
        </p:nvSpPr>
        <p:spPr>
          <a:xfrm>
            <a:off x="2542032" y="2212848"/>
            <a:ext cx="1828800" cy="411480"/>
          </a:xfrm>
          <a:prstGeom prst="rect">
            <a:avLst/>
          </a:prstGeom>
          <a:noFill/>
          <a:ln/>
        </p:spPr>
        <p:txBody>
          <a:bodyPr wrap="square" lIns="0" tIns="0" rIns="0" bIns="0" rtlCol="0" anchor="ctr"/>
          <a:lstStyle/>
          <a:p>
            <a:pPr marL="0" indent="0" algn="ctr">
              <a:buNone/>
            </a:pPr>
            <a:r>
              <a:rPr lang="en-US" sz="850" dirty="0">
                <a:solidFill>
                  <a:srgbClr val="334155"/>
                </a:solidFill>
                <a:latin typeface="Calibri" pitchFamily="34" charset="0"/>
                <a:ea typeface="Calibri" pitchFamily="34" charset="-122"/>
                <a:cs typeface="Calibri" pitchFamily="34" charset="-120"/>
              </a:rPr>
              <a:t>Collector</a:t>
            </a:r>
            <a:endParaRPr lang="en-US" sz="850" dirty="0"/>
          </a:p>
          <a:p>
            <a:pPr marL="0" indent="0" algn="ctr">
              <a:buNone/>
            </a:pPr>
            <a:r>
              <a:rPr lang="en-US" sz="850" dirty="0">
                <a:solidFill>
                  <a:srgbClr val="334155"/>
                </a:solidFill>
                <a:latin typeface="Calibri" pitchFamily="34" charset="0"/>
                <a:ea typeface="Calibri" pitchFamily="34" charset="-122"/>
                <a:cs typeface="Calibri" pitchFamily="34" charset="-120"/>
              </a:rPr>
              <a:t>Kadapa District</a:t>
            </a:r>
            <a:endParaRPr lang="en-US" sz="850" dirty="0"/>
          </a:p>
        </p:txBody>
      </p:sp>
      <p:sp>
        <p:nvSpPr>
          <p:cNvPr id="19" name="Shape 17"/>
          <p:cNvSpPr/>
          <p:nvPr/>
        </p:nvSpPr>
        <p:spPr>
          <a:xfrm>
            <a:off x="4626864" y="1554480"/>
            <a:ext cx="2011680" cy="1115568"/>
          </a:xfrm>
          <a:prstGeom prst="rect">
            <a:avLst/>
          </a:prstGeom>
          <a:solidFill>
            <a:srgbClr val="FFFFFF"/>
          </a:solidFill>
          <a:ln w="12700">
            <a:solidFill>
              <a:srgbClr val="1E3A5F"/>
            </a:solidFill>
            <a:prstDash val="solid"/>
          </a:ln>
          <a:effectLst>
            <a:outerShdw blurRad="76200" dist="25400" dir="8100000" algn="bl" rotWithShape="0">
              <a:srgbClr val="000000">
                <a:alpha val="10000"/>
              </a:srgbClr>
            </a:outerShdw>
          </a:effectLst>
        </p:spPr>
        <p:txBody>
          <a:bodyPr/>
          <a:lstStyle/>
          <a:p>
            <a:endParaRPr lang="en-IN"/>
          </a:p>
        </p:txBody>
      </p:sp>
      <p:sp>
        <p:nvSpPr>
          <p:cNvPr id="20" name="Shape 18"/>
          <p:cNvSpPr/>
          <p:nvPr/>
        </p:nvSpPr>
        <p:spPr>
          <a:xfrm>
            <a:off x="4626864" y="1554480"/>
            <a:ext cx="2011680" cy="36576"/>
          </a:xfrm>
          <a:prstGeom prst="rect">
            <a:avLst/>
          </a:prstGeom>
          <a:solidFill>
            <a:srgbClr val="1E3A5F"/>
          </a:solidFill>
          <a:ln w="12700">
            <a:solidFill>
              <a:srgbClr val="1E3A5F"/>
            </a:solidFill>
            <a:prstDash val="solid"/>
          </a:ln>
        </p:spPr>
        <p:txBody>
          <a:bodyPr/>
          <a:lstStyle/>
          <a:p>
            <a:endParaRPr lang="en-IN"/>
          </a:p>
        </p:txBody>
      </p:sp>
      <p:sp>
        <p:nvSpPr>
          <p:cNvPr id="21" name="Text 19"/>
          <p:cNvSpPr/>
          <p:nvPr/>
        </p:nvSpPr>
        <p:spPr>
          <a:xfrm>
            <a:off x="4626864" y="1609344"/>
            <a:ext cx="2011680" cy="384048"/>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2" name="Text 20"/>
          <p:cNvSpPr/>
          <p:nvPr/>
        </p:nvSpPr>
        <p:spPr>
          <a:xfrm>
            <a:off x="4718304" y="1993392"/>
            <a:ext cx="1828800" cy="201168"/>
          </a:xfrm>
          <a:prstGeom prst="rect">
            <a:avLst/>
          </a:prstGeom>
          <a:noFill/>
          <a:ln/>
        </p:spPr>
        <p:txBody>
          <a:bodyPr wrap="square" lIns="0" tIns="0" rIns="0" bIns="0" rtlCol="0" anchor="ctr"/>
          <a:lstStyle/>
          <a:p>
            <a:pPr marL="0" indent="0" algn="ctr">
              <a:buNone/>
            </a:pPr>
            <a:r>
              <a:rPr lang="en-US" sz="1000" b="1" dirty="0">
                <a:solidFill>
                  <a:srgbClr val="1E3A5F"/>
                </a:solidFill>
                <a:latin typeface="Calibri" pitchFamily="34" charset="0"/>
                <a:ea typeface="Calibri" pitchFamily="34" charset="-122"/>
                <a:cs typeface="Calibri" pitchFamily="34" charset="-120"/>
              </a:rPr>
              <a:t>APSDMA HQ</a:t>
            </a:r>
            <a:endParaRPr lang="en-US" sz="1000" dirty="0"/>
          </a:p>
        </p:txBody>
      </p:sp>
      <p:sp>
        <p:nvSpPr>
          <p:cNvPr id="23" name="Text 21"/>
          <p:cNvSpPr/>
          <p:nvPr/>
        </p:nvSpPr>
        <p:spPr>
          <a:xfrm>
            <a:off x="4718304" y="2212848"/>
            <a:ext cx="1828800" cy="411480"/>
          </a:xfrm>
          <a:prstGeom prst="rect">
            <a:avLst/>
          </a:prstGeom>
          <a:noFill/>
          <a:ln/>
        </p:spPr>
        <p:txBody>
          <a:bodyPr wrap="square" lIns="0" tIns="0" rIns="0" bIns="0" rtlCol="0" anchor="ctr"/>
          <a:lstStyle/>
          <a:p>
            <a:pPr marL="0" indent="0" algn="ctr">
              <a:buNone/>
            </a:pPr>
            <a:r>
              <a:rPr lang="en-US" sz="850" dirty="0">
                <a:solidFill>
                  <a:srgbClr val="334155"/>
                </a:solidFill>
                <a:latin typeface="Calibri" pitchFamily="34" charset="0"/>
                <a:ea typeface="Calibri" pitchFamily="34" charset="-122"/>
                <a:cs typeface="Calibri" pitchFamily="34" charset="-120"/>
              </a:rPr>
              <a:t>State Disaster</a:t>
            </a:r>
            <a:endParaRPr lang="en-US" sz="850" dirty="0"/>
          </a:p>
          <a:p>
            <a:pPr marL="0" indent="0" algn="ctr">
              <a:buNone/>
            </a:pPr>
            <a:r>
              <a:rPr lang="en-US" sz="850" dirty="0">
                <a:solidFill>
                  <a:srgbClr val="334155"/>
                </a:solidFill>
                <a:latin typeface="Calibri" pitchFamily="34" charset="0"/>
                <a:ea typeface="Calibri" pitchFamily="34" charset="-122"/>
                <a:cs typeface="Calibri" pitchFamily="34" charset="-120"/>
              </a:rPr>
              <a:t>Authority</a:t>
            </a:r>
            <a:endParaRPr lang="en-US" sz="850" dirty="0"/>
          </a:p>
        </p:txBody>
      </p:sp>
      <p:sp>
        <p:nvSpPr>
          <p:cNvPr id="24" name="Shape 22"/>
          <p:cNvSpPr/>
          <p:nvPr/>
        </p:nvSpPr>
        <p:spPr>
          <a:xfrm>
            <a:off x="6803136" y="1554480"/>
            <a:ext cx="2011680" cy="1115568"/>
          </a:xfrm>
          <a:prstGeom prst="rect">
            <a:avLst/>
          </a:prstGeom>
          <a:solidFill>
            <a:srgbClr val="FFFFFF"/>
          </a:solidFill>
          <a:ln w="12700">
            <a:solidFill>
              <a:srgbClr val="EA580C"/>
            </a:solidFill>
            <a:prstDash val="solid"/>
          </a:ln>
          <a:effectLst>
            <a:outerShdw blurRad="76200" dist="25400" dir="8100000" algn="bl" rotWithShape="0">
              <a:srgbClr val="000000">
                <a:alpha val="10000"/>
              </a:srgbClr>
            </a:outerShdw>
          </a:effectLst>
        </p:spPr>
        <p:txBody>
          <a:bodyPr/>
          <a:lstStyle/>
          <a:p>
            <a:endParaRPr lang="en-IN"/>
          </a:p>
        </p:txBody>
      </p:sp>
      <p:sp>
        <p:nvSpPr>
          <p:cNvPr id="25" name="Shape 23"/>
          <p:cNvSpPr/>
          <p:nvPr/>
        </p:nvSpPr>
        <p:spPr>
          <a:xfrm>
            <a:off x="6803136" y="1554480"/>
            <a:ext cx="2011680" cy="36576"/>
          </a:xfrm>
          <a:prstGeom prst="rect">
            <a:avLst/>
          </a:prstGeom>
          <a:solidFill>
            <a:srgbClr val="EA580C"/>
          </a:solidFill>
          <a:ln w="12700">
            <a:solidFill>
              <a:srgbClr val="EA580C"/>
            </a:solidFill>
            <a:prstDash val="solid"/>
          </a:ln>
        </p:spPr>
        <p:txBody>
          <a:bodyPr/>
          <a:lstStyle/>
          <a:p>
            <a:endParaRPr lang="en-IN"/>
          </a:p>
        </p:txBody>
      </p:sp>
      <p:sp>
        <p:nvSpPr>
          <p:cNvPr id="26" name="Text 24"/>
          <p:cNvSpPr/>
          <p:nvPr/>
        </p:nvSpPr>
        <p:spPr>
          <a:xfrm>
            <a:off x="6803136" y="1609344"/>
            <a:ext cx="2011680" cy="384048"/>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7" name="Text 25"/>
          <p:cNvSpPr/>
          <p:nvPr/>
        </p:nvSpPr>
        <p:spPr>
          <a:xfrm>
            <a:off x="6894576" y="1993392"/>
            <a:ext cx="1828800" cy="201168"/>
          </a:xfrm>
          <a:prstGeom prst="rect">
            <a:avLst/>
          </a:prstGeom>
          <a:noFill/>
          <a:ln/>
        </p:spPr>
        <p:txBody>
          <a:bodyPr wrap="square" lIns="0" tIns="0" rIns="0" bIns="0" rtlCol="0" anchor="ctr"/>
          <a:lstStyle/>
          <a:p>
            <a:pPr marL="0" indent="0" algn="ctr">
              <a:buNone/>
            </a:pPr>
            <a:r>
              <a:rPr lang="en-US" sz="1000" b="1" dirty="0">
                <a:solidFill>
                  <a:srgbClr val="EA580C"/>
                </a:solidFill>
                <a:latin typeface="Calibri" pitchFamily="34" charset="0"/>
                <a:ea typeface="Calibri" pitchFamily="34" charset="-122"/>
                <a:cs typeface="Calibri" pitchFamily="34" charset="-120"/>
              </a:rPr>
              <a:t>NDRF Pre-Alert</a:t>
            </a:r>
            <a:endParaRPr lang="en-US" sz="1000" dirty="0"/>
          </a:p>
        </p:txBody>
      </p:sp>
      <p:sp>
        <p:nvSpPr>
          <p:cNvPr id="28" name="Text 26"/>
          <p:cNvSpPr/>
          <p:nvPr/>
        </p:nvSpPr>
        <p:spPr>
          <a:xfrm>
            <a:off x="6894576" y="2212848"/>
            <a:ext cx="1828800" cy="411480"/>
          </a:xfrm>
          <a:prstGeom prst="rect">
            <a:avLst/>
          </a:prstGeom>
          <a:noFill/>
          <a:ln/>
        </p:spPr>
        <p:txBody>
          <a:bodyPr wrap="square" lIns="0" tIns="0" rIns="0" bIns="0" rtlCol="0" anchor="ctr"/>
          <a:lstStyle/>
          <a:p>
            <a:pPr marL="0" indent="0" algn="ctr">
              <a:buNone/>
            </a:pPr>
            <a:r>
              <a:rPr lang="en-US" sz="850" dirty="0">
                <a:solidFill>
                  <a:srgbClr val="334155"/>
                </a:solidFill>
                <a:latin typeface="Calibri" pitchFamily="34" charset="0"/>
                <a:ea typeface="Calibri" pitchFamily="34" charset="-122"/>
                <a:cs typeface="Calibri" pitchFamily="34" charset="-120"/>
              </a:rPr>
              <a:t>National Response</a:t>
            </a:r>
            <a:endParaRPr lang="en-US" sz="850" dirty="0"/>
          </a:p>
          <a:p>
            <a:pPr marL="0" indent="0" algn="ctr">
              <a:buNone/>
            </a:pPr>
            <a:r>
              <a:rPr lang="en-US" sz="850" dirty="0">
                <a:solidFill>
                  <a:srgbClr val="334155"/>
                </a:solidFill>
                <a:latin typeface="Calibri" pitchFamily="34" charset="0"/>
                <a:ea typeface="Calibri" pitchFamily="34" charset="-122"/>
                <a:cs typeface="Calibri" pitchFamily="34" charset="-120"/>
              </a:rPr>
              <a:t>Force</a:t>
            </a:r>
            <a:endParaRPr lang="en-US" sz="850" dirty="0"/>
          </a:p>
        </p:txBody>
      </p:sp>
      <p:sp>
        <p:nvSpPr>
          <p:cNvPr id="29" name="Text 27"/>
          <p:cNvSpPr/>
          <p:nvPr/>
        </p:nvSpPr>
        <p:spPr>
          <a:xfrm>
            <a:off x="274320" y="2708854"/>
            <a:ext cx="4114800" cy="228600"/>
          </a:xfrm>
          <a:prstGeom prst="rect">
            <a:avLst/>
          </a:prstGeom>
          <a:noFill/>
          <a:ln/>
        </p:spPr>
        <p:txBody>
          <a:bodyPr wrap="square" lIns="0" tIns="0" rIns="0" bIns="0" rtlCol="0" anchor="ctr"/>
          <a:lstStyle/>
          <a:p>
            <a:pPr marL="0" indent="0">
              <a:buNone/>
            </a:pPr>
            <a:r>
              <a:rPr lang="en-US" sz="1100" b="1" dirty="0">
                <a:solidFill>
                  <a:srgbClr val="22C55E"/>
                </a:solidFill>
                <a:latin typeface="Calibri" pitchFamily="34" charset="0"/>
                <a:ea typeface="Calibri" pitchFamily="34" charset="-122"/>
                <a:cs typeface="Calibri" pitchFamily="34" charset="-120"/>
              </a:rPr>
              <a:t>In English</a:t>
            </a:r>
            <a:endParaRPr lang="en-US" sz="1100" dirty="0"/>
          </a:p>
        </p:txBody>
      </p:sp>
      <p:sp>
        <p:nvSpPr>
          <p:cNvPr id="30" name="Text 28"/>
          <p:cNvSpPr/>
          <p:nvPr/>
        </p:nvSpPr>
        <p:spPr>
          <a:xfrm>
            <a:off x="4663440" y="2720898"/>
            <a:ext cx="4206240" cy="228600"/>
          </a:xfrm>
          <a:prstGeom prst="rect">
            <a:avLst/>
          </a:prstGeom>
          <a:noFill/>
          <a:ln/>
        </p:spPr>
        <p:txBody>
          <a:bodyPr wrap="square" lIns="0" tIns="0" rIns="0" bIns="0" rtlCol="0" anchor="ctr"/>
          <a:lstStyle/>
          <a:p>
            <a:pPr marL="0" indent="0">
              <a:buNone/>
            </a:pPr>
            <a:r>
              <a:rPr lang="en-US" sz="1100" b="1" dirty="0">
                <a:solidFill>
                  <a:srgbClr val="22C55E"/>
                </a:solidFill>
                <a:latin typeface="Calibri" pitchFamily="34" charset="0"/>
                <a:ea typeface="Calibri" pitchFamily="34" charset="-122"/>
                <a:cs typeface="Calibri" pitchFamily="34" charset="-120"/>
              </a:rPr>
              <a:t>In Telugu</a:t>
            </a:r>
            <a:endParaRPr lang="en-US" sz="1100" dirty="0"/>
          </a:p>
        </p:txBody>
      </p:sp>
      <p:sp>
        <p:nvSpPr>
          <p:cNvPr id="31" name="Shape 29"/>
          <p:cNvSpPr/>
          <p:nvPr/>
        </p:nvSpPr>
        <p:spPr>
          <a:xfrm>
            <a:off x="274320" y="2955742"/>
            <a:ext cx="4114800" cy="1735130"/>
          </a:xfrm>
          <a:prstGeom prst="rect">
            <a:avLst/>
          </a:prstGeom>
          <a:solidFill>
            <a:schemeClr val="bg1">
              <a:lumMod val="85000"/>
            </a:schemeClr>
          </a:solidFill>
          <a:ln w="12700">
            <a:solidFill>
              <a:srgbClr val="22C55E"/>
            </a:solidFill>
            <a:prstDash val="solid"/>
          </a:ln>
        </p:spPr>
        <p:txBody>
          <a:bodyPr/>
          <a:lstStyle/>
          <a:p>
            <a:endParaRPr lang="en-IN" dirty="0">
              <a:highlight>
                <a:srgbClr val="808000"/>
              </a:highlight>
            </a:endParaRPr>
          </a:p>
        </p:txBody>
      </p:sp>
      <p:sp>
        <p:nvSpPr>
          <p:cNvPr id="32" name="Text 30"/>
          <p:cNvSpPr/>
          <p:nvPr/>
        </p:nvSpPr>
        <p:spPr>
          <a:xfrm>
            <a:off x="365760" y="3022650"/>
            <a:ext cx="3931920" cy="1640790"/>
          </a:xfrm>
          <a:prstGeom prst="rect">
            <a:avLst/>
          </a:prstGeom>
          <a:noFill/>
          <a:ln/>
        </p:spPr>
        <p:txBody>
          <a:bodyPr wrap="square" lIns="0" tIns="0" rIns="0" bIns="0" rtlCol="0" anchor="ctr"/>
          <a:lstStyle/>
          <a:p>
            <a:pPr marL="0" indent="0">
              <a:buNone/>
            </a:pPr>
            <a:r>
              <a:rPr lang="en-US" sz="850" dirty="0">
                <a:solidFill>
                  <a:schemeClr val="tx1">
                    <a:lumMod val="95000"/>
                    <a:lumOff val="5000"/>
                  </a:schemeClr>
                </a:solidFill>
                <a:latin typeface="Consolas" pitchFamily="34" charset="0"/>
                <a:ea typeface="Consolas" pitchFamily="34" charset="-122"/>
                <a:cs typeface="Consolas" pitchFamily="34" charset="-120"/>
              </a:rPr>
              <a:t>APSDMA EARLY WARNING ALERT</a:t>
            </a:r>
            <a:endParaRPr lang="en-US" sz="850" dirty="0">
              <a:solidFill>
                <a:schemeClr val="tx1">
                  <a:lumMod val="95000"/>
                  <a:lumOff val="5000"/>
                </a:schemeClr>
              </a:solidFill>
            </a:endParaRPr>
          </a:p>
          <a:p>
            <a:pPr marL="0" indent="0">
              <a:buNone/>
            </a:pPr>
            <a:r>
              <a:rPr lang="en-US" sz="850" dirty="0">
                <a:solidFill>
                  <a:schemeClr val="tx1">
                    <a:lumMod val="95000"/>
                    <a:lumOff val="5000"/>
                  </a:schemeClr>
                </a:solidFill>
                <a:latin typeface="Consolas" pitchFamily="34" charset="0"/>
                <a:ea typeface="Consolas" pitchFamily="34" charset="-122"/>
                <a:cs typeface="Consolas" pitchFamily="34" charset="-120"/>
              </a:rPr>
              <a:t>Date: Nov 18, 2021 | 08:15 AM</a:t>
            </a:r>
            <a:endParaRPr lang="en-US" sz="850" dirty="0">
              <a:solidFill>
                <a:schemeClr val="tx1">
                  <a:lumMod val="95000"/>
                  <a:lumOff val="5000"/>
                </a:schemeClr>
              </a:solidFill>
            </a:endParaRPr>
          </a:p>
          <a:p>
            <a:pPr marL="0" indent="0">
              <a:buNone/>
            </a:pPr>
            <a:r>
              <a:rPr lang="en-US" sz="850" dirty="0">
                <a:solidFill>
                  <a:schemeClr val="tx1">
                    <a:lumMod val="95000"/>
                    <a:lumOff val="5000"/>
                  </a:schemeClr>
                </a:solidFill>
                <a:latin typeface="Consolas" pitchFamily="34" charset="0"/>
                <a:ea typeface="Consolas" pitchFamily="34" charset="-122"/>
                <a:cs typeface="Consolas" pitchFamily="34" charset="-120"/>
              </a:rPr>
              <a:t>Zone: Mandapalli, Togurupeta,</a:t>
            </a:r>
            <a:endParaRPr lang="en-US" sz="850" dirty="0">
              <a:solidFill>
                <a:schemeClr val="tx1">
                  <a:lumMod val="95000"/>
                  <a:lumOff val="5000"/>
                </a:schemeClr>
              </a:solidFill>
            </a:endParaRPr>
          </a:p>
          <a:p>
            <a:pPr marL="0" indent="0">
              <a:buNone/>
            </a:pPr>
            <a:r>
              <a:rPr lang="en-US" sz="850" dirty="0">
                <a:solidFill>
                  <a:schemeClr val="tx1">
                    <a:lumMod val="95000"/>
                    <a:lumOff val="5000"/>
                  </a:schemeClr>
                </a:solidFill>
                <a:latin typeface="Consolas" pitchFamily="34" charset="0"/>
                <a:ea typeface="Consolas" pitchFamily="34" charset="-122"/>
                <a:cs typeface="Consolas" pitchFamily="34" charset="-120"/>
              </a:rPr>
              <a:t>      Pulapathur, Gundlur</a:t>
            </a:r>
            <a:endParaRPr lang="en-US" sz="850" dirty="0">
              <a:solidFill>
                <a:schemeClr val="tx1">
                  <a:lumMod val="95000"/>
                  <a:lumOff val="5000"/>
                </a:schemeClr>
              </a:solidFill>
            </a:endParaRPr>
          </a:p>
          <a:p>
            <a:pPr marL="0" indent="0">
              <a:buNone/>
            </a:pPr>
            <a:endParaRPr lang="en-US" sz="850" dirty="0">
              <a:solidFill>
                <a:schemeClr val="tx1">
                  <a:lumMod val="95000"/>
                  <a:lumOff val="5000"/>
                </a:schemeClr>
              </a:solidFill>
            </a:endParaRPr>
          </a:p>
          <a:p>
            <a:pPr marL="0" indent="0">
              <a:buNone/>
            </a:pPr>
            <a:r>
              <a:rPr lang="en-US" sz="850" dirty="0">
                <a:solidFill>
                  <a:schemeClr val="tx1">
                    <a:lumMod val="95000"/>
                    <a:lumOff val="5000"/>
                  </a:schemeClr>
                </a:solidFill>
                <a:latin typeface="Consolas" pitchFamily="34" charset="0"/>
                <a:ea typeface="Consolas" pitchFamily="34" charset="-122"/>
                <a:cs typeface="Consolas" pitchFamily="34" charset="-120"/>
              </a:rPr>
              <a:t>⚠️ RISK: CRITICAL</a:t>
            </a:r>
            <a:endParaRPr lang="en-US" sz="850" dirty="0">
              <a:solidFill>
                <a:schemeClr val="tx1">
                  <a:lumMod val="95000"/>
                  <a:lumOff val="5000"/>
                </a:schemeClr>
              </a:solidFill>
            </a:endParaRPr>
          </a:p>
          <a:p>
            <a:pPr marL="0" indent="0">
              <a:buNone/>
            </a:pPr>
            <a:r>
              <a:rPr lang="en-US" sz="850" dirty="0">
                <a:solidFill>
                  <a:schemeClr val="tx1">
                    <a:lumMod val="95000"/>
                    <a:lumOff val="5000"/>
                  </a:schemeClr>
                </a:solidFill>
                <a:latin typeface="Consolas" pitchFamily="34" charset="0"/>
                <a:ea typeface="Consolas" pitchFamily="34" charset="-122"/>
                <a:cs typeface="Consolas" pitchFamily="34" charset="-120"/>
              </a:rPr>
              <a:t>Pincha catchment — extreme inflow</a:t>
            </a:r>
            <a:endParaRPr lang="en-US" sz="850" dirty="0">
              <a:solidFill>
                <a:schemeClr val="tx1">
                  <a:lumMod val="95000"/>
                  <a:lumOff val="5000"/>
                </a:schemeClr>
              </a:solidFill>
            </a:endParaRPr>
          </a:p>
          <a:p>
            <a:pPr marL="0" indent="0">
              <a:buNone/>
            </a:pPr>
            <a:r>
              <a:rPr lang="en-US" sz="850" dirty="0">
                <a:solidFill>
                  <a:schemeClr val="tx1">
                    <a:lumMod val="95000"/>
                    <a:lumOff val="5000"/>
                  </a:schemeClr>
                </a:solidFill>
                <a:latin typeface="Consolas" pitchFamily="34" charset="0"/>
                <a:ea typeface="Consolas" pitchFamily="34" charset="-122"/>
                <a:cs typeface="Consolas" pitchFamily="34" charset="-120"/>
              </a:rPr>
              <a:t>rising rapidly. Dam at risk.</a:t>
            </a:r>
            <a:endParaRPr lang="en-US" sz="850" dirty="0">
              <a:solidFill>
                <a:schemeClr val="tx1">
                  <a:lumMod val="95000"/>
                  <a:lumOff val="5000"/>
                </a:schemeClr>
              </a:solidFill>
            </a:endParaRPr>
          </a:p>
          <a:p>
            <a:pPr marL="0" indent="0">
              <a:buNone/>
            </a:pPr>
            <a:endParaRPr lang="en-US" sz="850" dirty="0">
              <a:solidFill>
                <a:schemeClr val="tx1">
                  <a:lumMod val="95000"/>
                  <a:lumOff val="5000"/>
                </a:schemeClr>
              </a:solidFill>
            </a:endParaRPr>
          </a:p>
          <a:p>
            <a:pPr marL="0" indent="0">
              <a:buNone/>
            </a:pPr>
            <a:r>
              <a:rPr lang="en-US" sz="850" dirty="0">
                <a:solidFill>
                  <a:schemeClr val="tx1">
                    <a:lumMod val="95000"/>
                    <a:lumOff val="5000"/>
                  </a:schemeClr>
                </a:solidFill>
                <a:latin typeface="Consolas" pitchFamily="34" charset="0"/>
                <a:ea typeface="Consolas" pitchFamily="34" charset="-122"/>
                <a:cs typeface="Consolas" pitchFamily="34" charset="-120"/>
              </a:rPr>
              <a:t>ACTION: Move IMMEDIATELY</a:t>
            </a:r>
            <a:endParaRPr lang="en-US" sz="850" dirty="0">
              <a:solidFill>
                <a:schemeClr val="tx1">
                  <a:lumMod val="95000"/>
                  <a:lumOff val="5000"/>
                </a:schemeClr>
              </a:solidFill>
            </a:endParaRPr>
          </a:p>
          <a:p>
            <a:pPr marL="0" indent="0">
              <a:buNone/>
            </a:pPr>
            <a:r>
              <a:rPr lang="en-US" sz="850" dirty="0">
                <a:solidFill>
                  <a:schemeClr val="tx1">
                    <a:lumMod val="95000"/>
                    <a:lumOff val="5000"/>
                  </a:schemeClr>
                </a:solidFill>
                <a:latin typeface="Consolas" pitchFamily="34" charset="0"/>
                <a:ea typeface="Consolas" pitchFamily="34" charset="-122"/>
                <a:cs typeface="Consolas" pitchFamily="34" charset="-120"/>
              </a:rPr>
              <a:t>Relief: Rajampet Govt School</a:t>
            </a:r>
            <a:endParaRPr lang="en-US" sz="850" dirty="0">
              <a:solidFill>
                <a:schemeClr val="tx1">
                  <a:lumMod val="95000"/>
                  <a:lumOff val="5000"/>
                </a:schemeClr>
              </a:solidFill>
            </a:endParaRPr>
          </a:p>
          <a:p>
            <a:pPr marL="0" indent="0">
              <a:buNone/>
            </a:pPr>
            <a:r>
              <a:rPr lang="en-US" sz="850" dirty="0">
                <a:solidFill>
                  <a:schemeClr val="tx1">
                    <a:lumMod val="95000"/>
                    <a:lumOff val="5000"/>
                  </a:schemeClr>
                </a:solidFill>
                <a:latin typeface="Consolas" pitchFamily="34" charset="0"/>
                <a:ea typeface="Consolas" pitchFamily="34" charset="-122"/>
                <a:cs typeface="Consolas" pitchFamily="34" charset="-120"/>
              </a:rPr>
              <a:t>Helpline: </a:t>
            </a:r>
            <a:r>
              <a:rPr lang="en-US" sz="850" dirty="0">
                <a:solidFill>
                  <a:schemeClr val="tx1">
                    <a:lumMod val="95000"/>
                    <a:lumOff val="5000"/>
                  </a:schemeClr>
                </a:solidFill>
                <a:latin typeface="Consolas" pitchFamily="34" charset="0"/>
              </a:rPr>
              <a:t>1800-XXX-XXXX</a:t>
            </a:r>
          </a:p>
          <a:p>
            <a:pPr marL="0" indent="0">
              <a:buNone/>
            </a:pPr>
            <a:r>
              <a:rPr lang="en-US" sz="850" dirty="0">
                <a:solidFill>
                  <a:schemeClr val="tx1">
                    <a:lumMod val="95000"/>
                    <a:lumOff val="5000"/>
                  </a:schemeClr>
                </a:solidFill>
                <a:latin typeface="Consolas" pitchFamily="34" charset="0"/>
              </a:rPr>
              <a:t>— APSDMA</a:t>
            </a:r>
          </a:p>
        </p:txBody>
      </p:sp>
      <p:sp>
        <p:nvSpPr>
          <p:cNvPr id="33" name="Shape 31"/>
          <p:cNvSpPr/>
          <p:nvPr/>
        </p:nvSpPr>
        <p:spPr>
          <a:xfrm>
            <a:off x="4663440" y="2967786"/>
            <a:ext cx="4206240" cy="1723086"/>
          </a:xfrm>
          <a:prstGeom prst="rect">
            <a:avLst/>
          </a:prstGeom>
          <a:solidFill>
            <a:schemeClr val="bg1">
              <a:lumMod val="85000"/>
            </a:schemeClr>
          </a:solidFill>
          <a:ln w="12700">
            <a:solidFill>
              <a:srgbClr val="22C55E"/>
            </a:solidFill>
            <a:prstDash val="solid"/>
          </a:ln>
        </p:spPr>
        <p:txBody>
          <a:bodyPr/>
          <a:lstStyle/>
          <a:p>
            <a:endParaRPr lang="en-IN"/>
          </a:p>
        </p:txBody>
      </p:sp>
      <p:sp>
        <p:nvSpPr>
          <p:cNvPr id="34" name="Text 32"/>
          <p:cNvSpPr/>
          <p:nvPr/>
        </p:nvSpPr>
        <p:spPr>
          <a:xfrm>
            <a:off x="4754880" y="3108960"/>
            <a:ext cx="4023360" cy="1517904"/>
          </a:xfrm>
          <a:prstGeom prst="rect">
            <a:avLst/>
          </a:prstGeom>
          <a:noFill/>
          <a:ln/>
        </p:spPr>
        <p:txBody>
          <a:bodyPr wrap="square" lIns="0" tIns="0" rIns="0" bIns="0" rtlCol="0" anchor="ctr"/>
          <a:lstStyle/>
          <a:p>
            <a:r>
              <a:rPr lang="en-US" sz="850" dirty="0">
                <a:solidFill>
                  <a:schemeClr val="tx1">
                    <a:lumMod val="95000"/>
                    <a:lumOff val="5000"/>
                  </a:schemeClr>
                </a:solidFill>
                <a:latin typeface="Consolas" pitchFamily="34" charset="0"/>
              </a:rPr>
              <a:t>APSDMA </a:t>
            </a:r>
            <a:r>
              <a:rPr lang="en-US" sz="850" dirty="0" err="1">
                <a:solidFill>
                  <a:schemeClr val="tx1">
                    <a:lumMod val="95000"/>
                    <a:lumOff val="5000"/>
                  </a:schemeClr>
                </a:solidFill>
                <a:latin typeface="Consolas" pitchFamily="34" charset="0"/>
              </a:rPr>
              <a:t>హెచ్చరిక</a:t>
            </a:r>
            <a:r>
              <a:rPr lang="en-US" sz="850" dirty="0">
                <a:solidFill>
                  <a:schemeClr val="tx1">
                    <a:lumMod val="95000"/>
                    <a:lumOff val="5000"/>
                  </a:schemeClr>
                </a:solidFill>
                <a:latin typeface="Consolas" pitchFamily="34" charset="0"/>
              </a:rPr>
              <a:t> </a:t>
            </a:r>
            <a:r>
              <a:rPr lang="en-US" sz="850" dirty="0" err="1">
                <a:solidFill>
                  <a:schemeClr val="tx1">
                    <a:lumMod val="95000"/>
                    <a:lumOff val="5000"/>
                  </a:schemeClr>
                </a:solidFill>
                <a:latin typeface="Consolas" pitchFamily="34" charset="0"/>
              </a:rPr>
              <a:t>సందేశం</a:t>
            </a:r>
            <a:endParaRPr lang="en-US" sz="850" dirty="0">
              <a:solidFill>
                <a:schemeClr val="tx1">
                  <a:lumMod val="95000"/>
                  <a:lumOff val="5000"/>
                </a:schemeClr>
              </a:solidFill>
              <a:latin typeface="Consolas" pitchFamily="34" charset="0"/>
            </a:endParaRPr>
          </a:p>
          <a:p>
            <a:r>
              <a:rPr lang="en-US" sz="850" dirty="0">
                <a:solidFill>
                  <a:schemeClr val="tx1">
                    <a:lumMod val="95000"/>
                    <a:lumOff val="5000"/>
                  </a:schemeClr>
                </a:solidFill>
                <a:latin typeface="Consolas" pitchFamily="34" charset="0"/>
              </a:rPr>
              <a:t>తేదీ: నవంబర్ 18, 2021 | 08:15 AM</a:t>
            </a:r>
          </a:p>
          <a:p>
            <a:r>
              <a:rPr lang="en-US" sz="850" dirty="0">
                <a:solidFill>
                  <a:schemeClr val="tx1">
                    <a:lumMod val="95000"/>
                    <a:lumOff val="5000"/>
                  </a:schemeClr>
                </a:solidFill>
                <a:latin typeface="Consolas" pitchFamily="34" charset="0"/>
              </a:rPr>
              <a:t>ప్రాంతం: మండపల్లి, </a:t>
            </a:r>
            <a:r>
              <a:rPr lang="en-US" sz="850" dirty="0" err="1">
                <a:solidFill>
                  <a:schemeClr val="tx1">
                    <a:lumMod val="95000"/>
                    <a:lumOff val="5000"/>
                  </a:schemeClr>
                </a:solidFill>
                <a:latin typeface="Consolas" pitchFamily="34" charset="0"/>
              </a:rPr>
              <a:t>తోగురుపేట</a:t>
            </a:r>
            <a:r>
              <a:rPr lang="en-US" sz="850" dirty="0">
                <a:solidFill>
                  <a:schemeClr val="tx1">
                    <a:lumMod val="95000"/>
                    <a:lumOff val="5000"/>
                  </a:schemeClr>
                </a:solidFill>
                <a:latin typeface="Consolas" pitchFamily="34" charset="0"/>
              </a:rPr>
              <a:t>,</a:t>
            </a:r>
          </a:p>
          <a:p>
            <a:r>
              <a:rPr lang="en-US" sz="850" dirty="0">
                <a:solidFill>
                  <a:schemeClr val="tx1">
                    <a:lumMod val="95000"/>
                    <a:lumOff val="5000"/>
                  </a:schemeClr>
                </a:solidFill>
                <a:latin typeface="Consolas" pitchFamily="34" charset="0"/>
              </a:rPr>
              <a:t>       పులపత్తూర్, </a:t>
            </a:r>
            <a:r>
              <a:rPr lang="en-US" sz="850" dirty="0" err="1">
                <a:solidFill>
                  <a:schemeClr val="tx1">
                    <a:lumMod val="95000"/>
                    <a:lumOff val="5000"/>
                  </a:schemeClr>
                </a:solidFill>
                <a:latin typeface="Consolas" pitchFamily="34" charset="0"/>
              </a:rPr>
              <a:t>గుండ్లూరు</a:t>
            </a:r>
            <a:endParaRPr lang="en-US" sz="850" dirty="0">
              <a:solidFill>
                <a:schemeClr val="tx1">
                  <a:lumMod val="95000"/>
                  <a:lumOff val="5000"/>
                </a:schemeClr>
              </a:solidFill>
              <a:latin typeface="Consolas" pitchFamily="34" charset="0"/>
            </a:endParaRPr>
          </a:p>
          <a:p>
            <a:endParaRPr lang="en-US" sz="850" dirty="0">
              <a:solidFill>
                <a:schemeClr val="tx1">
                  <a:lumMod val="95000"/>
                  <a:lumOff val="5000"/>
                </a:schemeClr>
              </a:solidFill>
              <a:latin typeface="Consolas" pitchFamily="34" charset="0"/>
            </a:endParaRPr>
          </a:p>
          <a:p>
            <a:r>
              <a:rPr lang="en-US" sz="850" dirty="0">
                <a:solidFill>
                  <a:schemeClr val="tx1">
                    <a:lumMod val="95000"/>
                    <a:lumOff val="5000"/>
                  </a:schemeClr>
                </a:solidFill>
                <a:latin typeface="Consolas" pitchFamily="34" charset="0"/>
              </a:rPr>
              <a:t>⚠️ ప్రమాదం: </a:t>
            </a:r>
            <a:r>
              <a:rPr lang="en-US" sz="850" dirty="0" err="1">
                <a:solidFill>
                  <a:schemeClr val="tx1">
                    <a:lumMod val="95000"/>
                    <a:lumOff val="5000"/>
                  </a:schemeClr>
                </a:solidFill>
                <a:latin typeface="Consolas" pitchFamily="34" charset="0"/>
              </a:rPr>
              <a:t>తీవ్రం</a:t>
            </a:r>
            <a:endParaRPr lang="en-US" sz="850" dirty="0">
              <a:solidFill>
                <a:schemeClr val="tx1">
                  <a:lumMod val="95000"/>
                  <a:lumOff val="5000"/>
                </a:schemeClr>
              </a:solidFill>
              <a:latin typeface="Consolas" pitchFamily="34" charset="0"/>
            </a:endParaRPr>
          </a:p>
          <a:p>
            <a:r>
              <a:rPr lang="en-US" sz="850" dirty="0">
                <a:solidFill>
                  <a:schemeClr val="tx1">
                    <a:lumMod val="95000"/>
                    <a:lumOff val="5000"/>
                  </a:schemeClr>
                </a:solidFill>
                <a:latin typeface="Consolas" pitchFamily="34" charset="0"/>
              </a:rPr>
              <a:t>పించా ప్రాజెక్ట్ వద్ద </a:t>
            </a:r>
            <a:r>
              <a:rPr lang="en-US" sz="850" dirty="0" err="1">
                <a:solidFill>
                  <a:schemeClr val="tx1">
                    <a:lumMod val="95000"/>
                    <a:lumOff val="5000"/>
                  </a:schemeClr>
                </a:solidFill>
                <a:latin typeface="Consolas" pitchFamily="34" charset="0"/>
              </a:rPr>
              <a:t>నీటి</a:t>
            </a:r>
            <a:r>
              <a:rPr lang="en-US" sz="850" dirty="0">
                <a:solidFill>
                  <a:schemeClr val="tx1">
                    <a:lumMod val="95000"/>
                    <a:lumOff val="5000"/>
                  </a:schemeClr>
                </a:solidFill>
                <a:latin typeface="Consolas" pitchFamily="34" charset="0"/>
              </a:rPr>
              <a:t> </a:t>
            </a:r>
            <a:r>
              <a:rPr lang="en-US" sz="850" dirty="0" err="1">
                <a:solidFill>
                  <a:schemeClr val="tx1">
                    <a:lumMod val="95000"/>
                    <a:lumOff val="5000"/>
                  </a:schemeClr>
                </a:solidFill>
                <a:latin typeface="Consolas" pitchFamily="34" charset="0"/>
              </a:rPr>
              <a:t>మట్టాలు</a:t>
            </a:r>
            <a:endParaRPr lang="en-US" sz="850" dirty="0">
              <a:solidFill>
                <a:schemeClr val="tx1">
                  <a:lumMod val="95000"/>
                  <a:lumOff val="5000"/>
                </a:schemeClr>
              </a:solidFill>
              <a:latin typeface="Consolas" pitchFamily="34" charset="0"/>
            </a:endParaRPr>
          </a:p>
          <a:p>
            <a:r>
              <a:rPr lang="en-US" sz="850" dirty="0">
                <a:solidFill>
                  <a:schemeClr val="tx1">
                    <a:lumMod val="95000"/>
                    <a:lumOff val="5000"/>
                  </a:schemeClr>
                </a:solidFill>
                <a:latin typeface="Consolas" pitchFamily="34" charset="0"/>
              </a:rPr>
              <a:t>వేగంగా </a:t>
            </a:r>
            <a:r>
              <a:rPr lang="en-US" sz="850" dirty="0" err="1">
                <a:solidFill>
                  <a:schemeClr val="tx1">
                    <a:lumMod val="95000"/>
                    <a:lumOff val="5000"/>
                  </a:schemeClr>
                </a:solidFill>
                <a:latin typeface="Consolas" pitchFamily="34" charset="0"/>
              </a:rPr>
              <a:t>పెరుగుతున్నాయి</a:t>
            </a:r>
            <a:r>
              <a:rPr lang="en-US" sz="850" dirty="0">
                <a:solidFill>
                  <a:schemeClr val="tx1">
                    <a:lumMod val="95000"/>
                    <a:lumOff val="5000"/>
                  </a:schemeClr>
                </a:solidFill>
                <a:latin typeface="Consolas" pitchFamily="34" charset="0"/>
              </a:rPr>
              <a:t>.</a:t>
            </a:r>
          </a:p>
          <a:p>
            <a:endParaRPr lang="en-US" sz="850" dirty="0">
              <a:solidFill>
                <a:schemeClr val="tx1">
                  <a:lumMod val="95000"/>
                  <a:lumOff val="5000"/>
                </a:schemeClr>
              </a:solidFill>
              <a:latin typeface="Consolas" pitchFamily="34" charset="0"/>
            </a:endParaRPr>
          </a:p>
          <a:p>
            <a:r>
              <a:rPr lang="en-US" sz="850" dirty="0">
                <a:solidFill>
                  <a:schemeClr val="tx1">
                    <a:lumMod val="95000"/>
                    <a:lumOff val="5000"/>
                  </a:schemeClr>
                </a:solidFill>
                <a:latin typeface="Consolas" pitchFamily="34" charset="0"/>
              </a:rPr>
              <a:t>చర్య: </a:t>
            </a:r>
            <a:r>
              <a:rPr lang="en-US" sz="850" dirty="0" err="1">
                <a:solidFill>
                  <a:schemeClr val="tx1">
                    <a:lumMod val="95000"/>
                    <a:lumOff val="5000"/>
                  </a:schemeClr>
                </a:solidFill>
                <a:latin typeface="Consolas" pitchFamily="34" charset="0"/>
              </a:rPr>
              <a:t>వెంటనే</a:t>
            </a:r>
            <a:r>
              <a:rPr lang="en-US" sz="850" dirty="0">
                <a:solidFill>
                  <a:schemeClr val="tx1">
                    <a:lumMod val="95000"/>
                    <a:lumOff val="5000"/>
                  </a:schemeClr>
                </a:solidFill>
                <a:latin typeface="Consolas" pitchFamily="34" charset="0"/>
              </a:rPr>
              <a:t> </a:t>
            </a:r>
            <a:r>
              <a:rPr lang="en-US" sz="850" dirty="0" err="1">
                <a:solidFill>
                  <a:schemeClr val="tx1">
                    <a:lumMod val="95000"/>
                    <a:lumOff val="5000"/>
                  </a:schemeClr>
                </a:solidFill>
                <a:latin typeface="Consolas" pitchFamily="34" charset="0"/>
              </a:rPr>
              <a:t>వెళ్ళండి</a:t>
            </a:r>
            <a:endParaRPr lang="en-US" sz="850" dirty="0">
              <a:solidFill>
                <a:schemeClr val="tx1">
                  <a:lumMod val="95000"/>
                  <a:lumOff val="5000"/>
                </a:schemeClr>
              </a:solidFill>
              <a:latin typeface="Consolas" pitchFamily="34" charset="0"/>
            </a:endParaRPr>
          </a:p>
          <a:p>
            <a:r>
              <a:rPr lang="en-US" sz="850" dirty="0">
                <a:solidFill>
                  <a:schemeClr val="tx1">
                    <a:lumMod val="95000"/>
                    <a:lumOff val="5000"/>
                  </a:schemeClr>
                </a:solidFill>
                <a:latin typeface="Consolas" pitchFamily="34" charset="0"/>
              </a:rPr>
              <a:t>సహాయ శిబిరం: </a:t>
            </a:r>
            <a:r>
              <a:rPr lang="en-US" sz="850" dirty="0" err="1">
                <a:solidFill>
                  <a:schemeClr val="tx1">
                    <a:lumMod val="95000"/>
                    <a:lumOff val="5000"/>
                  </a:schemeClr>
                </a:solidFill>
                <a:latin typeface="Consolas" pitchFamily="34" charset="0"/>
              </a:rPr>
              <a:t>రాజంపేట</a:t>
            </a:r>
            <a:endParaRPr lang="en-US" sz="850" dirty="0">
              <a:solidFill>
                <a:schemeClr val="tx1">
                  <a:lumMod val="95000"/>
                  <a:lumOff val="5000"/>
                </a:schemeClr>
              </a:solidFill>
              <a:latin typeface="Consolas" pitchFamily="34" charset="0"/>
            </a:endParaRPr>
          </a:p>
          <a:p>
            <a:r>
              <a:rPr lang="en-US" sz="850" dirty="0">
                <a:solidFill>
                  <a:schemeClr val="tx1">
                    <a:lumMod val="95000"/>
                    <a:lumOff val="5000"/>
                  </a:schemeClr>
                </a:solidFill>
                <a:latin typeface="Consolas" pitchFamily="34" charset="0"/>
              </a:rPr>
              <a:t>హెల్ప్‌లైన్: 1800-XXX-XXXX</a:t>
            </a:r>
          </a:p>
        </p:txBody>
      </p:sp>
      <p:sp>
        <p:nvSpPr>
          <p:cNvPr id="35" name="Shape 33"/>
          <p:cNvSpPr/>
          <p:nvPr/>
        </p:nvSpPr>
        <p:spPr>
          <a:xfrm>
            <a:off x="0" y="4818888"/>
            <a:ext cx="9144000" cy="324612"/>
          </a:xfrm>
          <a:prstGeom prst="rect">
            <a:avLst/>
          </a:prstGeom>
          <a:solidFill>
            <a:srgbClr val="E2E8F0"/>
          </a:solidFill>
          <a:ln w="12700">
            <a:solidFill>
              <a:srgbClr val="E2E8F0"/>
            </a:solidFill>
            <a:prstDash val="solid"/>
          </a:ln>
        </p:spPr>
        <p:txBody>
          <a:bodyPr/>
          <a:lstStyle/>
          <a:p>
            <a:endParaRPr lang="en-IN"/>
          </a:p>
        </p:txBody>
      </p:sp>
      <p:sp>
        <p:nvSpPr>
          <p:cNvPr id="36" name="Text 34"/>
          <p:cNvSpPr/>
          <p:nvPr/>
        </p:nvSpPr>
        <p:spPr>
          <a:xfrm>
            <a:off x="274320" y="4837176"/>
            <a:ext cx="7772400" cy="27432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AP-Wrims Early Warning System  |  HierachAI Technologies Pvt. Ltd.  |  DPIIT Recognised · Women-Led · Andhra Pradesh</a:t>
            </a:r>
            <a:endParaRPr lang="en-US" sz="800" dirty="0"/>
          </a:p>
        </p:txBody>
      </p:sp>
      <p:sp>
        <p:nvSpPr>
          <p:cNvPr id="37" name="Text 35"/>
          <p:cNvSpPr/>
          <p:nvPr/>
        </p:nvSpPr>
        <p:spPr>
          <a:xfrm>
            <a:off x="8046720" y="4837176"/>
            <a:ext cx="914400" cy="274320"/>
          </a:xfrm>
          <a:prstGeom prst="rect">
            <a:avLst/>
          </a:prstGeom>
          <a:noFill/>
          <a:ln/>
        </p:spPr>
        <p:txBody>
          <a:bodyPr wrap="square" lIns="0" tIns="0" rIns="0" bIns="0" rtlCol="0" anchor="ctr"/>
          <a:lstStyle/>
          <a:p>
            <a:pPr marL="0" indent="0" algn="r">
              <a:buNone/>
            </a:pPr>
            <a:r>
              <a:rPr lang="en-US" sz="800" dirty="0">
                <a:solidFill>
                  <a:srgbClr val="1E3A5F"/>
                </a:solidFill>
                <a:latin typeface="Calibri" pitchFamily="34" charset="0"/>
                <a:ea typeface="Calibri" pitchFamily="34" charset="-122"/>
                <a:cs typeface="Calibri" pitchFamily="34" charset="-120"/>
              </a:rPr>
              <a:t>10 / 16</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txBody>
          <a:bodyPr/>
          <a:lstStyle/>
          <a:p>
            <a:endParaRPr lang="en-IN"/>
          </a:p>
        </p:txBody>
      </p:sp>
      <p:sp>
        <p:nvSpPr>
          <p:cNvPr id="3" name="Shape 1"/>
          <p:cNvSpPr/>
          <p:nvPr/>
        </p:nvSpPr>
        <p:spPr>
          <a:xfrm>
            <a:off x="0" y="73152"/>
            <a:ext cx="9144000" cy="658368"/>
          </a:xfrm>
          <a:prstGeom prst="rect">
            <a:avLst/>
          </a:prstGeom>
          <a:solidFill>
            <a:srgbClr val="FFFFFF"/>
          </a:solidFill>
          <a:ln w="12700">
            <a:solidFill>
              <a:srgbClr val="E2E8F0"/>
            </a:solidFill>
            <a:prstDash val="solid"/>
          </a:ln>
        </p:spPr>
        <p:txBody>
          <a:bodyPr/>
          <a:lstStyle/>
          <a:p>
            <a:endParaRPr lang="en-IN"/>
          </a:p>
        </p:txBody>
      </p:sp>
      <p:sp>
        <p:nvSpPr>
          <p:cNvPr id="4" name="Text 2"/>
          <p:cNvSpPr/>
          <p:nvPr/>
        </p:nvSpPr>
        <p:spPr>
          <a:xfrm>
            <a:off x="365760" y="91440"/>
            <a:ext cx="8412480" cy="475488"/>
          </a:xfrm>
          <a:prstGeom prst="rect">
            <a:avLst/>
          </a:prstGeom>
          <a:noFill/>
          <a:ln/>
        </p:spPr>
        <p:txBody>
          <a:bodyPr wrap="square" lIns="0" tIns="0" rIns="0" bIns="0" rtlCol="0" anchor="ctr"/>
          <a:lstStyle/>
          <a:p>
            <a:pPr marL="0" indent="0">
              <a:buNone/>
            </a:pPr>
            <a:r>
              <a:rPr lang="en-US" sz="2000" b="1" dirty="0">
                <a:solidFill>
                  <a:srgbClr val="0F172A"/>
                </a:solidFill>
                <a:latin typeface="Calibri" pitchFamily="34" charset="0"/>
                <a:ea typeface="Calibri" pitchFamily="34" charset="-122"/>
                <a:cs typeface="Calibri" pitchFamily="34" charset="-120"/>
              </a:rPr>
              <a:t>💰  Cost Efficiency &amp; Scale — Built for Government</a:t>
            </a:r>
            <a:endParaRPr lang="en-US" sz="2000" dirty="0"/>
          </a:p>
        </p:txBody>
      </p:sp>
      <p:sp>
        <p:nvSpPr>
          <p:cNvPr id="5" name="Shape 3"/>
          <p:cNvSpPr/>
          <p:nvPr/>
        </p:nvSpPr>
        <p:spPr>
          <a:xfrm>
            <a:off x="0" y="731520"/>
            <a:ext cx="9144000" cy="256032"/>
          </a:xfrm>
          <a:prstGeom prst="rect">
            <a:avLst/>
          </a:prstGeom>
          <a:solidFill>
            <a:srgbClr val="EFF6FF"/>
          </a:solidFill>
          <a:ln w="12700">
            <a:solidFill>
              <a:srgbClr val="BFDBFE"/>
            </a:solidFill>
            <a:prstDash val="solid"/>
          </a:ln>
        </p:spPr>
        <p:txBody>
          <a:bodyPr/>
          <a:lstStyle/>
          <a:p>
            <a:endParaRPr lang="en-IN"/>
          </a:p>
        </p:txBody>
      </p:sp>
      <p:sp>
        <p:nvSpPr>
          <p:cNvPr id="6" name="Text 4"/>
          <p:cNvSpPr/>
          <p:nvPr/>
        </p:nvSpPr>
        <p:spPr>
          <a:xfrm>
            <a:off x="365760" y="749808"/>
            <a:ext cx="8412480" cy="219456"/>
          </a:xfrm>
          <a:prstGeom prst="rect">
            <a:avLst/>
          </a:prstGeom>
          <a:noFill/>
          <a:ln/>
        </p:spPr>
        <p:txBody>
          <a:bodyPr wrap="square" lIns="0" tIns="0" rIns="0" bIns="0" rtlCol="0" anchor="ctr"/>
          <a:lstStyle/>
          <a:p>
            <a:pPr marL="0" indent="0">
              <a:buNone/>
            </a:pPr>
            <a:r>
              <a:rPr lang="en-US" sz="950" dirty="0">
                <a:solidFill>
                  <a:srgbClr val="0284C7"/>
                </a:solidFill>
                <a:latin typeface="Calibri" pitchFamily="34" charset="0"/>
                <a:ea typeface="Calibri" pitchFamily="34" charset="-122"/>
                <a:cs typeface="Calibri" pitchFamily="34" charset="-120"/>
              </a:rPr>
              <a:t>Zero additional infrastructure cost · Scales to all 38,600 MI tanks in AP</a:t>
            </a:r>
            <a:endParaRPr lang="en-US" sz="950" dirty="0"/>
          </a:p>
        </p:txBody>
      </p:sp>
      <p:sp>
        <p:nvSpPr>
          <p:cNvPr id="7" name="Text 5"/>
          <p:cNvSpPr/>
          <p:nvPr/>
        </p:nvSpPr>
        <p:spPr>
          <a:xfrm>
            <a:off x="274320" y="1078992"/>
            <a:ext cx="4572000" cy="256032"/>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Cost Comparison</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274320" y="1371600"/>
          <a:ext cx="8595360" cy="2057398"/>
        </p:xfrm>
        <a:graphic>
          <a:graphicData uri="http://schemas.openxmlformats.org/drawingml/2006/table">
            <a:tbl>
              <a:tblPr/>
              <a:tblGrid>
                <a:gridCol w="365760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tblGrid>
              <a:tr h="293914">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Item</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3A5F"/>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Without System</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3A5F"/>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With Our System</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293914">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Sentinel-1 Satellite Data</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Not used</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₹0  (Free — ESA Copernicus)</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3914">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APWRIMS Data</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Siloed in portal</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₹0  (Already government owned)</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3914">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Manual inspection per season</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₹80–100 Cr (est.)</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₹15–20 Cr est. (indicative)</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3914">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Emergency relief per breach</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₹50–200 Crore</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Potentially avoided</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3914">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Annamayya reconstruction</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₹775 Crore (ongoing)</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Preventable with early warning</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3914">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Annual system operating cost</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₹2–5 Crore estimated</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9" name="Text 6"/>
          <p:cNvSpPr/>
          <p:nvPr/>
        </p:nvSpPr>
        <p:spPr>
          <a:xfrm>
            <a:off x="274320" y="3547872"/>
            <a:ext cx="4572000" cy="256032"/>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Scale &amp; Impact</a:t>
            </a:r>
            <a:endParaRPr lang="en-US" sz="1200" dirty="0"/>
          </a:p>
        </p:txBody>
      </p:sp>
      <p:sp>
        <p:nvSpPr>
          <p:cNvPr id="10" name="Shape 7"/>
          <p:cNvSpPr/>
          <p:nvPr/>
        </p:nvSpPr>
        <p:spPr>
          <a:xfrm>
            <a:off x="274320" y="3858768"/>
            <a:ext cx="2011680" cy="841248"/>
          </a:xfrm>
          <a:prstGeom prst="rect">
            <a:avLst/>
          </a:prstGeom>
          <a:solidFill>
            <a:srgbClr val="FFFFFF"/>
          </a:solidFill>
          <a:ln w="12700">
            <a:solidFill>
              <a:srgbClr val="0284C7"/>
            </a:solidFill>
            <a:prstDash val="solid"/>
          </a:ln>
          <a:effectLst>
            <a:outerShdw blurRad="76200" dist="25400" dir="8100000" algn="bl" rotWithShape="0">
              <a:srgbClr val="000000">
                <a:alpha val="10000"/>
              </a:srgbClr>
            </a:outerShdw>
          </a:effectLst>
        </p:spPr>
        <p:txBody>
          <a:bodyPr/>
          <a:lstStyle/>
          <a:p>
            <a:endParaRPr lang="en-IN"/>
          </a:p>
        </p:txBody>
      </p:sp>
      <p:sp>
        <p:nvSpPr>
          <p:cNvPr id="11" name="Shape 8"/>
          <p:cNvSpPr/>
          <p:nvPr/>
        </p:nvSpPr>
        <p:spPr>
          <a:xfrm>
            <a:off x="274320" y="3858768"/>
            <a:ext cx="2011680" cy="54864"/>
          </a:xfrm>
          <a:prstGeom prst="rect">
            <a:avLst/>
          </a:prstGeom>
          <a:solidFill>
            <a:srgbClr val="0284C7"/>
          </a:solidFill>
          <a:ln w="12700">
            <a:solidFill>
              <a:srgbClr val="0284C7"/>
            </a:solidFill>
            <a:prstDash val="solid"/>
          </a:ln>
        </p:spPr>
        <p:txBody>
          <a:bodyPr/>
          <a:lstStyle/>
          <a:p>
            <a:endParaRPr lang="en-IN"/>
          </a:p>
        </p:txBody>
      </p:sp>
      <p:sp>
        <p:nvSpPr>
          <p:cNvPr id="8" name="Text 9"/>
          <p:cNvSpPr/>
          <p:nvPr/>
        </p:nvSpPr>
        <p:spPr>
          <a:xfrm>
            <a:off x="274320" y="3931920"/>
            <a:ext cx="2011680" cy="384048"/>
          </a:xfrm>
          <a:prstGeom prst="rect">
            <a:avLst/>
          </a:prstGeom>
          <a:noFill/>
          <a:ln/>
        </p:spPr>
        <p:txBody>
          <a:bodyPr wrap="square" lIns="0" tIns="0" rIns="0" bIns="0" rtlCol="0" anchor="ctr"/>
          <a:lstStyle/>
          <a:p>
            <a:pPr marL="0" indent="0" algn="ctr">
              <a:buNone/>
            </a:pPr>
            <a:r>
              <a:rPr lang="en-US" sz="2200" b="1" dirty="0">
                <a:solidFill>
                  <a:srgbClr val="0284C7"/>
                </a:solidFill>
                <a:latin typeface="Calibri" pitchFamily="34" charset="0"/>
                <a:ea typeface="Calibri" pitchFamily="34" charset="-122"/>
                <a:cs typeface="Calibri" pitchFamily="34" charset="-120"/>
              </a:rPr>
              <a:t>38,600</a:t>
            </a:r>
            <a:endParaRPr lang="en-US" sz="2200" dirty="0"/>
          </a:p>
        </p:txBody>
      </p:sp>
      <p:sp>
        <p:nvSpPr>
          <p:cNvPr id="13" name="Text 10"/>
          <p:cNvSpPr/>
          <p:nvPr/>
        </p:nvSpPr>
        <p:spPr>
          <a:xfrm>
            <a:off x="274320" y="4297680"/>
            <a:ext cx="2011680" cy="201168"/>
          </a:xfrm>
          <a:prstGeom prst="rect">
            <a:avLst/>
          </a:prstGeom>
          <a:noFill/>
          <a:ln/>
        </p:spPr>
        <p:txBody>
          <a:bodyPr wrap="square" lIns="0" tIns="0" rIns="0" bIns="0" rtlCol="0" anchor="ctr"/>
          <a:lstStyle/>
          <a:p>
            <a:pPr marL="0" indent="0" algn="ctr">
              <a:buNone/>
            </a:pPr>
            <a:r>
              <a:rPr lang="en-US" sz="1000" b="1" dirty="0">
                <a:solidFill>
                  <a:srgbClr val="0F172A"/>
                </a:solidFill>
                <a:latin typeface="Calibri" pitchFamily="34" charset="0"/>
                <a:ea typeface="Calibri" pitchFamily="34" charset="-122"/>
                <a:cs typeface="Calibri" pitchFamily="34" charset="-120"/>
              </a:rPr>
              <a:t>MI Tanks</a:t>
            </a:r>
            <a:endParaRPr lang="en-US" sz="1000" dirty="0"/>
          </a:p>
        </p:txBody>
      </p:sp>
      <p:sp>
        <p:nvSpPr>
          <p:cNvPr id="14" name="Text 11"/>
          <p:cNvSpPr/>
          <p:nvPr/>
        </p:nvSpPr>
        <p:spPr>
          <a:xfrm>
            <a:off x="274320" y="4480560"/>
            <a:ext cx="2011680" cy="18288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AP Coverage</a:t>
            </a:r>
            <a:endParaRPr lang="en-US" sz="900" dirty="0"/>
          </a:p>
        </p:txBody>
      </p:sp>
      <p:sp>
        <p:nvSpPr>
          <p:cNvPr id="15" name="Shape 12"/>
          <p:cNvSpPr/>
          <p:nvPr/>
        </p:nvSpPr>
        <p:spPr>
          <a:xfrm>
            <a:off x="2450592" y="3858768"/>
            <a:ext cx="2011680" cy="841248"/>
          </a:xfrm>
          <a:prstGeom prst="rect">
            <a:avLst/>
          </a:prstGeom>
          <a:solidFill>
            <a:srgbClr val="FFFFFF"/>
          </a:solidFill>
          <a:ln w="12700">
            <a:solidFill>
              <a:srgbClr val="0D9488"/>
            </a:solidFill>
            <a:prstDash val="solid"/>
          </a:ln>
          <a:effectLst>
            <a:outerShdw blurRad="76200" dist="25400" dir="8100000" algn="bl" rotWithShape="0">
              <a:srgbClr val="000000">
                <a:alpha val="10000"/>
              </a:srgbClr>
            </a:outerShdw>
          </a:effectLst>
        </p:spPr>
        <p:txBody>
          <a:bodyPr/>
          <a:lstStyle/>
          <a:p>
            <a:endParaRPr lang="en-IN"/>
          </a:p>
        </p:txBody>
      </p:sp>
      <p:sp>
        <p:nvSpPr>
          <p:cNvPr id="16" name="Shape 13"/>
          <p:cNvSpPr/>
          <p:nvPr/>
        </p:nvSpPr>
        <p:spPr>
          <a:xfrm>
            <a:off x="2450592" y="3858768"/>
            <a:ext cx="2011680" cy="54864"/>
          </a:xfrm>
          <a:prstGeom prst="rect">
            <a:avLst/>
          </a:prstGeom>
          <a:solidFill>
            <a:srgbClr val="0D9488"/>
          </a:solidFill>
          <a:ln w="12700">
            <a:solidFill>
              <a:srgbClr val="0D9488"/>
            </a:solidFill>
            <a:prstDash val="solid"/>
          </a:ln>
        </p:spPr>
        <p:txBody>
          <a:bodyPr/>
          <a:lstStyle/>
          <a:p>
            <a:endParaRPr lang="en-IN"/>
          </a:p>
        </p:txBody>
      </p:sp>
      <p:sp>
        <p:nvSpPr>
          <p:cNvPr id="17" name="Text 14"/>
          <p:cNvSpPr/>
          <p:nvPr/>
        </p:nvSpPr>
        <p:spPr>
          <a:xfrm>
            <a:off x="2450592" y="3931920"/>
            <a:ext cx="2011680" cy="384048"/>
          </a:xfrm>
          <a:prstGeom prst="rect">
            <a:avLst/>
          </a:prstGeom>
          <a:noFill/>
          <a:ln/>
        </p:spPr>
        <p:txBody>
          <a:bodyPr wrap="square" lIns="0" tIns="0" rIns="0" bIns="0" rtlCol="0" anchor="ctr"/>
          <a:lstStyle/>
          <a:p>
            <a:pPr marL="0" indent="0" algn="ctr">
              <a:buNone/>
            </a:pPr>
            <a:r>
              <a:rPr lang="en-US" sz="2200" b="1" dirty="0">
                <a:solidFill>
                  <a:srgbClr val="0D9488"/>
                </a:solidFill>
                <a:latin typeface="Calibri" pitchFamily="34" charset="0"/>
                <a:ea typeface="Calibri" pitchFamily="34" charset="-122"/>
                <a:cs typeface="Calibri" pitchFamily="34" charset="-120"/>
              </a:rPr>
              <a:t>85%</a:t>
            </a:r>
            <a:endParaRPr lang="en-US" sz="2200" dirty="0"/>
          </a:p>
        </p:txBody>
      </p:sp>
      <p:sp>
        <p:nvSpPr>
          <p:cNvPr id="18" name="Text 15"/>
          <p:cNvSpPr/>
          <p:nvPr/>
        </p:nvSpPr>
        <p:spPr>
          <a:xfrm>
            <a:off x="2450592" y="4297680"/>
            <a:ext cx="2011680" cy="201168"/>
          </a:xfrm>
          <a:prstGeom prst="rect">
            <a:avLst/>
          </a:prstGeom>
          <a:noFill/>
          <a:ln/>
        </p:spPr>
        <p:txBody>
          <a:bodyPr wrap="square" lIns="0" tIns="0" rIns="0" bIns="0" rtlCol="0" anchor="ctr"/>
          <a:lstStyle/>
          <a:p>
            <a:pPr marL="0" indent="0" algn="ctr">
              <a:buNone/>
            </a:pPr>
            <a:r>
              <a:rPr lang="en-US" sz="1000" b="1" dirty="0">
                <a:solidFill>
                  <a:srgbClr val="0F172A"/>
                </a:solidFill>
                <a:latin typeface="Calibri" pitchFamily="34" charset="0"/>
                <a:ea typeface="Calibri" pitchFamily="34" charset="-122"/>
                <a:cs typeface="Calibri" pitchFamily="34" charset="-120"/>
              </a:rPr>
              <a:t>Inspection</a:t>
            </a:r>
            <a:endParaRPr lang="en-US" sz="1000" dirty="0"/>
          </a:p>
        </p:txBody>
      </p:sp>
      <p:sp>
        <p:nvSpPr>
          <p:cNvPr id="19" name="Text 16"/>
          <p:cNvSpPr/>
          <p:nvPr/>
        </p:nvSpPr>
        <p:spPr>
          <a:xfrm>
            <a:off x="2450592" y="4480560"/>
            <a:ext cx="2011680" cy="18288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Cost Reduction</a:t>
            </a:r>
            <a:endParaRPr lang="en-US" sz="900" dirty="0"/>
          </a:p>
        </p:txBody>
      </p:sp>
      <p:sp>
        <p:nvSpPr>
          <p:cNvPr id="20" name="Shape 17"/>
          <p:cNvSpPr/>
          <p:nvPr/>
        </p:nvSpPr>
        <p:spPr>
          <a:xfrm>
            <a:off x="4626864" y="3858768"/>
            <a:ext cx="2011680" cy="841248"/>
          </a:xfrm>
          <a:prstGeom prst="rect">
            <a:avLst/>
          </a:prstGeom>
          <a:solidFill>
            <a:srgbClr val="FFFFFF"/>
          </a:solidFill>
          <a:ln w="12700">
            <a:solidFill>
              <a:srgbClr val="22C55E"/>
            </a:solidFill>
            <a:prstDash val="solid"/>
          </a:ln>
          <a:effectLst>
            <a:outerShdw blurRad="76200" dist="25400" dir="8100000" algn="bl" rotWithShape="0">
              <a:srgbClr val="000000">
                <a:alpha val="10000"/>
              </a:srgbClr>
            </a:outerShdw>
          </a:effectLst>
        </p:spPr>
        <p:txBody>
          <a:bodyPr/>
          <a:lstStyle/>
          <a:p>
            <a:endParaRPr lang="en-IN"/>
          </a:p>
        </p:txBody>
      </p:sp>
      <p:sp>
        <p:nvSpPr>
          <p:cNvPr id="21" name="Shape 18"/>
          <p:cNvSpPr/>
          <p:nvPr/>
        </p:nvSpPr>
        <p:spPr>
          <a:xfrm>
            <a:off x="4626864" y="3858768"/>
            <a:ext cx="2011680" cy="54864"/>
          </a:xfrm>
          <a:prstGeom prst="rect">
            <a:avLst/>
          </a:prstGeom>
          <a:solidFill>
            <a:srgbClr val="22C55E"/>
          </a:solidFill>
          <a:ln w="12700">
            <a:solidFill>
              <a:srgbClr val="22C55E"/>
            </a:solidFill>
            <a:prstDash val="solid"/>
          </a:ln>
        </p:spPr>
        <p:txBody>
          <a:bodyPr/>
          <a:lstStyle/>
          <a:p>
            <a:endParaRPr lang="en-IN"/>
          </a:p>
        </p:txBody>
      </p:sp>
      <p:sp>
        <p:nvSpPr>
          <p:cNvPr id="22" name="Text 19"/>
          <p:cNvSpPr/>
          <p:nvPr/>
        </p:nvSpPr>
        <p:spPr>
          <a:xfrm>
            <a:off x="4626864" y="3931920"/>
            <a:ext cx="2011680" cy="384048"/>
          </a:xfrm>
          <a:prstGeom prst="rect">
            <a:avLst/>
          </a:prstGeom>
          <a:noFill/>
          <a:ln/>
        </p:spPr>
        <p:txBody>
          <a:bodyPr wrap="square" lIns="0" tIns="0" rIns="0" bIns="0" rtlCol="0" anchor="ctr"/>
          <a:lstStyle/>
          <a:p>
            <a:pPr marL="0" indent="0" algn="ctr">
              <a:buNone/>
            </a:pPr>
            <a:r>
              <a:rPr lang="en-US" sz="2200" b="1" dirty="0">
                <a:solidFill>
                  <a:srgbClr val="22C55E"/>
                </a:solidFill>
                <a:latin typeface="Calibri" pitchFamily="34" charset="0"/>
                <a:ea typeface="Calibri" pitchFamily="34" charset="-122"/>
                <a:cs typeface="Calibri" pitchFamily="34" charset="-120"/>
              </a:rPr>
              <a:t>₹0</a:t>
            </a:r>
            <a:endParaRPr lang="en-US" sz="2200" dirty="0"/>
          </a:p>
        </p:txBody>
      </p:sp>
      <p:sp>
        <p:nvSpPr>
          <p:cNvPr id="23" name="Text 20"/>
          <p:cNvSpPr/>
          <p:nvPr/>
        </p:nvSpPr>
        <p:spPr>
          <a:xfrm>
            <a:off x="4626864" y="4297680"/>
            <a:ext cx="2011680" cy="201168"/>
          </a:xfrm>
          <a:prstGeom prst="rect">
            <a:avLst/>
          </a:prstGeom>
          <a:noFill/>
          <a:ln/>
        </p:spPr>
        <p:txBody>
          <a:bodyPr wrap="square" lIns="0" tIns="0" rIns="0" bIns="0" rtlCol="0" anchor="ctr"/>
          <a:lstStyle/>
          <a:p>
            <a:pPr marL="0" indent="0" algn="ctr">
              <a:buNone/>
            </a:pPr>
            <a:r>
              <a:rPr lang="en-US" sz="1000" b="1" dirty="0">
                <a:solidFill>
                  <a:srgbClr val="0F172A"/>
                </a:solidFill>
                <a:latin typeface="Calibri" pitchFamily="34" charset="0"/>
                <a:ea typeface="Calibri" pitchFamily="34" charset="-122"/>
                <a:cs typeface="Calibri" pitchFamily="34" charset="-120"/>
              </a:rPr>
              <a:t>Satellite</a:t>
            </a:r>
            <a:endParaRPr lang="en-US" sz="1000" dirty="0"/>
          </a:p>
        </p:txBody>
      </p:sp>
      <p:sp>
        <p:nvSpPr>
          <p:cNvPr id="24" name="Text 21"/>
          <p:cNvSpPr/>
          <p:nvPr/>
        </p:nvSpPr>
        <p:spPr>
          <a:xfrm>
            <a:off x="4626864" y="4480560"/>
            <a:ext cx="2011680" cy="18288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Extra Cost</a:t>
            </a:r>
            <a:endParaRPr lang="en-US" sz="900" dirty="0"/>
          </a:p>
        </p:txBody>
      </p:sp>
      <p:sp>
        <p:nvSpPr>
          <p:cNvPr id="25" name="Shape 22"/>
          <p:cNvSpPr/>
          <p:nvPr/>
        </p:nvSpPr>
        <p:spPr>
          <a:xfrm>
            <a:off x="6803136" y="3858768"/>
            <a:ext cx="2011680" cy="841248"/>
          </a:xfrm>
          <a:prstGeom prst="rect">
            <a:avLst/>
          </a:prstGeom>
          <a:solidFill>
            <a:srgbClr val="FFFFFF"/>
          </a:solidFill>
          <a:ln w="12700">
            <a:solidFill>
              <a:srgbClr val="1E3A5F"/>
            </a:solidFill>
            <a:prstDash val="solid"/>
          </a:ln>
          <a:effectLst>
            <a:outerShdw blurRad="76200" dist="25400" dir="8100000" algn="bl" rotWithShape="0">
              <a:srgbClr val="000000">
                <a:alpha val="10000"/>
              </a:srgbClr>
            </a:outerShdw>
          </a:effectLst>
        </p:spPr>
        <p:txBody>
          <a:bodyPr/>
          <a:lstStyle/>
          <a:p>
            <a:endParaRPr lang="en-IN"/>
          </a:p>
        </p:txBody>
      </p:sp>
      <p:sp>
        <p:nvSpPr>
          <p:cNvPr id="26" name="Shape 23"/>
          <p:cNvSpPr/>
          <p:nvPr/>
        </p:nvSpPr>
        <p:spPr>
          <a:xfrm>
            <a:off x="6803136" y="3858768"/>
            <a:ext cx="2011680" cy="54864"/>
          </a:xfrm>
          <a:prstGeom prst="rect">
            <a:avLst/>
          </a:prstGeom>
          <a:solidFill>
            <a:srgbClr val="1E3A5F"/>
          </a:solidFill>
          <a:ln w="12700">
            <a:solidFill>
              <a:srgbClr val="1E3A5F"/>
            </a:solidFill>
            <a:prstDash val="solid"/>
          </a:ln>
        </p:spPr>
        <p:txBody>
          <a:bodyPr/>
          <a:lstStyle/>
          <a:p>
            <a:endParaRPr lang="en-IN"/>
          </a:p>
        </p:txBody>
      </p:sp>
      <p:sp>
        <p:nvSpPr>
          <p:cNvPr id="27" name="Text 24"/>
          <p:cNvSpPr/>
          <p:nvPr/>
        </p:nvSpPr>
        <p:spPr>
          <a:xfrm>
            <a:off x="6803136" y="3931920"/>
            <a:ext cx="2011680" cy="384048"/>
          </a:xfrm>
          <a:prstGeom prst="rect">
            <a:avLst/>
          </a:prstGeom>
          <a:noFill/>
          <a:ln/>
        </p:spPr>
        <p:txBody>
          <a:bodyPr wrap="square" lIns="0" tIns="0" rIns="0" bIns="0" rtlCol="0" anchor="ctr"/>
          <a:lstStyle/>
          <a:p>
            <a:pPr marL="0" indent="0" algn="ctr">
              <a:buNone/>
            </a:pPr>
            <a:r>
              <a:rPr lang="en-US" sz="2200" b="1" dirty="0">
                <a:solidFill>
                  <a:srgbClr val="1E3A5F"/>
                </a:solidFill>
                <a:latin typeface="Calibri" pitchFamily="34" charset="0"/>
                <a:ea typeface="Calibri" pitchFamily="34" charset="-122"/>
                <a:cs typeface="Calibri" pitchFamily="34" charset="-120"/>
              </a:rPr>
              <a:t>6 months</a:t>
            </a:r>
            <a:endParaRPr lang="en-US" sz="2200" dirty="0"/>
          </a:p>
        </p:txBody>
      </p:sp>
      <p:sp>
        <p:nvSpPr>
          <p:cNvPr id="28" name="Text 25"/>
          <p:cNvSpPr/>
          <p:nvPr/>
        </p:nvSpPr>
        <p:spPr>
          <a:xfrm>
            <a:off x="6803136" y="4297680"/>
            <a:ext cx="2011680" cy="201168"/>
          </a:xfrm>
          <a:prstGeom prst="rect">
            <a:avLst/>
          </a:prstGeom>
          <a:noFill/>
          <a:ln/>
        </p:spPr>
        <p:txBody>
          <a:bodyPr wrap="square" lIns="0" tIns="0" rIns="0" bIns="0" rtlCol="0" anchor="ctr"/>
          <a:lstStyle/>
          <a:p>
            <a:pPr marL="0" indent="0" algn="ctr">
              <a:buNone/>
            </a:pPr>
            <a:r>
              <a:rPr lang="en-US" sz="1000" b="1" dirty="0">
                <a:solidFill>
                  <a:srgbClr val="0F172A"/>
                </a:solidFill>
                <a:latin typeface="Calibri" pitchFamily="34" charset="0"/>
                <a:ea typeface="Calibri" pitchFamily="34" charset="-122"/>
                <a:cs typeface="Calibri" pitchFamily="34" charset="-120"/>
              </a:rPr>
              <a:t>Full AP</a:t>
            </a:r>
            <a:endParaRPr lang="en-US" sz="1000" dirty="0"/>
          </a:p>
        </p:txBody>
      </p:sp>
      <p:sp>
        <p:nvSpPr>
          <p:cNvPr id="29" name="Text 26"/>
          <p:cNvSpPr/>
          <p:nvPr/>
        </p:nvSpPr>
        <p:spPr>
          <a:xfrm>
            <a:off x="6803136" y="4480560"/>
            <a:ext cx="2011680" cy="18288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Rollout Time</a:t>
            </a:r>
            <a:endParaRPr lang="en-US" sz="900" dirty="0"/>
          </a:p>
        </p:txBody>
      </p:sp>
      <p:sp>
        <p:nvSpPr>
          <p:cNvPr id="30" name="Shape 27"/>
          <p:cNvSpPr/>
          <p:nvPr/>
        </p:nvSpPr>
        <p:spPr>
          <a:xfrm>
            <a:off x="0" y="4818888"/>
            <a:ext cx="9144000" cy="324612"/>
          </a:xfrm>
          <a:prstGeom prst="rect">
            <a:avLst/>
          </a:prstGeom>
          <a:solidFill>
            <a:srgbClr val="E2E8F0"/>
          </a:solidFill>
          <a:ln w="12700">
            <a:solidFill>
              <a:srgbClr val="E2E8F0"/>
            </a:solidFill>
            <a:prstDash val="solid"/>
          </a:ln>
        </p:spPr>
        <p:txBody>
          <a:bodyPr/>
          <a:lstStyle/>
          <a:p>
            <a:endParaRPr lang="en-IN"/>
          </a:p>
        </p:txBody>
      </p:sp>
      <p:sp>
        <p:nvSpPr>
          <p:cNvPr id="31" name="Text 28"/>
          <p:cNvSpPr/>
          <p:nvPr/>
        </p:nvSpPr>
        <p:spPr>
          <a:xfrm>
            <a:off x="274320" y="4837176"/>
            <a:ext cx="7772400" cy="27432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AP-Wrims Early Warning System  |  HierachAI Technologies Pvt. Ltd.  |  DPIIT Recognised · Women-Led · Andhra Pradesh</a:t>
            </a:r>
            <a:endParaRPr lang="en-US" sz="800" dirty="0"/>
          </a:p>
        </p:txBody>
      </p:sp>
      <p:sp>
        <p:nvSpPr>
          <p:cNvPr id="32" name="Text 29"/>
          <p:cNvSpPr/>
          <p:nvPr/>
        </p:nvSpPr>
        <p:spPr>
          <a:xfrm>
            <a:off x="8046720" y="4837176"/>
            <a:ext cx="914400" cy="274320"/>
          </a:xfrm>
          <a:prstGeom prst="rect">
            <a:avLst/>
          </a:prstGeom>
          <a:noFill/>
          <a:ln/>
        </p:spPr>
        <p:txBody>
          <a:bodyPr wrap="square" lIns="0" tIns="0" rIns="0" bIns="0" rtlCol="0" anchor="ctr"/>
          <a:lstStyle/>
          <a:p>
            <a:pPr marL="0" indent="0" algn="r">
              <a:buNone/>
            </a:pPr>
            <a:r>
              <a:rPr lang="en-US" sz="800" dirty="0">
                <a:solidFill>
                  <a:srgbClr val="1E3A5F"/>
                </a:solidFill>
                <a:latin typeface="Calibri" pitchFamily="34" charset="0"/>
                <a:ea typeface="Calibri" pitchFamily="34" charset="-122"/>
                <a:cs typeface="Calibri" pitchFamily="34" charset="-120"/>
              </a:rPr>
              <a:t>11 / 16</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F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84C7"/>
          </a:solidFill>
          <a:ln w="12700">
            <a:solidFill>
              <a:srgbClr val="0284C7"/>
            </a:solidFill>
            <a:prstDash val="solid"/>
          </a:ln>
        </p:spPr>
        <p:txBody>
          <a:bodyPr/>
          <a:lstStyle/>
          <a:p>
            <a:endParaRPr lang="en-IN"/>
          </a:p>
        </p:txBody>
      </p:sp>
      <p:sp>
        <p:nvSpPr>
          <p:cNvPr id="3" name="Shape 1"/>
          <p:cNvSpPr/>
          <p:nvPr/>
        </p:nvSpPr>
        <p:spPr>
          <a:xfrm>
            <a:off x="0" y="73152"/>
            <a:ext cx="9144000" cy="658368"/>
          </a:xfrm>
          <a:prstGeom prst="rect">
            <a:avLst/>
          </a:prstGeom>
          <a:solidFill>
            <a:srgbClr val="FFFFFF"/>
          </a:solidFill>
          <a:ln w="12700">
            <a:solidFill>
              <a:srgbClr val="E2E8F0"/>
            </a:solidFill>
            <a:prstDash val="solid"/>
          </a:ln>
        </p:spPr>
        <p:txBody>
          <a:bodyPr/>
          <a:lstStyle/>
          <a:p>
            <a:endParaRPr lang="en-IN"/>
          </a:p>
        </p:txBody>
      </p:sp>
      <p:sp>
        <p:nvSpPr>
          <p:cNvPr id="4" name="Text 2"/>
          <p:cNvSpPr/>
          <p:nvPr/>
        </p:nvSpPr>
        <p:spPr>
          <a:xfrm>
            <a:off x="365760" y="91440"/>
            <a:ext cx="8412480" cy="475488"/>
          </a:xfrm>
          <a:prstGeom prst="rect">
            <a:avLst/>
          </a:prstGeom>
          <a:noFill/>
          <a:ln/>
        </p:spPr>
        <p:txBody>
          <a:bodyPr wrap="square" lIns="0" tIns="0" rIns="0" bIns="0" rtlCol="0" anchor="ctr"/>
          <a:lstStyle/>
          <a:p>
            <a:pPr marL="0" indent="0">
              <a:buNone/>
            </a:pPr>
            <a:r>
              <a:rPr lang="en-US" sz="2000" b="1" dirty="0">
                <a:solidFill>
                  <a:srgbClr val="0F172A"/>
                </a:solidFill>
                <a:latin typeface="Calibri" pitchFamily="34" charset="0"/>
                <a:ea typeface="Calibri" pitchFamily="34" charset="-122"/>
                <a:cs typeface="Calibri" pitchFamily="34" charset="-120"/>
              </a:rPr>
              <a:t>🌍  Global Reference &amp; Our Differentiation</a:t>
            </a:r>
            <a:endParaRPr lang="en-US" sz="2000" dirty="0"/>
          </a:p>
        </p:txBody>
      </p:sp>
      <p:sp>
        <p:nvSpPr>
          <p:cNvPr id="5" name="Shape 3"/>
          <p:cNvSpPr/>
          <p:nvPr/>
        </p:nvSpPr>
        <p:spPr>
          <a:xfrm>
            <a:off x="0" y="731520"/>
            <a:ext cx="9144000" cy="256032"/>
          </a:xfrm>
          <a:prstGeom prst="rect">
            <a:avLst/>
          </a:prstGeom>
          <a:solidFill>
            <a:srgbClr val="EFF6FF"/>
          </a:solidFill>
          <a:ln w="12700">
            <a:solidFill>
              <a:srgbClr val="BFDBFE"/>
            </a:solidFill>
            <a:prstDash val="solid"/>
          </a:ln>
        </p:spPr>
        <p:txBody>
          <a:bodyPr/>
          <a:lstStyle/>
          <a:p>
            <a:endParaRPr lang="en-IN"/>
          </a:p>
        </p:txBody>
      </p:sp>
      <p:sp>
        <p:nvSpPr>
          <p:cNvPr id="6" name="Text 4"/>
          <p:cNvSpPr/>
          <p:nvPr/>
        </p:nvSpPr>
        <p:spPr>
          <a:xfrm>
            <a:off x="365760" y="749808"/>
            <a:ext cx="8412480" cy="219456"/>
          </a:xfrm>
          <a:prstGeom prst="rect">
            <a:avLst/>
          </a:prstGeom>
          <a:noFill/>
          <a:ln/>
        </p:spPr>
        <p:txBody>
          <a:bodyPr wrap="square" lIns="0" tIns="0" rIns="0" bIns="0" rtlCol="0" anchor="ctr"/>
          <a:lstStyle/>
          <a:p>
            <a:pPr marL="0" indent="0">
              <a:buNone/>
            </a:pPr>
            <a:r>
              <a:rPr lang="en-US" sz="950" dirty="0">
                <a:solidFill>
                  <a:srgbClr val="0284C7"/>
                </a:solidFill>
                <a:latin typeface="Calibri" pitchFamily="34" charset="0"/>
                <a:ea typeface="Calibri" pitchFamily="34" charset="-122"/>
                <a:cs typeface="Calibri" pitchFamily="34" charset="-120"/>
              </a:rPr>
              <a:t>Proven globally. Built specifically for AP's earthen bunds and MI tanks.</a:t>
            </a:r>
            <a:endParaRPr lang="en-US" sz="950" dirty="0"/>
          </a:p>
        </p:txBody>
      </p:sp>
      <p:sp>
        <p:nvSpPr>
          <p:cNvPr id="7" name="Shape 5"/>
          <p:cNvSpPr/>
          <p:nvPr/>
        </p:nvSpPr>
        <p:spPr>
          <a:xfrm>
            <a:off x="274320" y="1051560"/>
            <a:ext cx="8595360" cy="566928"/>
          </a:xfrm>
          <a:prstGeom prst="rect">
            <a:avLst/>
          </a:prstGeom>
          <a:solidFill>
            <a:srgbClr val="FFFFFF"/>
          </a:solidFill>
          <a:ln w="12700">
            <a:solidFill>
              <a:srgbClr val="BFDBFE"/>
            </a:solidFill>
            <a:prstDash val="solid"/>
          </a:ln>
          <a:effectLst>
            <a:outerShdw blurRad="76200" dist="25400" dir="8100000" algn="bl" rotWithShape="0">
              <a:srgbClr val="000000">
                <a:alpha val="10000"/>
              </a:srgbClr>
            </a:outerShdw>
          </a:effectLst>
        </p:spPr>
        <p:txBody>
          <a:bodyPr/>
          <a:lstStyle/>
          <a:p>
            <a:endParaRPr lang="en-IN"/>
          </a:p>
        </p:txBody>
      </p:sp>
      <p:sp>
        <p:nvSpPr>
          <p:cNvPr id="8" name="Shape 6"/>
          <p:cNvSpPr/>
          <p:nvPr/>
        </p:nvSpPr>
        <p:spPr>
          <a:xfrm>
            <a:off x="274320" y="1051560"/>
            <a:ext cx="54864" cy="566928"/>
          </a:xfrm>
          <a:prstGeom prst="rect">
            <a:avLst/>
          </a:prstGeom>
          <a:solidFill>
            <a:srgbClr val="0284C7"/>
          </a:solidFill>
          <a:ln w="12700">
            <a:solidFill>
              <a:srgbClr val="0284C7"/>
            </a:solidFill>
            <a:prstDash val="solid"/>
          </a:ln>
        </p:spPr>
        <p:txBody>
          <a:bodyPr/>
          <a:lstStyle/>
          <a:p>
            <a:endParaRPr lang="en-IN"/>
          </a:p>
        </p:txBody>
      </p:sp>
      <p:sp>
        <p:nvSpPr>
          <p:cNvPr id="9" name="Text 7"/>
          <p:cNvSpPr/>
          <p:nvPr/>
        </p:nvSpPr>
        <p:spPr>
          <a:xfrm>
            <a:off x="438912" y="1088136"/>
            <a:ext cx="8321040" cy="475488"/>
          </a:xfrm>
          <a:prstGeom prst="rect">
            <a:avLst/>
          </a:prstGeom>
          <a:noFill/>
          <a:ln/>
        </p:spPr>
        <p:txBody>
          <a:bodyPr wrap="square" lIns="0" tIns="0" rIns="0" bIns="0" rtlCol="0" anchor="ctr"/>
          <a:lstStyle/>
          <a:p>
            <a:pPr marL="0" indent="0">
              <a:buNone/>
            </a:pPr>
            <a:r>
              <a:rPr lang="en-US" sz="950" i="1" dirty="0">
                <a:solidFill>
                  <a:srgbClr val="334155"/>
                </a:solidFill>
                <a:latin typeface="Calibri" pitchFamily="34" charset="0"/>
                <a:ea typeface="Calibri" pitchFamily="34" charset="-122"/>
                <a:cs typeface="Calibri" pitchFamily="34" charset="-120"/>
              </a:rPr>
              <a:t>Google's Flood Hub — first piloted in India (2018) — proves combining soil moisture, rainfall, and water level signals gives reliable early warning days in advance. It covers 80 countries and 460 million people. It covers RIVERS. It does NOT cover earthen bunds or MI tanks. AP has 38,600 MI tanks. Annamayya 2021 showed what happens without coverage. We close that gap.</a:t>
            </a:r>
            <a:endParaRPr lang="en-US" sz="950" dirty="0"/>
          </a:p>
        </p:txBody>
      </p:sp>
      <p:sp>
        <p:nvSpPr>
          <p:cNvPr id="10" name="Text 8"/>
          <p:cNvSpPr/>
          <p:nvPr/>
        </p:nvSpPr>
        <p:spPr>
          <a:xfrm>
            <a:off x="274320" y="1719072"/>
            <a:ext cx="4572000" cy="256032"/>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System Comparison</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274320" y="2011680"/>
          <a:ext cx="8595360" cy="1207008"/>
        </p:xfrm>
        <a:graphic>
          <a:graphicData uri="http://schemas.openxmlformats.org/drawingml/2006/table">
            <a:tbl>
              <a:tblPr/>
              <a:tblGrid>
                <a:gridCol w="201168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tblGrid>
              <a:tr h="301752">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System</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3A5F"/>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Coverage</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3A5F"/>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Earthen Bunds</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3A5F"/>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Village SMS</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3A5F"/>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Telugu Alert</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3A5F"/>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Cost</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301752">
                <a:tc>
                  <a:txBody>
                    <a:bodyPr/>
                    <a:lstStyle/>
                    <a:p>
                      <a:pPr marL="0" indent="0">
                        <a:buNone/>
                      </a:pPr>
                      <a:r>
                        <a:rPr lang="en-US" sz="1000" dirty="0">
                          <a:solidFill>
                            <a:srgbClr val="0F172A"/>
                          </a:solidFill>
                          <a:latin typeface="Calibri" pitchFamily="34" charset="0"/>
                          <a:ea typeface="Calibri" pitchFamily="34" charset="-122"/>
                          <a:cs typeface="Calibri" pitchFamily="34" charset="-120"/>
                        </a:rPr>
                        <a:t>Google Flood Hub</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80 countries, rivers only</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b="1" dirty="0">
                          <a:solidFill>
                            <a:srgbClr val="EF4444"/>
                          </a:solidFill>
                          <a:latin typeface="Calibri" pitchFamily="34" charset="0"/>
                          <a:ea typeface="Calibri" pitchFamily="34" charset="-122"/>
                          <a:cs typeface="Calibri" pitchFamily="34" charset="-120"/>
                        </a:rPr>
                        <a:t>❌ No</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F2F2"/>
                    </a:solidFill>
                  </a:tcPr>
                </a:tc>
                <a:tc>
                  <a:txBody>
                    <a:bodyPr/>
                    <a:lstStyle/>
                    <a:p>
                      <a:pPr marL="0" indent="0">
                        <a:buNone/>
                      </a:pPr>
                      <a:r>
                        <a:rPr lang="en-US" sz="1000" b="1" dirty="0">
                          <a:solidFill>
                            <a:srgbClr val="EF4444"/>
                          </a:solidFill>
                          <a:latin typeface="Calibri" pitchFamily="34" charset="0"/>
                          <a:ea typeface="Calibri" pitchFamily="34" charset="-122"/>
                          <a:cs typeface="Calibri" pitchFamily="34" charset="-120"/>
                        </a:rPr>
                        <a:t>❌ No</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F2F2"/>
                    </a:solidFill>
                  </a:tcPr>
                </a:tc>
                <a:tc>
                  <a:txBody>
                    <a:bodyPr/>
                    <a:lstStyle/>
                    <a:p>
                      <a:pPr marL="0" indent="0">
                        <a:buNone/>
                      </a:pPr>
                      <a:r>
                        <a:rPr lang="en-US" sz="1000" b="1" dirty="0">
                          <a:solidFill>
                            <a:srgbClr val="EF4444"/>
                          </a:solidFill>
                          <a:latin typeface="Calibri" pitchFamily="34" charset="0"/>
                          <a:ea typeface="Calibri" pitchFamily="34" charset="-122"/>
                          <a:cs typeface="Calibri" pitchFamily="34" charset="-120"/>
                        </a:rPr>
                        <a:t>❌ No</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F2F2"/>
                    </a:solidFill>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Commercial</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buNone/>
                      </a:pPr>
                      <a:r>
                        <a:rPr lang="en-US" sz="1000" dirty="0">
                          <a:solidFill>
                            <a:srgbClr val="0F172A"/>
                          </a:solidFill>
                          <a:latin typeface="Calibri" pitchFamily="34" charset="0"/>
                          <a:ea typeface="Calibri" pitchFamily="34" charset="-122"/>
                          <a:cs typeface="Calibri" pitchFamily="34" charset="-120"/>
                        </a:rPr>
                        <a:t>EU GloFAS</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Global rivers</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buNone/>
                      </a:pPr>
                      <a:r>
                        <a:rPr lang="en-US" sz="1000" b="1" dirty="0">
                          <a:solidFill>
                            <a:srgbClr val="EF4444"/>
                          </a:solidFill>
                          <a:latin typeface="Calibri" pitchFamily="34" charset="0"/>
                          <a:ea typeface="Calibri" pitchFamily="34" charset="-122"/>
                          <a:cs typeface="Calibri" pitchFamily="34" charset="-120"/>
                        </a:rPr>
                        <a:t>❌ No</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F2F2"/>
                    </a:solidFill>
                  </a:tcPr>
                </a:tc>
                <a:tc>
                  <a:txBody>
                    <a:bodyPr/>
                    <a:lstStyle/>
                    <a:p>
                      <a:pPr marL="0" indent="0">
                        <a:buNone/>
                      </a:pPr>
                      <a:r>
                        <a:rPr lang="en-US" sz="1000" b="1" dirty="0">
                          <a:solidFill>
                            <a:srgbClr val="EF4444"/>
                          </a:solidFill>
                          <a:latin typeface="Calibri" pitchFamily="34" charset="0"/>
                          <a:ea typeface="Calibri" pitchFamily="34" charset="-122"/>
                          <a:cs typeface="Calibri" pitchFamily="34" charset="-120"/>
                        </a:rPr>
                        <a:t>❌ No</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F2F2"/>
                    </a:solidFill>
                  </a:tcPr>
                </a:tc>
                <a:tc>
                  <a:txBody>
                    <a:bodyPr/>
                    <a:lstStyle/>
                    <a:p>
                      <a:pPr marL="0" indent="0">
                        <a:buNone/>
                      </a:pPr>
                      <a:r>
                        <a:rPr lang="en-US" sz="1000" b="1" dirty="0">
                          <a:solidFill>
                            <a:srgbClr val="EF4444"/>
                          </a:solidFill>
                          <a:latin typeface="Calibri" pitchFamily="34" charset="0"/>
                          <a:ea typeface="Calibri" pitchFamily="34" charset="-122"/>
                          <a:cs typeface="Calibri" pitchFamily="34" charset="-120"/>
                        </a:rPr>
                        <a:t>❌ No</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F2F2"/>
                    </a:solidFill>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Free</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301752">
                <a:tc>
                  <a:txBody>
                    <a:bodyPr/>
                    <a:lstStyle/>
                    <a:p>
                      <a:pPr marL="0" indent="0">
                        <a:buNone/>
                      </a:pPr>
                      <a:r>
                        <a:rPr lang="en-US" sz="1000" b="1" dirty="0">
                          <a:solidFill>
                            <a:srgbClr val="4ADE80"/>
                          </a:solidFill>
                          <a:latin typeface="Calibri" pitchFamily="34" charset="0"/>
                          <a:ea typeface="Calibri" pitchFamily="34" charset="-122"/>
                          <a:cs typeface="Calibri" pitchFamily="34" charset="-120"/>
                        </a:rPr>
                        <a:t>AP-Wrims EWS (Ours)</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52E16"/>
                    </a:solidFill>
                  </a:tcPr>
                </a:tc>
                <a:tc>
                  <a:txBody>
                    <a:bodyPr/>
                    <a:lstStyle/>
                    <a:p>
                      <a:pPr marL="0" indent="0">
                        <a:buNone/>
                      </a:pPr>
                      <a:r>
                        <a:rPr lang="en-US" sz="1000" b="1" dirty="0">
                          <a:solidFill>
                            <a:srgbClr val="4ADE80"/>
                          </a:solidFill>
                          <a:latin typeface="Calibri" pitchFamily="34" charset="0"/>
                          <a:ea typeface="Calibri" pitchFamily="34" charset="-122"/>
                          <a:cs typeface="Calibri" pitchFamily="34" charset="-120"/>
                        </a:rPr>
                        <a:t>AP MI tanks + bunds</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52E16"/>
                    </a:solidFill>
                  </a:tcPr>
                </a:tc>
                <a:tc>
                  <a:txBody>
                    <a:bodyPr/>
                    <a:lstStyle/>
                    <a:p>
                      <a:pPr marL="0" indent="0">
                        <a:buNone/>
                      </a:pPr>
                      <a:r>
                        <a:rPr lang="en-US" sz="1000" b="1" dirty="0">
                          <a:solidFill>
                            <a:srgbClr val="4ADE80"/>
                          </a:solidFill>
                          <a:latin typeface="Calibri" pitchFamily="34" charset="0"/>
                          <a:ea typeface="Calibri" pitchFamily="34" charset="-122"/>
                          <a:cs typeface="Calibri" pitchFamily="34" charset="-120"/>
                        </a:rPr>
                        <a:t>✅ Yes</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52E16"/>
                    </a:solidFill>
                  </a:tcPr>
                </a:tc>
                <a:tc>
                  <a:txBody>
                    <a:bodyPr/>
                    <a:lstStyle/>
                    <a:p>
                      <a:pPr marL="0" indent="0">
                        <a:buNone/>
                      </a:pPr>
                      <a:r>
                        <a:rPr lang="en-US" sz="1000" b="1" dirty="0">
                          <a:solidFill>
                            <a:srgbClr val="4ADE80"/>
                          </a:solidFill>
                          <a:latin typeface="Calibri" pitchFamily="34" charset="0"/>
                          <a:ea typeface="Calibri" pitchFamily="34" charset="-122"/>
                          <a:cs typeface="Calibri" pitchFamily="34" charset="-120"/>
                        </a:rPr>
                        <a:t>✅ Yes</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52E16"/>
                    </a:solidFill>
                  </a:tcPr>
                </a:tc>
                <a:tc>
                  <a:txBody>
                    <a:bodyPr/>
                    <a:lstStyle/>
                    <a:p>
                      <a:pPr marL="0" indent="0">
                        <a:buNone/>
                      </a:pPr>
                      <a:r>
                        <a:rPr lang="en-US" sz="1000" b="1" dirty="0">
                          <a:solidFill>
                            <a:srgbClr val="4ADE80"/>
                          </a:solidFill>
                          <a:latin typeface="Calibri" pitchFamily="34" charset="0"/>
                          <a:ea typeface="Calibri" pitchFamily="34" charset="-122"/>
                          <a:cs typeface="Calibri" pitchFamily="34" charset="-120"/>
                        </a:rPr>
                        <a:t>✅ Yes</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52E16"/>
                    </a:solidFill>
                  </a:tcPr>
                </a:tc>
                <a:tc>
                  <a:txBody>
                    <a:bodyPr/>
                    <a:lstStyle/>
                    <a:p>
                      <a:pPr marL="0" indent="0">
                        <a:buNone/>
                      </a:pPr>
                      <a:r>
                        <a:rPr lang="en-US" sz="1000" b="1" dirty="0">
                          <a:solidFill>
                            <a:srgbClr val="4ADE80"/>
                          </a:solidFill>
                          <a:latin typeface="Calibri" pitchFamily="34" charset="0"/>
                          <a:ea typeface="Calibri" pitchFamily="34" charset="-122"/>
                          <a:cs typeface="Calibri" pitchFamily="34" charset="-120"/>
                        </a:rPr>
                        <a:t>₹0 extra</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52E16"/>
                    </a:solidFill>
                  </a:tcPr>
                </a:tc>
                <a:extLst>
                  <a:ext uri="{0D108BD9-81ED-4DB2-BD59-A6C34878D82A}">
                    <a16:rowId xmlns:a16="http://schemas.microsoft.com/office/drawing/2014/main" val="10003"/>
                  </a:ext>
                </a:extLst>
              </a:tr>
            </a:tbl>
          </a:graphicData>
        </a:graphic>
      </p:graphicFrame>
      <p:sp>
        <p:nvSpPr>
          <p:cNvPr id="12" name="Shape 9"/>
          <p:cNvSpPr/>
          <p:nvPr/>
        </p:nvSpPr>
        <p:spPr>
          <a:xfrm>
            <a:off x="274320" y="3346704"/>
            <a:ext cx="4206240" cy="621792"/>
          </a:xfrm>
          <a:prstGeom prst="rect">
            <a:avLst/>
          </a:prstGeom>
          <a:solidFill>
            <a:srgbClr val="FFFFFF"/>
          </a:solidFill>
          <a:ln w="12700">
            <a:solidFill>
              <a:srgbClr val="0284C7"/>
            </a:solidFill>
            <a:prstDash val="solid"/>
          </a:ln>
          <a:effectLst>
            <a:outerShdw blurRad="76200" dist="25400" dir="8100000" algn="bl" rotWithShape="0">
              <a:srgbClr val="000000">
                <a:alpha val="10000"/>
              </a:srgbClr>
            </a:outerShdw>
          </a:effectLst>
        </p:spPr>
        <p:txBody>
          <a:bodyPr/>
          <a:lstStyle/>
          <a:p>
            <a:endParaRPr lang="en-IN"/>
          </a:p>
        </p:txBody>
      </p:sp>
      <p:sp>
        <p:nvSpPr>
          <p:cNvPr id="11" name="Shape 10"/>
          <p:cNvSpPr/>
          <p:nvPr/>
        </p:nvSpPr>
        <p:spPr>
          <a:xfrm>
            <a:off x="274320" y="3346704"/>
            <a:ext cx="73152" cy="621792"/>
          </a:xfrm>
          <a:prstGeom prst="rect">
            <a:avLst/>
          </a:prstGeom>
          <a:solidFill>
            <a:srgbClr val="0284C7"/>
          </a:solidFill>
          <a:ln w="12700">
            <a:solidFill>
              <a:srgbClr val="0284C7"/>
            </a:solidFill>
            <a:prstDash val="solid"/>
          </a:ln>
        </p:spPr>
        <p:txBody>
          <a:bodyPr/>
          <a:lstStyle/>
          <a:p>
            <a:endParaRPr lang="en-IN"/>
          </a:p>
        </p:txBody>
      </p:sp>
      <p:sp>
        <p:nvSpPr>
          <p:cNvPr id="14" name="Text 11"/>
          <p:cNvSpPr/>
          <p:nvPr/>
        </p:nvSpPr>
        <p:spPr>
          <a:xfrm>
            <a:off x="438912" y="3401568"/>
            <a:ext cx="3931920" cy="228600"/>
          </a:xfrm>
          <a:prstGeom prst="rect">
            <a:avLst/>
          </a:prstGeom>
          <a:noFill/>
          <a:ln/>
        </p:spPr>
        <p:txBody>
          <a:bodyPr wrap="square" lIns="0" tIns="0" rIns="0" bIns="0" rtlCol="0" anchor="ctr"/>
          <a:lstStyle/>
          <a:p>
            <a:pPr marL="0" indent="0">
              <a:buNone/>
            </a:pPr>
            <a:r>
              <a:rPr lang="en-US" sz="1000" b="1" dirty="0">
                <a:solidFill>
                  <a:srgbClr val="0284C7"/>
                </a:solidFill>
                <a:latin typeface="Calibri" pitchFamily="34" charset="0"/>
                <a:ea typeface="Calibri" pitchFamily="34" charset="-122"/>
                <a:cs typeface="Calibri" pitchFamily="34" charset="-120"/>
              </a:rPr>
              <a:t>Network vs Point</a:t>
            </a:r>
            <a:endParaRPr lang="en-US" sz="1000" dirty="0"/>
          </a:p>
        </p:txBody>
      </p:sp>
      <p:sp>
        <p:nvSpPr>
          <p:cNvPr id="15" name="Text 12"/>
          <p:cNvSpPr/>
          <p:nvPr/>
        </p:nvSpPr>
        <p:spPr>
          <a:xfrm>
            <a:off x="438912" y="3648456"/>
            <a:ext cx="3931920" cy="274320"/>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We monitor CASCADE — Pincha→Cheyyeru→Annamayya simultaneously. Others monitor individual points.</a:t>
            </a:r>
            <a:endParaRPr lang="en-US" sz="850" dirty="0"/>
          </a:p>
        </p:txBody>
      </p:sp>
      <p:sp>
        <p:nvSpPr>
          <p:cNvPr id="16" name="Shape 13"/>
          <p:cNvSpPr/>
          <p:nvPr/>
        </p:nvSpPr>
        <p:spPr>
          <a:xfrm>
            <a:off x="4645152" y="3346704"/>
            <a:ext cx="4206240" cy="621792"/>
          </a:xfrm>
          <a:prstGeom prst="rect">
            <a:avLst/>
          </a:prstGeom>
          <a:solidFill>
            <a:srgbClr val="FFFFFF"/>
          </a:solidFill>
          <a:ln w="12700">
            <a:solidFill>
              <a:srgbClr val="0D9488"/>
            </a:solidFill>
            <a:prstDash val="solid"/>
          </a:ln>
          <a:effectLst>
            <a:outerShdw blurRad="76200" dist="25400" dir="8100000" algn="bl" rotWithShape="0">
              <a:srgbClr val="000000">
                <a:alpha val="10000"/>
              </a:srgbClr>
            </a:outerShdw>
          </a:effectLst>
        </p:spPr>
        <p:txBody>
          <a:bodyPr/>
          <a:lstStyle/>
          <a:p>
            <a:endParaRPr lang="en-IN"/>
          </a:p>
        </p:txBody>
      </p:sp>
      <p:sp>
        <p:nvSpPr>
          <p:cNvPr id="17" name="Shape 14"/>
          <p:cNvSpPr/>
          <p:nvPr/>
        </p:nvSpPr>
        <p:spPr>
          <a:xfrm>
            <a:off x="4645152" y="3346704"/>
            <a:ext cx="73152" cy="621792"/>
          </a:xfrm>
          <a:prstGeom prst="rect">
            <a:avLst/>
          </a:prstGeom>
          <a:solidFill>
            <a:srgbClr val="0D9488"/>
          </a:solidFill>
          <a:ln w="12700">
            <a:solidFill>
              <a:srgbClr val="0D9488"/>
            </a:solidFill>
            <a:prstDash val="solid"/>
          </a:ln>
        </p:spPr>
        <p:txBody>
          <a:bodyPr/>
          <a:lstStyle/>
          <a:p>
            <a:endParaRPr lang="en-IN"/>
          </a:p>
        </p:txBody>
      </p:sp>
      <p:sp>
        <p:nvSpPr>
          <p:cNvPr id="18" name="Text 15"/>
          <p:cNvSpPr/>
          <p:nvPr/>
        </p:nvSpPr>
        <p:spPr>
          <a:xfrm>
            <a:off x="4809744" y="3401568"/>
            <a:ext cx="3931920" cy="228600"/>
          </a:xfrm>
          <a:prstGeom prst="rect">
            <a:avLst/>
          </a:prstGeom>
          <a:noFill/>
          <a:ln/>
        </p:spPr>
        <p:txBody>
          <a:bodyPr wrap="square" lIns="0" tIns="0" rIns="0" bIns="0"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Proxy Intelligence</a:t>
            </a:r>
            <a:endParaRPr lang="en-US" sz="1000" dirty="0"/>
          </a:p>
        </p:txBody>
      </p:sp>
      <p:sp>
        <p:nvSpPr>
          <p:cNvPr id="19" name="Text 16"/>
          <p:cNvSpPr/>
          <p:nvPr/>
        </p:nvSpPr>
        <p:spPr>
          <a:xfrm>
            <a:off x="4809744" y="3648456"/>
            <a:ext cx="3931920" cy="274320"/>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When Annamayya sensor dead, upstream signals used. System never goes blind due to sensor failure.</a:t>
            </a:r>
            <a:endParaRPr lang="en-US" sz="850" dirty="0"/>
          </a:p>
        </p:txBody>
      </p:sp>
      <p:sp>
        <p:nvSpPr>
          <p:cNvPr id="20" name="Shape 17"/>
          <p:cNvSpPr/>
          <p:nvPr/>
        </p:nvSpPr>
        <p:spPr>
          <a:xfrm>
            <a:off x="274320" y="4059936"/>
            <a:ext cx="4206240" cy="621792"/>
          </a:xfrm>
          <a:prstGeom prst="rect">
            <a:avLst/>
          </a:prstGeom>
          <a:solidFill>
            <a:srgbClr val="FFFFFF"/>
          </a:solidFill>
          <a:ln w="12700">
            <a:solidFill>
              <a:srgbClr val="22C55E"/>
            </a:solidFill>
            <a:prstDash val="solid"/>
          </a:ln>
          <a:effectLst>
            <a:outerShdw blurRad="76200" dist="25400" dir="8100000" algn="bl" rotWithShape="0">
              <a:srgbClr val="000000">
                <a:alpha val="10000"/>
              </a:srgbClr>
            </a:outerShdw>
          </a:effectLst>
        </p:spPr>
        <p:txBody>
          <a:bodyPr/>
          <a:lstStyle/>
          <a:p>
            <a:endParaRPr lang="en-IN"/>
          </a:p>
        </p:txBody>
      </p:sp>
      <p:sp>
        <p:nvSpPr>
          <p:cNvPr id="21" name="Shape 18"/>
          <p:cNvSpPr/>
          <p:nvPr/>
        </p:nvSpPr>
        <p:spPr>
          <a:xfrm>
            <a:off x="274320" y="4059936"/>
            <a:ext cx="73152" cy="621792"/>
          </a:xfrm>
          <a:prstGeom prst="rect">
            <a:avLst/>
          </a:prstGeom>
          <a:solidFill>
            <a:srgbClr val="22C55E"/>
          </a:solidFill>
          <a:ln w="12700">
            <a:solidFill>
              <a:srgbClr val="22C55E"/>
            </a:solidFill>
            <a:prstDash val="solid"/>
          </a:ln>
        </p:spPr>
        <p:txBody>
          <a:bodyPr/>
          <a:lstStyle/>
          <a:p>
            <a:endParaRPr lang="en-IN"/>
          </a:p>
        </p:txBody>
      </p:sp>
      <p:sp>
        <p:nvSpPr>
          <p:cNvPr id="22" name="Text 19"/>
          <p:cNvSpPr/>
          <p:nvPr/>
        </p:nvSpPr>
        <p:spPr>
          <a:xfrm>
            <a:off x="438912" y="4114800"/>
            <a:ext cx="3931920" cy="228600"/>
          </a:xfrm>
          <a:prstGeom prst="rect">
            <a:avLst/>
          </a:prstGeom>
          <a:noFill/>
          <a:ln/>
        </p:spPr>
        <p:txBody>
          <a:bodyPr wrap="square" lIns="0" tIns="0" rIns="0" bIns="0" rtlCol="0" anchor="ctr"/>
          <a:lstStyle/>
          <a:p>
            <a:pPr marL="0" indent="0">
              <a:buNone/>
            </a:pPr>
            <a:r>
              <a:rPr lang="en-US" sz="1000" b="1" dirty="0">
                <a:solidFill>
                  <a:srgbClr val="22C55E"/>
                </a:solidFill>
                <a:latin typeface="Calibri" pitchFamily="34" charset="0"/>
                <a:ea typeface="Calibri" pitchFamily="34" charset="-122"/>
                <a:cs typeface="Calibri" pitchFamily="34" charset="-120"/>
              </a:rPr>
              <a:t>Last Mile — Telugu SMS</a:t>
            </a:r>
            <a:endParaRPr lang="en-US" sz="1000" dirty="0"/>
          </a:p>
        </p:txBody>
      </p:sp>
      <p:sp>
        <p:nvSpPr>
          <p:cNvPr id="23" name="Text 20"/>
          <p:cNvSpPr/>
          <p:nvPr/>
        </p:nvSpPr>
        <p:spPr>
          <a:xfrm>
            <a:off x="438912" y="4361688"/>
            <a:ext cx="3931920" cy="274320"/>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Village-level SMS in Telugu. No other system reaches the actual people at risk in their own language.</a:t>
            </a:r>
            <a:endParaRPr lang="en-US" sz="850" dirty="0"/>
          </a:p>
        </p:txBody>
      </p:sp>
      <p:sp>
        <p:nvSpPr>
          <p:cNvPr id="24" name="Shape 21"/>
          <p:cNvSpPr/>
          <p:nvPr/>
        </p:nvSpPr>
        <p:spPr>
          <a:xfrm>
            <a:off x="4645152" y="4059936"/>
            <a:ext cx="4206240" cy="621792"/>
          </a:xfrm>
          <a:prstGeom prst="rect">
            <a:avLst/>
          </a:prstGeom>
          <a:solidFill>
            <a:srgbClr val="FFFFFF"/>
          </a:solidFill>
          <a:ln w="12700">
            <a:solidFill>
              <a:srgbClr val="1E3A5F"/>
            </a:solidFill>
            <a:prstDash val="solid"/>
          </a:ln>
          <a:effectLst>
            <a:outerShdw blurRad="76200" dist="25400" dir="8100000" algn="bl" rotWithShape="0">
              <a:srgbClr val="000000">
                <a:alpha val="10000"/>
              </a:srgbClr>
            </a:outerShdw>
          </a:effectLst>
        </p:spPr>
        <p:txBody>
          <a:bodyPr/>
          <a:lstStyle/>
          <a:p>
            <a:endParaRPr lang="en-IN"/>
          </a:p>
        </p:txBody>
      </p:sp>
      <p:sp>
        <p:nvSpPr>
          <p:cNvPr id="25" name="Shape 22"/>
          <p:cNvSpPr/>
          <p:nvPr/>
        </p:nvSpPr>
        <p:spPr>
          <a:xfrm>
            <a:off x="4645152" y="4059936"/>
            <a:ext cx="73152" cy="621792"/>
          </a:xfrm>
          <a:prstGeom prst="rect">
            <a:avLst/>
          </a:prstGeom>
          <a:solidFill>
            <a:srgbClr val="1E3A5F"/>
          </a:solidFill>
          <a:ln w="12700">
            <a:solidFill>
              <a:srgbClr val="1E3A5F"/>
            </a:solidFill>
            <a:prstDash val="solid"/>
          </a:ln>
        </p:spPr>
        <p:txBody>
          <a:bodyPr/>
          <a:lstStyle/>
          <a:p>
            <a:endParaRPr lang="en-IN"/>
          </a:p>
        </p:txBody>
      </p:sp>
      <p:sp>
        <p:nvSpPr>
          <p:cNvPr id="26" name="Text 23"/>
          <p:cNvSpPr/>
          <p:nvPr/>
        </p:nvSpPr>
        <p:spPr>
          <a:xfrm>
            <a:off x="4809744" y="4114800"/>
            <a:ext cx="3931920" cy="228600"/>
          </a:xfrm>
          <a:prstGeom prst="rect">
            <a:avLst/>
          </a:prstGeom>
          <a:noFill/>
          <a:ln/>
        </p:spPr>
        <p:txBody>
          <a:bodyPr wrap="square" lIns="0" tIns="0" rIns="0" bIns="0" rtlCol="0" anchor="ctr"/>
          <a:lstStyle/>
          <a:p>
            <a:pPr marL="0" indent="0">
              <a:buNone/>
            </a:pPr>
            <a:r>
              <a:rPr lang="en-US" sz="1000" b="1" dirty="0">
                <a:solidFill>
                  <a:srgbClr val="1E3A5F"/>
                </a:solidFill>
                <a:latin typeface="Calibri" pitchFamily="34" charset="0"/>
                <a:ea typeface="Calibri" pitchFamily="34" charset="-122"/>
                <a:cs typeface="Calibri" pitchFamily="34" charset="-120"/>
              </a:rPr>
              <a:t>Built for AP — Zero Hardware</a:t>
            </a:r>
            <a:endParaRPr lang="en-US" sz="1000" dirty="0"/>
          </a:p>
        </p:txBody>
      </p:sp>
      <p:sp>
        <p:nvSpPr>
          <p:cNvPr id="27" name="Text 24"/>
          <p:cNvSpPr/>
          <p:nvPr/>
        </p:nvSpPr>
        <p:spPr>
          <a:xfrm>
            <a:off x="4809744" y="4361688"/>
            <a:ext cx="3931920" cy="274320"/>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Uses APWRIMS — AP's own data. Zero new sensors. Zero hardware. Immediate deployment possible.</a:t>
            </a:r>
            <a:endParaRPr lang="en-US" sz="850" dirty="0"/>
          </a:p>
        </p:txBody>
      </p:sp>
      <p:sp>
        <p:nvSpPr>
          <p:cNvPr id="28" name="Shape 25"/>
          <p:cNvSpPr/>
          <p:nvPr/>
        </p:nvSpPr>
        <p:spPr>
          <a:xfrm>
            <a:off x="0" y="4818888"/>
            <a:ext cx="9144000" cy="324612"/>
          </a:xfrm>
          <a:prstGeom prst="rect">
            <a:avLst/>
          </a:prstGeom>
          <a:solidFill>
            <a:srgbClr val="E2E8F0"/>
          </a:solidFill>
          <a:ln w="12700">
            <a:solidFill>
              <a:srgbClr val="E2E8F0"/>
            </a:solidFill>
            <a:prstDash val="solid"/>
          </a:ln>
        </p:spPr>
        <p:txBody>
          <a:bodyPr/>
          <a:lstStyle/>
          <a:p>
            <a:endParaRPr lang="en-IN"/>
          </a:p>
        </p:txBody>
      </p:sp>
      <p:sp>
        <p:nvSpPr>
          <p:cNvPr id="29" name="Text 26"/>
          <p:cNvSpPr/>
          <p:nvPr/>
        </p:nvSpPr>
        <p:spPr>
          <a:xfrm>
            <a:off x="274320" y="4837176"/>
            <a:ext cx="7772400" cy="27432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AP-Wrims Early Warning System  |  HierachAI Technologies Pvt. Ltd.  |  DPIIT Recognised · Women-Led · Andhra Pradesh</a:t>
            </a:r>
            <a:endParaRPr lang="en-US" sz="800" dirty="0"/>
          </a:p>
        </p:txBody>
      </p:sp>
      <p:sp>
        <p:nvSpPr>
          <p:cNvPr id="30" name="Text 27"/>
          <p:cNvSpPr/>
          <p:nvPr/>
        </p:nvSpPr>
        <p:spPr>
          <a:xfrm>
            <a:off x="8046720" y="4837176"/>
            <a:ext cx="914400" cy="274320"/>
          </a:xfrm>
          <a:prstGeom prst="rect">
            <a:avLst/>
          </a:prstGeom>
          <a:noFill/>
          <a:ln/>
        </p:spPr>
        <p:txBody>
          <a:bodyPr wrap="square" lIns="0" tIns="0" rIns="0" bIns="0" rtlCol="0" anchor="ctr"/>
          <a:lstStyle/>
          <a:p>
            <a:pPr marL="0" indent="0" algn="r">
              <a:buNone/>
            </a:pPr>
            <a:r>
              <a:rPr lang="en-US" sz="800" dirty="0">
                <a:solidFill>
                  <a:srgbClr val="1E3A5F"/>
                </a:solidFill>
                <a:latin typeface="Calibri" pitchFamily="34" charset="0"/>
                <a:ea typeface="Calibri" pitchFamily="34" charset="-122"/>
                <a:cs typeface="Calibri" pitchFamily="34" charset="-120"/>
              </a:rPr>
              <a:t>12 / 16</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3A5F"/>
          </a:solidFill>
          <a:ln w="12700">
            <a:solidFill>
              <a:srgbClr val="1E3A5F"/>
            </a:solidFill>
            <a:prstDash val="solid"/>
          </a:ln>
        </p:spPr>
        <p:txBody>
          <a:bodyPr/>
          <a:lstStyle/>
          <a:p>
            <a:endParaRPr lang="en-IN"/>
          </a:p>
        </p:txBody>
      </p:sp>
      <p:sp>
        <p:nvSpPr>
          <p:cNvPr id="3" name="Text 1"/>
          <p:cNvSpPr/>
          <p:nvPr/>
        </p:nvSpPr>
        <p:spPr>
          <a:xfrm>
            <a:off x="365760" y="201168"/>
            <a:ext cx="841248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AP-Wrims Early Warning System  ·  HierachAI Technologies Pvt. Ltd.</a:t>
            </a:r>
            <a:endParaRPr lang="en-US" sz="1100" dirty="0"/>
          </a:p>
        </p:txBody>
      </p:sp>
      <p:sp>
        <p:nvSpPr>
          <p:cNvPr id="4" name="Shape 2"/>
          <p:cNvSpPr/>
          <p:nvPr/>
        </p:nvSpPr>
        <p:spPr>
          <a:xfrm>
            <a:off x="0" y="685800"/>
            <a:ext cx="109728" cy="4133088"/>
          </a:xfrm>
          <a:prstGeom prst="rect">
            <a:avLst/>
          </a:prstGeom>
          <a:solidFill>
            <a:srgbClr val="0EA5E9"/>
          </a:solidFill>
          <a:ln w="12700">
            <a:solidFill>
              <a:srgbClr val="0EA5E9"/>
            </a:solidFill>
            <a:prstDash val="solid"/>
          </a:ln>
        </p:spPr>
        <p:txBody>
          <a:bodyPr/>
          <a:lstStyle/>
          <a:p>
            <a:endParaRPr lang="en-IN"/>
          </a:p>
        </p:txBody>
      </p:sp>
      <p:sp>
        <p:nvSpPr>
          <p:cNvPr id="5" name="Shape 3"/>
          <p:cNvSpPr/>
          <p:nvPr/>
        </p:nvSpPr>
        <p:spPr>
          <a:xfrm>
            <a:off x="274320" y="841248"/>
            <a:ext cx="8595360" cy="1664208"/>
          </a:xfrm>
          <a:prstGeom prst="rect">
            <a:avLst/>
          </a:prstGeom>
          <a:solidFill>
            <a:srgbClr val="FEF2F2"/>
          </a:solidFill>
          <a:ln w="12700">
            <a:solidFill>
              <a:srgbClr val="EF4444"/>
            </a:solidFill>
            <a:prstDash val="solid"/>
          </a:ln>
          <a:effectLst>
            <a:outerShdw blurRad="76200" dist="25400" dir="8100000" algn="bl" rotWithShape="0">
              <a:srgbClr val="000000">
                <a:alpha val="10000"/>
              </a:srgbClr>
            </a:outerShdw>
          </a:effectLst>
        </p:spPr>
        <p:txBody>
          <a:bodyPr/>
          <a:lstStyle/>
          <a:p>
            <a:endParaRPr lang="en-IN"/>
          </a:p>
        </p:txBody>
      </p:sp>
      <p:sp>
        <p:nvSpPr>
          <p:cNvPr id="6" name="Shape 4"/>
          <p:cNvSpPr/>
          <p:nvPr/>
        </p:nvSpPr>
        <p:spPr>
          <a:xfrm>
            <a:off x="274320" y="841248"/>
            <a:ext cx="73152" cy="1664208"/>
          </a:xfrm>
          <a:prstGeom prst="rect">
            <a:avLst/>
          </a:prstGeom>
          <a:solidFill>
            <a:srgbClr val="EF4444"/>
          </a:solidFill>
          <a:ln w="12700">
            <a:solidFill>
              <a:srgbClr val="EF4444"/>
            </a:solidFill>
            <a:prstDash val="solid"/>
          </a:ln>
        </p:spPr>
        <p:txBody>
          <a:bodyPr/>
          <a:lstStyle/>
          <a:p>
            <a:endParaRPr lang="en-IN"/>
          </a:p>
        </p:txBody>
      </p:sp>
      <p:sp>
        <p:nvSpPr>
          <p:cNvPr id="7" name="Text 5"/>
          <p:cNvSpPr/>
          <p:nvPr/>
        </p:nvSpPr>
        <p:spPr>
          <a:xfrm>
            <a:off x="457200" y="914400"/>
            <a:ext cx="8321040" cy="347472"/>
          </a:xfrm>
          <a:prstGeom prst="rect">
            <a:avLst/>
          </a:prstGeom>
          <a:noFill/>
          <a:ln/>
        </p:spPr>
        <p:txBody>
          <a:bodyPr wrap="square" lIns="0" tIns="0" rIns="0" bIns="0" rtlCol="0" anchor="ctr"/>
          <a:lstStyle/>
          <a:p>
            <a:pPr marL="0" indent="0">
              <a:buNone/>
            </a:pPr>
            <a:r>
              <a:rPr lang="en-US" sz="1600" b="1" dirty="0">
                <a:solidFill>
                  <a:srgbClr val="EF4444"/>
                </a:solidFill>
                <a:latin typeface="Calibri" pitchFamily="34" charset="0"/>
                <a:ea typeface="Calibri" pitchFamily="34" charset="-122"/>
                <a:cs typeface="Calibri" pitchFamily="34" charset="-120"/>
              </a:rPr>
              <a:t>November 18, 2021.  8:00 AM.</a:t>
            </a:r>
            <a:endParaRPr lang="en-US" sz="1600" dirty="0"/>
          </a:p>
        </p:txBody>
      </p:sp>
      <p:sp>
        <p:nvSpPr>
          <p:cNvPr id="8" name="Text 6"/>
          <p:cNvSpPr/>
          <p:nvPr/>
        </p:nvSpPr>
        <p:spPr>
          <a:xfrm>
            <a:off x="457200" y="1298448"/>
            <a:ext cx="8321040" cy="1097280"/>
          </a:xfrm>
          <a:prstGeom prst="rect">
            <a:avLst/>
          </a:prstGeom>
          <a:noFill/>
          <a:ln/>
        </p:spPr>
        <p:txBody>
          <a:bodyPr wrap="square" lIns="0" tIns="0" rIns="0" bIns="0" rtlCol="0" anchor="ctr"/>
          <a:lstStyle/>
          <a:p>
            <a:pPr marL="0" indent="0">
              <a:buNone/>
            </a:pPr>
            <a:r>
              <a:rPr lang="en-US" sz="1150" dirty="0">
                <a:solidFill>
                  <a:srgbClr val="334155"/>
                </a:solidFill>
                <a:latin typeface="Calibri" pitchFamily="34" charset="0"/>
                <a:ea typeface="Calibri" pitchFamily="34" charset="-122"/>
                <a:cs typeface="Calibri" pitchFamily="34" charset="-120"/>
              </a:rPr>
              <a:t>All these signals existed in your APWRIMS system.</a:t>
            </a:r>
            <a:endParaRPr lang="en-US" sz="1150" dirty="0"/>
          </a:p>
          <a:p>
            <a:pPr marL="0" indent="0">
              <a:buNone/>
            </a:pPr>
            <a:r>
              <a:rPr lang="en-US" sz="1150" dirty="0">
                <a:solidFill>
                  <a:srgbClr val="334155"/>
                </a:solidFill>
                <a:latin typeface="Calibri" pitchFamily="34" charset="0"/>
                <a:ea typeface="Calibri" pitchFamily="34" charset="-122"/>
                <a:cs typeface="Calibri" pitchFamily="34" charset="-120"/>
              </a:rPr>
              <a:t>Our system would have flagged CRITICAL and generated alerts for 1,247 contacts — ready for authorized dispatch.</a:t>
            </a:r>
            <a:endParaRPr lang="en-US" sz="1150" dirty="0"/>
          </a:p>
          <a:p>
            <a:pPr marL="0" indent="0">
              <a:buNone/>
            </a:pPr>
            <a:r>
              <a:rPr lang="en-US" sz="1150" dirty="0">
                <a:solidFill>
                  <a:srgbClr val="334155"/>
                </a:solidFill>
                <a:latin typeface="Calibri" pitchFamily="34" charset="0"/>
                <a:ea typeface="Calibri" pitchFamily="34" charset="-122"/>
                <a:cs typeface="Calibri" pitchFamily="34" charset="-120"/>
              </a:rPr>
              <a:t>The breach happened at 5:30 AM on November 19.</a:t>
            </a:r>
            <a:endParaRPr lang="en-US" sz="1150" dirty="0"/>
          </a:p>
          <a:p>
            <a:pPr marL="0" indent="0">
              <a:buNone/>
            </a:pPr>
            <a:r>
              <a:rPr lang="en-US" sz="1150" dirty="0">
                <a:solidFill>
                  <a:srgbClr val="334155"/>
                </a:solidFill>
                <a:latin typeface="Calibri" pitchFamily="34" charset="0"/>
                <a:ea typeface="Calibri" pitchFamily="34" charset="-122"/>
                <a:cs typeface="Calibri" pitchFamily="34" charset="-120"/>
              </a:rPr>
              <a:t>33 people had an estimated ~17 hour window. They never got the warning.</a:t>
            </a:r>
            <a:endParaRPr lang="en-US" sz="1150" dirty="0"/>
          </a:p>
        </p:txBody>
      </p:sp>
      <p:sp>
        <p:nvSpPr>
          <p:cNvPr id="9" name="Shape 7"/>
          <p:cNvSpPr/>
          <p:nvPr/>
        </p:nvSpPr>
        <p:spPr>
          <a:xfrm>
            <a:off x="274320" y="2633472"/>
            <a:ext cx="8595360" cy="45720"/>
          </a:xfrm>
          <a:prstGeom prst="rect">
            <a:avLst/>
          </a:prstGeom>
          <a:solidFill>
            <a:srgbClr val="F59E0B"/>
          </a:solidFill>
          <a:ln w="12700">
            <a:solidFill>
              <a:srgbClr val="F59E0B"/>
            </a:solidFill>
            <a:prstDash val="solid"/>
          </a:ln>
        </p:spPr>
        <p:txBody>
          <a:bodyPr/>
          <a:lstStyle/>
          <a:p>
            <a:endParaRPr lang="en-IN"/>
          </a:p>
        </p:txBody>
      </p:sp>
      <p:sp>
        <p:nvSpPr>
          <p:cNvPr id="10" name="Text 8"/>
          <p:cNvSpPr/>
          <p:nvPr/>
        </p:nvSpPr>
        <p:spPr>
          <a:xfrm>
            <a:off x="274320" y="2743200"/>
            <a:ext cx="8595360" cy="1828800"/>
          </a:xfrm>
          <a:prstGeom prst="rect">
            <a:avLst/>
          </a:prstGeom>
          <a:noFill/>
          <a:ln/>
        </p:spPr>
        <p:txBody>
          <a:bodyPr wrap="square" lIns="0" tIns="0" rIns="0" bIns="0" rtlCol="0" anchor="ctr"/>
          <a:lstStyle/>
          <a:p>
            <a:pPr marL="0" indent="0">
              <a:buNone/>
            </a:pPr>
            <a:r>
              <a:rPr lang="en-US" sz="1600" b="1" i="1" dirty="0">
                <a:solidFill>
                  <a:srgbClr val="1E3A5F"/>
                </a:solidFill>
                <a:latin typeface="Calibri" pitchFamily="34" charset="0"/>
                <a:ea typeface="Calibri" pitchFamily="34" charset="-122"/>
                <a:cs typeface="Calibri" pitchFamily="34" charset="-120"/>
              </a:rPr>
              <a:t>"Current systems tell you risk.</a:t>
            </a:r>
            <a:endParaRPr lang="en-US" sz="1600" dirty="0"/>
          </a:p>
          <a:p>
            <a:pPr marL="0" indent="0">
              <a:buNone/>
            </a:pPr>
            <a:r>
              <a:rPr lang="en-US" sz="1600" b="1" i="1" dirty="0">
                <a:solidFill>
                  <a:srgbClr val="1E3A5F"/>
                </a:solidFill>
                <a:latin typeface="Calibri" pitchFamily="34" charset="0"/>
                <a:ea typeface="Calibri" pitchFamily="34" charset="-122"/>
                <a:cs typeface="Calibri" pitchFamily="34" charset="-120"/>
              </a:rPr>
              <a:t>We tell you what to do next —</a:t>
            </a:r>
            <a:endParaRPr lang="en-US" sz="1600" dirty="0"/>
          </a:p>
          <a:p>
            <a:pPr marL="0" indent="0">
              <a:buNone/>
            </a:pPr>
            <a:r>
              <a:rPr lang="en-US" sz="1600" b="1" i="1" dirty="0">
                <a:solidFill>
                  <a:srgbClr val="1E3A5F"/>
                </a:solidFill>
                <a:latin typeface="Calibri" pitchFamily="34" charset="0"/>
                <a:ea typeface="Calibri" pitchFamily="34" charset="-122"/>
                <a:cs typeface="Calibri" pitchFamily="34" charset="-120"/>
              </a:rPr>
              <a:t>where to act, which villages to alert,</a:t>
            </a:r>
            <a:endParaRPr lang="en-US" sz="1600" dirty="0"/>
          </a:p>
          <a:p>
            <a:pPr marL="0" indent="0">
              <a:buNone/>
            </a:pPr>
            <a:r>
              <a:rPr lang="en-US" sz="1600" b="1" i="1" dirty="0">
                <a:solidFill>
                  <a:srgbClr val="1E3A5F"/>
                </a:solidFill>
                <a:latin typeface="Calibri" pitchFamily="34" charset="0"/>
                <a:ea typeface="Calibri" pitchFamily="34" charset="-122"/>
                <a:cs typeface="Calibri" pitchFamily="34" charset="-120"/>
              </a:rPr>
              <a:t>and what options reduce the damage.</a:t>
            </a:r>
            <a:endParaRPr lang="en-US" sz="1600" dirty="0"/>
          </a:p>
          <a:p>
            <a:pPr marL="0" indent="0">
              <a:buNone/>
            </a:pPr>
            <a:endParaRPr lang="en-US" sz="1600" dirty="0"/>
          </a:p>
          <a:p>
            <a:pPr marL="0" indent="0">
              <a:buNone/>
            </a:pPr>
            <a:r>
              <a:rPr lang="en-US" sz="1600" b="1" i="1" dirty="0">
                <a:solidFill>
                  <a:srgbClr val="1E3A5F"/>
                </a:solidFill>
                <a:latin typeface="Calibri" pitchFamily="34" charset="0"/>
                <a:ea typeface="Calibri" pitchFamily="34" charset="-122"/>
                <a:cs typeface="Calibri" pitchFamily="34" charset="-120"/>
              </a:rPr>
              <a:t>That is the difference between data and decision."</a:t>
            </a:r>
            <a:endParaRPr lang="en-US" sz="1600" dirty="0"/>
          </a:p>
        </p:txBody>
      </p:sp>
      <p:sp>
        <p:nvSpPr>
          <p:cNvPr id="11" name="Shape 9"/>
          <p:cNvSpPr/>
          <p:nvPr/>
        </p:nvSpPr>
        <p:spPr>
          <a:xfrm>
            <a:off x="274320" y="4645152"/>
            <a:ext cx="8595360" cy="201168"/>
          </a:xfrm>
          <a:prstGeom prst="rect">
            <a:avLst/>
          </a:prstGeom>
          <a:solidFill>
            <a:srgbClr val="1E3A5F"/>
          </a:solidFill>
          <a:ln w="12700">
            <a:solidFill>
              <a:srgbClr val="1E3A5F"/>
            </a:solidFill>
            <a:prstDash val="solid"/>
          </a:ln>
        </p:spPr>
        <p:txBody>
          <a:bodyPr/>
          <a:lstStyle/>
          <a:p>
            <a:endParaRPr lang="en-IN"/>
          </a:p>
        </p:txBody>
      </p:sp>
      <p:sp>
        <p:nvSpPr>
          <p:cNvPr id="12" name="Text 10"/>
          <p:cNvSpPr/>
          <p:nvPr/>
        </p:nvSpPr>
        <p:spPr>
          <a:xfrm>
            <a:off x="365760" y="4663440"/>
            <a:ext cx="8412480" cy="164592"/>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HierachAI Technologies Pvt. Ltd.  ·  Director: Eeda Nagamani  ·  DPIIT Recognised · Women-Led · MSME  ·  hierachai.com  ·  9494762558</a:t>
            </a:r>
            <a:endParaRPr lang="en-US" sz="850" dirty="0"/>
          </a:p>
        </p:txBody>
      </p:sp>
      <p:sp>
        <p:nvSpPr>
          <p:cNvPr id="13" name="Shape 11"/>
          <p:cNvSpPr/>
          <p:nvPr/>
        </p:nvSpPr>
        <p:spPr>
          <a:xfrm>
            <a:off x="0" y="4818888"/>
            <a:ext cx="9144000" cy="324612"/>
          </a:xfrm>
          <a:prstGeom prst="rect">
            <a:avLst/>
          </a:prstGeom>
          <a:solidFill>
            <a:srgbClr val="E2E8F0"/>
          </a:solidFill>
          <a:ln w="12700">
            <a:solidFill>
              <a:srgbClr val="E2E8F0"/>
            </a:solidFill>
            <a:prstDash val="solid"/>
          </a:ln>
        </p:spPr>
        <p:txBody>
          <a:bodyPr/>
          <a:lstStyle/>
          <a:p>
            <a:endParaRPr lang="en-IN"/>
          </a:p>
        </p:txBody>
      </p:sp>
      <p:sp>
        <p:nvSpPr>
          <p:cNvPr id="14" name="Text 12"/>
          <p:cNvSpPr/>
          <p:nvPr/>
        </p:nvSpPr>
        <p:spPr>
          <a:xfrm>
            <a:off x="274320" y="4837176"/>
            <a:ext cx="7772400" cy="27432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AP-Wrims Early Warning System  |  HierachAI Technologies Pvt. Ltd.  |  DPIIT Recognised · Women-Led · Andhra Pradesh</a:t>
            </a:r>
            <a:endParaRPr lang="en-US" sz="800" dirty="0"/>
          </a:p>
        </p:txBody>
      </p:sp>
      <p:sp>
        <p:nvSpPr>
          <p:cNvPr id="15" name="Text 13"/>
          <p:cNvSpPr/>
          <p:nvPr/>
        </p:nvSpPr>
        <p:spPr>
          <a:xfrm>
            <a:off x="8046720" y="4837176"/>
            <a:ext cx="914400" cy="274320"/>
          </a:xfrm>
          <a:prstGeom prst="rect">
            <a:avLst/>
          </a:prstGeom>
          <a:noFill/>
          <a:ln/>
        </p:spPr>
        <p:txBody>
          <a:bodyPr wrap="square" lIns="0" tIns="0" rIns="0" bIns="0" rtlCol="0" anchor="ctr"/>
          <a:lstStyle/>
          <a:p>
            <a:pPr marL="0" indent="0" algn="r">
              <a:buNone/>
            </a:pPr>
            <a:r>
              <a:rPr lang="en-US" sz="800" dirty="0">
                <a:solidFill>
                  <a:srgbClr val="1E3A5F"/>
                </a:solidFill>
                <a:latin typeface="Calibri" pitchFamily="34" charset="0"/>
                <a:ea typeface="Calibri" pitchFamily="34" charset="-122"/>
                <a:cs typeface="Calibri" pitchFamily="34" charset="-120"/>
              </a:rPr>
              <a:t>13 / 16</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3A5F"/>
          </a:solidFill>
          <a:ln w="12700">
            <a:solidFill>
              <a:srgbClr val="1E3A5F"/>
            </a:solidFill>
            <a:prstDash val="solid"/>
          </a:ln>
        </p:spPr>
        <p:txBody>
          <a:bodyPr/>
          <a:lstStyle/>
          <a:p>
            <a:endParaRPr lang="en-IN"/>
          </a:p>
        </p:txBody>
      </p:sp>
      <p:sp>
        <p:nvSpPr>
          <p:cNvPr id="3" name="Shape 1"/>
          <p:cNvSpPr/>
          <p:nvPr/>
        </p:nvSpPr>
        <p:spPr>
          <a:xfrm>
            <a:off x="0" y="73152"/>
            <a:ext cx="9144000" cy="658368"/>
          </a:xfrm>
          <a:prstGeom prst="rect">
            <a:avLst/>
          </a:prstGeom>
          <a:solidFill>
            <a:srgbClr val="FFFFFF"/>
          </a:solidFill>
          <a:ln w="12700">
            <a:solidFill>
              <a:srgbClr val="E2E8F0"/>
            </a:solidFill>
            <a:prstDash val="solid"/>
          </a:ln>
        </p:spPr>
        <p:txBody>
          <a:bodyPr/>
          <a:lstStyle/>
          <a:p>
            <a:endParaRPr lang="en-IN"/>
          </a:p>
        </p:txBody>
      </p:sp>
      <p:sp>
        <p:nvSpPr>
          <p:cNvPr id="4" name="Text 2"/>
          <p:cNvSpPr/>
          <p:nvPr/>
        </p:nvSpPr>
        <p:spPr>
          <a:xfrm>
            <a:off x="365760" y="91440"/>
            <a:ext cx="8412480" cy="475488"/>
          </a:xfrm>
          <a:prstGeom prst="rect">
            <a:avLst/>
          </a:prstGeom>
          <a:noFill/>
          <a:ln/>
        </p:spPr>
        <p:txBody>
          <a:bodyPr wrap="square" lIns="0" tIns="0" rIns="0" bIns="0" rtlCol="0" anchor="ctr"/>
          <a:lstStyle/>
          <a:p>
            <a:pPr marL="0" indent="0">
              <a:buNone/>
            </a:pPr>
            <a:r>
              <a:rPr lang="en-US" sz="2000" b="1" dirty="0">
                <a:solidFill>
                  <a:srgbClr val="0F172A"/>
                </a:solidFill>
                <a:latin typeface="Calibri" pitchFamily="34" charset="0"/>
                <a:ea typeface="Calibri" pitchFamily="34" charset="-122"/>
                <a:cs typeface="Calibri" pitchFamily="34" charset="-120"/>
              </a:rPr>
              <a:t>🚀  Future Roadmap — Phase 2 &amp; Scale</a:t>
            </a:r>
            <a:endParaRPr lang="en-US" sz="2000" dirty="0"/>
          </a:p>
        </p:txBody>
      </p:sp>
      <p:sp>
        <p:nvSpPr>
          <p:cNvPr id="5" name="Shape 3"/>
          <p:cNvSpPr/>
          <p:nvPr/>
        </p:nvSpPr>
        <p:spPr>
          <a:xfrm>
            <a:off x="0" y="731520"/>
            <a:ext cx="9144000" cy="256032"/>
          </a:xfrm>
          <a:prstGeom prst="rect">
            <a:avLst/>
          </a:prstGeom>
          <a:solidFill>
            <a:srgbClr val="EFF6FF"/>
          </a:solidFill>
          <a:ln w="12700">
            <a:solidFill>
              <a:srgbClr val="BFDBFE"/>
            </a:solidFill>
            <a:prstDash val="solid"/>
          </a:ln>
        </p:spPr>
        <p:txBody>
          <a:bodyPr/>
          <a:lstStyle/>
          <a:p>
            <a:endParaRPr lang="en-IN"/>
          </a:p>
        </p:txBody>
      </p:sp>
      <p:sp>
        <p:nvSpPr>
          <p:cNvPr id="6" name="Text 4"/>
          <p:cNvSpPr/>
          <p:nvPr/>
        </p:nvSpPr>
        <p:spPr>
          <a:xfrm>
            <a:off x="365760" y="749808"/>
            <a:ext cx="8412480" cy="219456"/>
          </a:xfrm>
          <a:prstGeom prst="rect">
            <a:avLst/>
          </a:prstGeom>
          <a:noFill/>
          <a:ln/>
        </p:spPr>
        <p:txBody>
          <a:bodyPr wrap="square" lIns="0" tIns="0" rIns="0" bIns="0" rtlCol="0" anchor="ctr"/>
          <a:lstStyle/>
          <a:p>
            <a:pPr marL="0" indent="0">
              <a:buNone/>
            </a:pPr>
            <a:r>
              <a:rPr lang="en-US" sz="950" dirty="0">
                <a:solidFill>
                  <a:srgbClr val="0284C7"/>
                </a:solidFill>
                <a:latin typeface="Calibri" pitchFamily="34" charset="0"/>
                <a:ea typeface="Calibri" pitchFamily="34" charset="-122"/>
                <a:cs typeface="Calibri" pitchFamily="34" charset="-120"/>
              </a:rPr>
              <a:t>From proof-of-concept to statewide implementation across all 38,600 MI tanks</a:t>
            </a:r>
            <a:endParaRPr lang="en-US" sz="950" dirty="0"/>
          </a:p>
        </p:txBody>
      </p:sp>
      <p:sp>
        <p:nvSpPr>
          <p:cNvPr id="7" name="Shape 5"/>
          <p:cNvSpPr/>
          <p:nvPr/>
        </p:nvSpPr>
        <p:spPr>
          <a:xfrm>
            <a:off x="274320" y="1078992"/>
            <a:ext cx="2743200" cy="3493008"/>
          </a:xfrm>
          <a:prstGeom prst="rect">
            <a:avLst/>
          </a:prstGeom>
          <a:solidFill>
            <a:srgbClr val="FFFFFF"/>
          </a:solidFill>
          <a:ln w="12700">
            <a:solidFill>
              <a:srgbClr val="22C55E"/>
            </a:solidFill>
            <a:prstDash val="solid"/>
          </a:ln>
          <a:effectLst>
            <a:outerShdw blurRad="76200" dist="25400" dir="8100000" algn="bl" rotWithShape="0">
              <a:srgbClr val="000000">
                <a:alpha val="10000"/>
              </a:srgbClr>
            </a:outerShdw>
          </a:effectLst>
        </p:spPr>
        <p:txBody>
          <a:bodyPr/>
          <a:lstStyle/>
          <a:p>
            <a:endParaRPr lang="en-IN"/>
          </a:p>
        </p:txBody>
      </p:sp>
      <p:sp>
        <p:nvSpPr>
          <p:cNvPr id="8" name="Shape 6"/>
          <p:cNvSpPr/>
          <p:nvPr/>
        </p:nvSpPr>
        <p:spPr>
          <a:xfrm>
            <a:off x="274320" y="1078992"/>
            <a:ext cx="2743200" cy="658368"/>
          </a:xfrm>
          <a:prstGeom prst="rect">
            <a:avLst/>
          </a:prstGeom>
          <a:solidFill>
            <a:srgbClr val="22C55E"/>
          </a:solidFill>
          <a:ln w="12700">
            <a:solidFill>
              <a:srgbClr val="22C55E"/>
            </a:solidFill>
            <a:prstDash val="solid"/>
          </a:ln>
        </p:spPr>
        <p:txBody>
          <a:bodyPr/>
          <a:lstStyle/>
          <a:p>
            <a:endParaRPr lang="en-IN"/>
          </a:p>
        </p:txBody>
      </p:sp>
      <p:sp>
        <p:nvSpPr>
          <p:cNvPr id="9" name="Text 7"/>
          <p:cNvSpPr/>
          <p:nvPr/>
        </p:nvSpPr>
        <p:spPr>
          <a:xfrm>
            <a:off x="365760" y="1115568"/>
            <a:ext cx="2560320"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PHASE 1 — NOW</a:t>
            </a:r>
            <a:endParaRPr lang="en-US" sz="950" dirty="0"/>
          </a:p>
        </p:txBody>
      </p:sp>
      <p:sp>
        <p:nvSpPr>
          <p:cNvPr id="10" name="Text 8"/>
          <p:cNvSpPr/>
          <p:nvPr/>
        </p:nvSpPr>
        <p:spPr>
          <a:xfrm>
            <a:off x="365760" y="1371600"/>
            <a:ext cx="2560320"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Proof of Concept</a:t>
            </a:r>
            <a:endParaRPr lang="en-US" sz="1300" dirty="0"/>
          </a:p>
        </p:txBody>
      </p:sp>
      <p:sp>
        <p:nvSpPr>
          <p:cNvPr id="11" name="Shape 9"/>
          <p:cNvSpPr/>
          <p:nvPr/>
        </p:nvSpPr>
        <p:spPr>
          <a:xfrm>
            <a:off x="384048" y="1828800"/>
            <a:ext cx="2523744" cy="420624"/>
          </a:xfrm>
          <a:prstGeom prst="rect">
            <a:avLst/>
          </a:prstGeom>
          <a:solidFill>
            <a:srgbClr val="F8FAFC"/>
          </a:solidFill>
          <a:ln w="12700">
            <a:solidFill>
              <a:srgbClr val="E2E8F0"/>
            </a:solidFill>
            <a:prstDash val="solid"/>
          </a:ln>
        </p:spPr>
        <p:txBody>
          <a:bodyPr/>
          <a:lstStyle/>
          <a:p>
            <a:endParaRPr lang="en-IN"/>
          </a:p>
        </p:txBody>
      </p:sp>
      <p:sp>
        <p:nvSpPr>
          <p:cNvPr id="12" name="Text 10"/>
          <p:cNvSpPr/>
          <p:nvPr/>
        </p:nvSpPr>
        <p:spPr>
          <a:xfrm>
            <a:off x="457200" y="1865376"/>
            <a:ext cx="2377440" cy="347472"/>
          </a:xfrm>
          <a:prstGeom prst="rect">
            <a:avLst/>
          </a:prstGeom>
          <a:noFill/>
          <a:ln/>
        </p:spPr>
        <p:txBody>
          <a:bodyPr wrap="square" lIns="0" tIns="0" rIns="0" bIns="0" rtlCol="0" anchor="ctr"/>
          <a:lstStyle/>
          <a:p>
            <a:pPr marL="0" indent="0">
              <a:buNone/>
            </a:pPr>
            <a:r>
              <a:rPr lang="en-US" sz="950" dirty="0">
                <a:solidFill>
                  <a:srgbClr val="0F172A"/>
                </a:solidFill>
                <a:latin typeface="Calibri" pitchFamily="34" charset="0"/>
                <a:ea typeface="Calibri" pitchFamily="34" charset="-122"/>
                <a:cs typeface="Calibri" pitchFamily="34" charset="-120"/>
              </a:rPr>
              <a:t>✓  Annamayya catchment — live</a:t>
            </a:r>
            <a:endParaRPr lang="en-US" sz="950" dirty="0"/>
          </a:p>
        </p:txBody>
      </p:sp>
      <p:sp>
        <p:nvSpPr>
          <p:cNvPr id="13" name="Shape 11"/>
          <p:cNvSpPr/>
          <p:nvPr/>
        </p:nvSpPr>
        <p:spPr>
          <a:xfrm>
            <a:off x="384048" y="2331720"/>
            <a:ext cx="2523744" cy="420624"/>
          </a:xfrm>
          <a:prstGeom prst="rect">
            <a:avLst/>
          </a:prstGeom>
          <a:solidFill>
            <a:srgbClr val="FFFFFF"/>
          </a:solidFill>
          <a:ln w="12700">
            <a:solidFill>
              <a:srgbClr val="E2E8F0"/>
            </a:solidFill>
            <a:prstDash val="solid"/>
          </a:ln>
        </p:spPr>
        <p:txBody>
          <a:bodyPr/>
          <a:lstStyle/>
          <a:p>
            <a:endParaRPr lang="en-IN"/>
          </a:p>
        </p:txBody>
      </p:sp>
      <p:sp>
        <p:nvSpPr>
          <p:cNvPr id="14" name="Text 12"/>
          <p:cNvSpPr/>
          <p:nvPr/>
        </p:nvSpPr>
        <p:spPr>
          <a:xfrm>
            <a:off x="457200" y="2368296"/>
            <a:ext cx="2377440" cy="347472"/>
          </a:xfrm>
          <a:prstGeom prst="rect">
            <a:avLst/>
          </a:prstGeom>
          <a:noFill/>
          <a:ln/>
        </p:spPr>
        <p:txBody>
          <a:bodyPr wrap="square" lIns="0" tIns="0" rIns="0" bIns="0" rtlCol="0" anchor="ctr"/>
          <a:lstStyle/>
          <a:p>
            <a:pPr marL="0" indent="0">
              <a:buNone/>
            </a:pPr>
            <a:r>
              <a:rPr lang="en-US" sz="950" dirty="0">
                <a:solidFill>
                  <a:srgbClr val="0F172A"/>
                </a:solidFill>
                <a:latin typeface="Calibri" pitchFamily="34" charset="0"/>
                <a:ea typeface="Calibri" pitchFamily="34" charset="-122"/>
                <a:cs typeface="Calibri" pitchFamily="34" charset="-120"/>
              </a:rPr>
              <a:t>✓  5-signal hybrid risk engine</a:t>
            </a:r>
            <a:endParaRPr lang="en-US" sz="950" dirty="0"/>
          </a:p>
        </p:txBody>
      </p:sp>
      <p:sp>
        <p:nvSpPr>
          <p:cNvPr id="15" name="Shape 13"/>
          <p:cNvSpPr/>
          <p:nvPr/>
        </p:nvSpPr>
        <p:spPr>
          <a:xfrm>
            <a:off x="384048" y="2834640"/>
            <a:ext cx="2523744" cy="420624"/>
          </a:xfrm>
          <a:prstGeom prst="rect">
            <a:avLst/>
          </a:prstGeom>
          <a:solidFill>
            <a:srgbClr val="F8FAFC"/>
          </a:solidFill>
          <a:ln w="12700">
            <a:solidFill>
              <a:srgbClr val="E2E8F0"/>
            </a:solidFill>
            <a:prstDash val="solid"/>
          </a:ln>
        </p:spPr>
        <p:txBody>
          <a:bodyPr/>
          <a:lstStyle/>
          <a:p>
            <a:endParaRPr lang="en-IN"/>
          </a:p>
        </p:txBody>
      </p:sp>
      <p:sp>
        <p:nvSpPr>
          <p:cNvPr id="16" name="Text 14"/>
          <p:cNvSpPr/>
          <p:nvPr/>
        </p:nvSpPr>
        <p:spPr>
          <a:xfrm>
            <a:off x="457200" y="2871216"/>
            <a:ext cx="2377440" cy="347472"/>
          </a:xfrm>
          <a:prstGeom prst="rect">
            <a:avLst/>
          </a:prstGeom>
          <a:noFill/>
          <a:ln/>
        </p:spPr>
        <p:txBody>
          <a:bodyPr wrap="square" lIns="0" tIns="0" rIns="0" bIns="0" rtlCol="0" anchor="ctr"/>
          <a:lstStyle/>
          <a:p>
            <a:pPr marL="0" indent="0">
              <a:buNone/>
            </a:pPr>
            <a:r>
              <a:rPr lang="en-US" sz="950" dirty="0">
                <a:solidFill>
                  <a:srgbClr val="0F172A"/>
                </a:solidFill>
                <a:latin typeface="Calibri" pitchFamily="34" charset="0"/>
                <a:ea typeface="Calibri" pitchFamily="34" charset="-122"/>
                <a:cs typeface="Calibri" pitchFamily="34" charset="-120"/>
              </a:rPr>
              <a:t>✓  Cascade network detection</a:t>
            </a:r>
            <a:endParaRPr lang="en-US" sz="950" dirty="0"/>
          </a:p>
        </p:txBody>
      </p:sp>
      <p:sp>
        <p:nvSpPr>
          <p:cNvPr id="17" name="Shape 15"/>
          <p:cNvSpPr/>
          <p:nvPr/>
        </p:nvSpPr>
        <p:spPr>
          <a:xfrm>
            <a:off x="384048" y="3337560"/>
            <a:ext cx="2523744" cy="420624"/>
          </a:xfrm>
          <a:prstGeom prst="rect">
            <a:avLst/>
          </a:prstGeom>
          <a:solidFill>
            <a:srgbClr val="FFFFFF"/>
          </a:solidFill>
          <a:ln w="12700">
            <a:solidFill>
              <a:srgbClr val="E2E8F0"/>
            </a:solidFill>
            <a:prstDash val="solid"/>
          </a:ln>
        </p:spPr>
        <p:txBody>
          <a:bodyPr/>
          <a:lstStyle/>
          <a:p>
            <a:endParaRPr lang="en-IN"/>
          </a:p>
        </p:txBody>
      </p:sp>
      <p:sp>
        <p:nvSpPr>
          <p:cNvPr id="18" name="Text 16"/>
          <p:cNvSpPr/>
          <p:nvPr/>
        </p:nvSpPr>
        <p:spPr>
          <a:xfrm>
            <a:off x="457200" y="3374136"/>
            <a:ext cx="2377440" cy="347472"/>
          </a:xfrm>
          <a:prstGeom prst="rect">
            <a:avLst/>
          </a:prstGeom>
          <a:noFill/>
          <a:ln/>
        </p:spPr>
        <p:txBody>
          <a:bodyPr wrap="square" lIns="0" tIns="0" rIns="0" bIns="0" rtlCol="0" anchor="ctr"/>
          <a:lstStyle/>
          <a:p>
            <a:pPr marL="0" indent="0">
              <a:buNone/>
            </a:pPr>
            <a:r>
              <a:rPr lang="en-US" sz="950" dirty="0">
                <a:solidFill>
                  <a:srgbClr val="0F172A"/>
                </a:solidFill>
                <a:latin typeface="Calibri" pitchFamily="34" charset="0"/>
                <a:ea typeface="Calibri" pitchFamily="34" charset="-122"/>
                <a:cs typeface="Calibri" pitchFamily="34" charset="-120"/>
              </a:rPr>
              <a:t>✓  SMS alert to villages + APSDMA</a:t>
            </a:r>
            <a:endParaRPr lang="en-US" sz="950" dirty="0"/>
          </a:p>
        </p:txBody>
      </p:sp>
      <p:sp>
        <p:nvSpPr>
          <p:cNvPr id="19" name="Shape 17"/>
          <p:cNvSpPr/>
          <p:nvPr/>
        </p:nvSpPr>
        <p:spPr>
          <a:xfrm>
            <a:off x="384048" y="3840480"/>
            <a:ext cx="2523744" cy="420624"/>
          </a:xfrm>
          <a:prstGeom prst="rect">
            <a:avLst/>
          </a:prstGeom>
          <a:solidFill>
            <a:srgbClr val="F8FAFC"/>
          </a:solidFill>
          <a:ln w="12700">
            <a:solidFill>
              <a:srgbClr val="E2E8F0"/>
            </a:solidFill>
            <a:prstDash val="solid"/>
          </a:ln>
        </p:spPr>
        <p:txBody>
          <a:bodyPr/>
          <a:lstStyle/>
          <a:p>
            <a:endParaRPr lang="en-IN"/>
          </a:p>
        </p:txBody>
      </p:sp>
      <p:sp>
        <p:nvSpPr>
          <p:cNvPr id="20" name="Text 18"/>
          <p:cNvSpPr/>
          <p:nvPr/>
        </p:nvSpPr>
        <p:spPr>
          <a:xfrm>
            <a:off x="457200" y="3877056"/>
            <a:ext cx="2377440" cy="347472"/>
          </a:xfrm>
          <a:prstGeom prst="rect">
            <a:avLst/>
          </a:prstGeom>
          <a:noFill/>
          <a:ln/>
        </p:spPr>
        <p:txBody>
          <a:bodyPr wrap="square" lIns="0" tIns="0" rIns="0" bIns="0" rtlCol="0" anchor="ctr"/>
          <a:lstStyle/>
          <a:p>
            <a:pPr marL="0" indent="0">
              <a:buNone/>
            </a:pPr>
            <a:r>
              <a:rPr lang="en-US" sz="950" dirty="0">
                <a:solidFill>
                  <a:srgbClr val="0F172A"/>
                </a:solidFill>
                <a:latin typeface="Calibri" pitchFamily="34" charset="0"/>
                <a:ea typeface="Calibri" pitchFamily="34" charset="-122"/>
                <a:cs typeface="Calibri" pitchFamily="34" charset="-120"/>
              </a:rPr>
              <a:t>✓  Real APWRIMS data validated</a:t>
            </a:r>
            <a:endParaRPr lang="en-US" sz="950" dirty="0"/>
          </a:p>
        </p:txBody>
      </p:sp>
      <p:sp>
        <p:nvSpPr>
          <p:cNvPr id="21" name="Shape 19"/>
          <p:cNvSpPr/>
          <p:nvPr/>
        </p:nvSpPr>
        <p:spPr>
          <a:xfrm>
            <a:off x="3182112" y="1078992"/>
            <a:ext cx="2743200" cy="3493008"/>
          </a:xfrm>
          <a:prstGeom prst="rect">
            <a:avLst/>
          </a:prstGeom>
          <a:solidFill>
            <a:srgbClr val="FFFFFF"/>
          </a:solidFill>
          <a:ln w="12700">
            <a:solidFill>
              <a:srgbClr val="F59E0B"/>
            </a:solidFill>
            <a:prstDash val="solid"/>
          </a:ln>
          <a:effectLst>
            <a:outerShdw blurRad="76200" dist="25400" dir="8100000" algn="bl" rotWithShape="0">
              <a:srgbClr val="000000">
                <a:alpha val="10000"/>
              </a:srgbClr>
            </a:outerShdw>
          </a:effectLst>
        </p:spPr>
        <p:txBody>
          <a:bodyPr/>
          <a:lstStyle/>
          <a:p>
            <a:endParaRPr lang="en-IN"/>
          </a:p>
        </p:txBody>
      </p:sp>
      <p:sp>
        <p:nvSpPr>
          <p:cNvPr id="22" name="Shape 20"/>
          <p:cNvSpPr/>
          <p:nvPr/>
        </p:nvSpPr>
        <p:spPr>
          <a:xfrm>
            <a:off x="3182112" y="1078992"/>
            <a:ext cx="2743200" cy="658368"/>
          </a:xfrm>
          <a:prstGeom prst="rect">
            <a:avLst/>
          </a:prstGeom>
          <a:solidFill>
            <a:srgbClr val="F59E0B"/>
          </a:solidFill>
          <a:ln w="12700">
            <a:solidFill>
              <a:srgbClr val="F59E0B"/>
            </a:solidFill>
            <a:prstDash val="solid"/>
          </a:ln>
        </p:spPr>
        <p:txBody>
          <a:bodyPr/>
          <a:lstStyle/>
          <a:p>
            <a:endParaRPr lang="en-IN"/>
          </a:p>
        </p:txBody>
      </p:sp>
      <p:sp>
        <p:nvSpPr>
          <p:cNvPr id="23" name="Text 21"/>
          <p:cNvSpPr/>
          <p:nvPr/>
        </p:nvSpPr>
        <p:spPr>
          <a:xfrm>
            <a:off x="3273552" y="1115568"/>
            <a:ext cx="2560320"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PHASE 2 — 6 months</a:t>
            </a:r>
            <a:endParaRPr lang="en-US" sz="950" dirty="0"/>
          </a:p>
        </p:txBody>
      </p:sp>
      <p:sp>
        <p:nvSpPr>
          <p:cNvPr id="24" name="Text 22"/>
          <p:cNvSpPr/>
          <p:nvPr/>
        </p:nvSpPr>
        <p:spPr>
          <a:xfrm>
            <a:off x="3273552" y="1371600"/>
            <a:ext cx="2560320"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District Rollout</a:t>
            </a:r>
            <a:endParaRPr lang="en-US" sz="1300" dirty="0"/>
          </a:p>
        </p:txBody>
      </p:sp>
      <p:sp>
        <p:nvSpPr>
          <p:cNvPr id="25" name="Shape 23"/>
          <p:cNvSpPr/>
          <p:nvPr/>
        </p:nvSpPr>
        <p:spPr>
          <a:xfrm>
            <a:off x="3291840" y="1828800"/>
            <a:ext cx="2523744" cy="420624"/>
          </a:xfrm>
          <a:prstGeom prst="rect">
            <a:avLst/>
          </a:prstGeom>
          <a:solidFill>
            <a:srgbClr val="F8FAFC"/>
          </a:solidFill>
          <a:ln w="12700">
            <a:solidFill>
              <a:srgbClr val="E2E8F0"/>
            </a:solidFill>
            <a:prstDash val="solid"/>
          </a:ln>
        </p:spPr>
        <p:txBody>
          <a:bodyPr/>
          <a:lstStyle/>
          <a:p>
            <a:endParaRPr lang="en-IN"/>
          </a:p>
        </p:txBody>
      </p:sp>
      <p:sp>
        <p:nvSpPr>
          <p:cNvPr id="26" name="Text 24"/>
          <p:cNvSpPr/>
          <p:nvPr/>
        </p:nvSpPr>
        <p:spPr>
          <a:xfrm>
            <a:off x="3364992" y="1865376"/>
            <a:ext cx="2377440" cy="347472"/>
          </a:xfrm>
          <a:prstGeom prst="rect">
            <a:avLst/>
          </a:prstGeom>
          <a:noFill/>
          <a:ln/>
        </p:spPr>
        <p:txBody>
          <a:bodyPr wrap="square" lIns="0" tIns="0" rIns="0" bIns="0" rtlCol="0" anchor="ctr"/>
          <a:lstStyle/>
          <a:p>
            <a:pPr marL="0" indent="0">
              <a:buNone/>
            </a:pPr>
            <a:r>
              <a:rPr lang="en-US" sz="950" dirty="0">
                <a:solidFill>
                  <a:srgbClr val="0F172A"/>
                </a:solidFill>
                <a:latin typeface="Calibri" pitchFamily="34" charset="0"/>
                <a:ea typeface="Calibri" pitchFamily="34" charset="-122"/>
                <a:cs typeface="Calibri" pitchFamily="34" charset="-120"/>
              </a:rPr>
              <a:t>✓  Top 100 high-risk MI tanks</a:t>
            </a:r>
            <a:endParaRPr lang="en-US" sz="950" dirty="0"/>
          </a:p>
        </p:txBody>
      </p:sp>
      <p:sp>
        <p:nvSpPr>
          <p:cNvPr id="27" name="Shape 25"/>
          <p:cNvSpPr/>
          <p:nvPr/>
        </p:nvSpPr>
        <p:spPr>
          <a:xfrm>
            <a:off x="3291840" y="2331720"/>
            <a:ext cx="2523744" cy="420624"/>
          </a:xfrm>
          <a:prstGeom prst="rect">
            <a:avLst/>
          </a:prstGeom>
          <a:solidFill>
            <a:srgbClr val="FFFFFF"/>
          </a:solidFill>
          <a:ln w="12700">
            <a:solidFill>
              <a:srgbClr val="E2E8F0"/>
            </a:solidFill>
            <a:prstDash val="solid"/>
          </a:ln>
        </p:spPr>
        <p:txBody>
          <a:bodyPr/>
          <a:lstStyle/>
          <a:p>
            <a:endParaRPr lang="en-IN"/>
          </a:p>
        </p:txBody>
      </p:sp>
      <p:sp>
        <p:nvSpPr>
          <p:cNvPr id="28" name="Text 26"/>
          <p:cNvSpPr/>
          <p:nvPr/>
        </p:nvSpPr>
        <p:spPr>
          <a:xfrm>
            <a:off x="3364992" y="2368296"/>
            <a:ext cx="2377440" cy="347472"/>
          </a:xfrm>
          <a:prstGeom prst="rect">
            <a:avLst/>
          </a:prstGeom>
          <a:noFill/>
          <a:ln/>
        </p:spPr>
        <p:txBody>
          <a:bodyPr wrap="square" lIns="0" tIns="0" rIns="0" bIns="0" rtlCol="0" anchor="ctr"/>
          <a:lstStyle/>
          <a:p>
            <a:pPr marL="0" indent="0">
              <a:buNone/>
            </a:pPr>
            <a:r>
              <a:rPr lang="en-US" sz="950" dirty="0">
                <a:solidFill>
                  <a:srgbClr val="0F172A"/>
                </a:solidFill>
                <a:latin typeface="Calibri" pitchFamily="34" charset="0"/>
                <a:ea typeface="Calibri" pitchFamily="34" charset="-122"/>
                <a:cs typeface="Calibri" pitchFamily="34" charset="-120"/>
              </a:rPr>
              <a:t>✓  Kadapa + Kurnool + Nellore</a:t>
            </a:r>
            <a:endParaRPr lang="en-US" sz="950" dirty="0"/>
          </a:p>
        </p:txBody>
      </p:sp>
      <p:sp>
        <p:nvSpPr>
          <p:cNvPr id="29" name="Shape 27"/>
          <p:cNvSpPr/>
          <p:nvPr/>
        </p:nvSpPr>
        <p:spPr>
          <a:xfrm>
            <a:off x="3291840" y="2834640"/>
            <a:ext cx="2523744" cy="420624"/>
          </a:xfrm>
          <a:prstGeom prst="rect">
            <a:avLst/>
          </a:prstGeom>
          <a:solidFill>
            <a:srgbClr val="F8FAFC"/>
          </a:solidFill>
          <a:ln w="12700">
            <a:solidFill>
              <a:srgbClr val="E2E8F0"/>
            </a:solidFill>
            <a:prstDash val="solid"/>
          </a:ln>
        </p:spPr>
        <p:txBody>
          <a:bodyPr/>
          <a:lstStyle/>
          <a:p>
            <a:endParaRPr lang="en-IN"/>
          </a:p>
        </p:txBody>
      </p:sp>
      <p:sp>
        <p:nvSpPr>
          <p:cNvPr id="30" name="Text 28"/>
          <p:cNvSpPr/>
          <p:nvPr/>
        </p:nvSpPr>
        <p:spPr>
          <a:xfrm>
            <a:off x="3364992" y="2871216"/>
            <a:ext cx="2377440" cy="347472"/>
          </a:xfrm>
          <a:prstGeom prst="rect">
            <a:avLst/>
          </a:prstGeom>
          <a:noFill/>
          <a:ln/>
        </p:spPr>
        <p:txBody>
          <a:bodyPr wrap="square" lIns="0" tIns="0" rIns="0" bIns="0" rtlCol="0" anchor="ctr"/>
          <a:lstStyle/>
          <a:p>
            <a:pPr marL="0" indent="0">
              <a:buNone/>
            </a:pPr>
            <a:r>
              <a:rPr lang="en-US" sz="950" dirty="0">
                <a:solidFill>
                  <a:srgbClr val="0F172A"/>
                </a:solidFill>
                <a:latin typeface="Calibri" pitchFamily="34" charset="0"/>
                <a:ea typeface="Calibri" pitchFamily="34" charset="-122"/>
                <a:cs typeface="Calibri" pitchFamily="34" charset="-120"/>
              </a:rPr>
              <a:t>✓  Integration with SDMA control room</a:t>
            </a:r>
            <a:endParaRPr lang="en-US" sz="950" dirty="0"/>
          </a:p>
        </p:txBody>
      </p:sp>
      <p:sp>
        <p:nvSpPr>
          <p:cNvPr id="31" name="Shape 29"/>
          <p:cNvSpPr/>
          <p:nvPr/>
        </p:nvSpPr>
        <p:spPr>
          <a:xfrm>
            <a:off x="3291840" y="3337560"/>
            <a:ext cx="2523744" cy="420624"/>
          </a:xfrm>
          <a:prstGeom prst="rect">
            <a:avLst/>
          </a:prstGeom>
          <a:solidFill>
            <a:srgbClr val="FFFFFF"/>
          </a:solidFill>
          <a:ln w="12700">
            <a:solidFill>
              <a:srgbClr val="E2E8F0"/>
            </a:solidFill>
            <a:prstDash val="solid"/>
          </a:ln>
        </p:spPr>
        <p:txBody>
          <a:bodyPr/>
          <a:lstStyle/>
          <a:p>
            <a:endParaRPr lang="en-IN"/>
          </a:p>
        </p:txBody>
      </p:sp>
      <p:sp>
        <p:nvSpPr>
          <p:cNvPr id="32" name="Text 30"/>
          <p:cNvSpPr/>
          <p:nvPr/>
        </p:nvSpPr>
        <p:spPr>
          <a:xfrm>
            <a:off x="3364992" y="3374136"/>
            <a:ext cx="2377440" cy="347472"/>
          </a:xfrm>
          <a:prstGeom prst="rect">
            <a:avLst/>
          </a:prstGeom>
          <a:noFill/>
          <a:ln/>
        </p:spPr>
        <p:txBody>
          <a:bodyPr wrap="square" lIns="0" tIns="0" rIns="0" bIns="0" rtlCol="0" anchor="ctr"/>
          <a:lstStyle/>
          <a:p>
            <a:pPr marL="0" indent="0">
              <a:buNone/>
            </a:pPr>
            <a:r>
              <a:rPr lang="en-US" sz="950" dirty="0">
                <a:solidFill>
                  <a:srgbClr val="0F172A"/>
                </a:solidFill>
                <a:latin typeface="Calibri" pitchFamily="34" charset="0"/>
                <a:ea typeface="Calibri" pitchFamily="34" charset="-122"/>
                <a:cs typeface="Calibri" pitchFamily="34" charset="-120"/>
              </a:rPr>
              <a:t>✓  Engineer mobile app</a:t>
            </a:r>
            <a:endParaRPr lang="en-US" sz="950" dirty="0"/>
          </a:p>
        </p:txBody>
      </p:sp>
      <p:sp>
        <p:nvSpPr>
          <p:cNvPr id="33" name="Shape 31"/>
          <p:cNvSpPr/>
          <p:nvPr/>
        </p:nvSpPr>
        <p:spPr>
          <a:xfrm>
            <a:off x="3291840" y="3840480"/>
            <a:ext cx="2523744" cy="420624"/>
          </a:xfrm>
          <a:prstGeom prst="rect">
            <a:avLst/>
          </a:prstGeom>
          <a:solidFill>
            <a:srgbClr val="F8FAFC"/>
          </a:solidFill>
          <a:ln w="12700">
            <a:solidFill>
              <a:srgbClr val="E2E8F0"/>
            </a:solidFill>
            <a:prstDash val="solid"/>
          </a:ln>
        </p:spPr>
        <p:txBody>
          <a:bodyPr/>
          <a:lstStyle/>
          <a:p>
            <a:endParaRPr lang="en-IN"/>
          </a:p>
        </p:txBody>
      </p:sp>
      <p:sp>
        <p:nvSpPr>
          <p:cNvPr id="34" name="Text 32"/>
          <p:cNvSpPr/>
          <p:nvPr/>
        </p:nvSpPr>
        <p:spPr>
          <a:xfrm>
            <a:off x="3364992" y="3877056"/>
            <a:ext cx="2377440" cy="347472"/>
          </a:xfrm>
          <a:prstGeom prst="rect">
            <a:avLst/>
          </a:prstGeom>
          <a:noFill/>
          <a:ln/>
        </p:spPr>
        <p:txBody>
          <a:bodyPr wrap="square" lIns="0" tIns="0" rIns="0" bIns="0" rtlCol="0" anchor="ctr"/>
          <a:lstStyle/>
          <a:p>
            <a:pPr marL="0" indent="0">
              <a:buNone/>
            </a:pPr>
            <a:r>
              <a:rPr lang="en-US" sz="950" dirty="0">
                <a:solidFill>
                  <a:srgbClr val="0F172A"/>
                </a:solidFill>
                <a:latin typeface="Calibri" pitchFamily="34" charset="0"/>
                <a:ea typeface="Calibri" pitchFamily="34" charset="-122"/>
                <a:cs typeface="Calibri" pitchFamily="34" charset="-120"/>
              </a:rPr>
              <a:t>✓  Automated daily risk reports</a:t>
            </a:r>
            <a:endParaRPr lang="en-US" sz="950" dirty="0"/>
          </a:p>
        </p:txBody>
      </p:sp>
      <p:sp>
        <p:nvSpPr>
          <p:cNvPr id="35" name="Shape 33"/>
          <p:cNvSpPr/>
          <p:nvPr/>
        </p:nvSpPr>
        <p:spPr>
          <a:xfrm>
            <a:off x="6089904" y="1078992"/>
            <a:ext cx="2743200" cy="3493008"/>
          </a:xfrm>
          <a:prstGeom prst="rect">
            <a:avLst/>
          </a:prstGeom>
          <a:solidFill>
            <a:srgbClr val="FFFFFF"/>
          </a:solidFill>
          <a:ln w="12700">
            <a:solidFill>
              <a:srgbClr val="0284C7"/>
            </a:solidFill>
            <a:prstDash val="solid"/>
          </a:ln>
          <a:effectLst>
            <a:outerShdw blurRad="76200" dist="25400" dir="8100000" algn="bl" rotWithShape="0">
              <a:srgbClr val="000000">
                <a:alpha val="10000"/>
              </a:srgbClr>
            </a:outerShdw>
          </a:effectLst>
        </p:spPr>
        <p:txBody>
          <a:bodyPr/>
          <a:lstStyle/>
          <a:p>
            <a:endParaRPr lang="en-IN"/>
          </a:p>
        </p:txBody>
      </p:sp>
      <p:sp>
        <p:nvSpPr>
          <p:cNvPr id="36" name="Shape 34"/>
          <p:cNvSpPr/>
          <p:nvPr/>
        </p:nvSpPr>
        <p:spPr>
          <a:xfrm>
            <a:off x="6089904" y="1078992"/>
            <a:ext cx="2743200" cy="658368"/>
          </a:xfrm>
          <a:prstGeom prst="rect">
            <a:avLst/>
          </a:prstGeom>
          <a:solidFill>
            <a:srgbClr val="0284C7"/>
          </a:solidFill>
          <a:ln w="12700">
            <a:solidFill>
              <a:srgbClr val="0284C7"/>
            </a:solidFill>
            <a:prstDash val="solid"/>
          </a:ln>
        </p:spPr>
        <p:txBody>
          <a:bodyPr/>
          <a:lstStyle/>
          <a:p>
            <a:endParaRPr lang="en-IN"/>
          </a:p>
        </p:txBody>
      </p:sp>
      <p:sp>
        <p:nvSpPr>
          <p:cNvPr id="37" name="Text 35"/>
          <p:cNvSpPr/>
          <p:nvPr/>
        </p:nvSpPr>
        <p:spPr>
          <a:xfrm>
            <a:off x="6181344" y="1115568"/>
            <a:ext cx="2560320"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PHASE 3 — 12 months</a:t>
            </a:r>
            <a:endParaRPr lang="en-US" sz="950" dirty="0"/>
          </a:p>
        </p:txBody>
      </p:sp>
      <p:sp>
        <p:nvSpPr>
          <p:cNvPr id="38" name="Text 36"/>
          <p:cNvSpPr/>
          <p:nvPr/>
        </p:nvSpPr>
        <p:spPr>
          <a:xfrm>
            <a:off x="6181344" y="1371600"/>
            <a:ext cx="2560320"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AP-Wide Deployment</a:t>
            </a:r>
            <a:endParaRPr lang="en-US" sz="1300" dirty="0"/>
          </a:p>
        </p:txBody>
      </p:sp>
      <p:sp>
        <p:nvSpPr>
          <p:cNvPr id="39" name="Shape 37"/>
          <p:cNvSpPr/>
          <p:nvPr/>
        </p:nvSpPr>
        <p:spPr>
          <a:xfrm>
            <a:off x="6199632" y="1828800"/>
            <a:ext cx="2523744" cy="420624"/>
          </a:xfrm>
          <a:prstGeom prst="rect">
            <a:avLst/>
          </a:prstGeom>
          <a:solidFill>
            <a:srgbClr val="F8FAFC"/>
          </a:solidFill>
          <a:ln w="12700">
            <a:solidFill>
              <a:srgbClr val="E2E8F0"/>
            </a:solidFill>
            <a:prstDash val="solid"/>
          </a:ln>
        </p:spPr>
        <p:txBody>
          <a:bodyPr/>
          <a:lstStyle/>
          <a:p>
            <a:endParaRPr lang="en-IN"/>
          </a:p>
        </p:txBody>
      </p:sp>
      <p:sp>
        <p:nvSpPr>
          <p:cNvPr id="40" name="Text 38"/>
          <p:cNvSpPr/>
          <p:nvPr/>
        </p:nvSpPr>
        <p:spPr>
          <a:xfrm>
            <a:off x="6272784" y="1865376"/>
            <a:ext cx="2377440" cy="347472"/>
          </a:xfrm>
          <a:prstGeom prst="rect">
            <a:avLst/>
          </a:prstGeom>
          <a:noFill/>
          <a:ln/>
        </p:spPr>
        <p:txBody>
          <a:bodyPr wrap="square" lIns="0" tIns="0" rIns="0" bIns="0" rtlCol="0" anchor="ctr"/>
          <a:lstStyle/>
          <a:p>
            <a:pPr marL="0" indent="0">
              <a:buNone/>
            </a:pPr>
            <a:r>
              <a:rPr lang="en-US" sz="950" dirty="0">
                <a:solidFill>
                  <a:srgbClr val="0F172A"/>
                </a:solidFill>
                <a:latin typeface="Calibri" pitchFamily="34" charset="0"/>
                <a:ea typeface="Calibri" pitchFamily="34" charset="-122"/>
                <a:cs typeface="Calibri" pitchFamily="34" charset="-120"/>
              </a:rPr>
              <a:t>✓  All 38,600 MI tanks statewide</a:t>
            </a:r>
            <a:endParaRPr lang="en-US" sz="950" dirty="0"/>
          </a:p>
        </p:txBody>
      </p:sp>
      <p:sp>
        <p:nvSpPr>
          <p:cNvPr id="41" name="Shape 39"/>
          <p:cNvSpPr/>
          <p:nvPr/>
        </p:nvSpPr>
        <p:spPr>
          <a:xfrm>
            <a:off x="6199632" y="2331720"/>
            <a:ext cx="2523744" cy="420624"/>
          </a:xfrm>
          <a:prstGeom prst="rect">
            <a:avLst/>
          </a:prstGeom>
          <a:solidFill>
            <a:srgbClr val="FFFFFF"/>
          </a:solidFill>
          <a:ln w="12700">
            <a:solidFill>
              <a:srgbClr val="E2E8F0"/>
            </a:solidFill>
            <a:prstDash val="solid"/>
          </a:ln>
        </p:spPr>
        <p:txBody>
          <a:bodyPr/>
          <a:lstStyle/>
          <a:p>
            <a:endParaRPr lang="en-IN"/>
          </a:p>
        </p:txBody>
      </p:sp>
      <p:sp>
        <p:nvSpPr>
          <p:cNvPr id="42" name="Text 40"/>
          <p:cNvSpPr/>
          <p:nvPr/>
        </p:nvSpPr>
        <p:spPr>
          <a:xfrm>
            <a:off x="6272784" y="2368296"/>
            <a:ext cx="2377440" cy="347472"/>
          </a:xfrm>
          <a:prstGeom prst="rect">
            <a:avLst/>
          </a:prstGeom>
          <a:noFill/>
          <a:ln/>
        </p:spPr>
        <p:txBody>
          <a:bodyPr wrap="square" lIns="0" tIns="0" rIns="0" bIns="0" rtlCol="0" anchor="ctr"/>
          <a:lstStyle/>
          <a:p>
            <a:pPr marL="0" indent="0">
              <a:buNone/>
            </a:pPr>
            <a:r>
              <a:rPr lang="en-US" sz="950" dirty="0">
                <a:solidFill>
                  <a:srgbClr val="0F172A"/>
                </a:solidFill>
                <a:latin typeface="Calibri" pitchFamily="34" charset="0"/>
                <a:ea typeface="Calibri" pitchFamily="34" charset="-122"/>
                <a:cs typeface="Calibri" pitchFamily="34" charset="-120"/>
              </a:rPr>
              <a:t>✓  Drone dispatch for flagged zones</a:t>
            </a:r>
            <a:endParaRPr lang="en-US" sz="950" dirty="0"/>
          </a:p>
        </p:txBody>
      </p:sp>
      <p:sp>
        <p:nvSpPr>
          <p:cNvPr id="43" name="Shape 41"/>
          <p:cNvSpPr/>
          <p:nvPr/>
        </p:nvSpPr>
        <p:spPr>
          <a:xfrm>
            <a:off x="6199632" y="2834640"/>
            <a:ext cx="2523744" cy="420624"/>
          </a:xfrm>
          <a:prstGeom prst="rect">
            <a:avLst/>
          </a:prstGeom>
          <a:solidFill>
            <a:srgbClr val="F8FAFC"/>
          </a:solidFill>
          <a:ln w="12700">
            <a:solidFill>
              <a:srgbClr val="E2E8F0"/>
            </a:solidFill>
            <a:prstDash val="solid"/>
          </a:ln>
        </p:spPr>
        <p:txBody>
          <a:bodyPr/>
          <a:lstStyle/>
          <a:p>
            <a:endParaRPr lang="en-IN"/>
          </a:p>
        </p:txBody>
      </p:sp>
      <p:sp>
        <p:nvSpPr>
          <p:cNvPr id="44" name="Text 42"/>
          <p:cNvSpPr/>
          <p:nvPr/>
        </p:nvSpPr>
        <p:spPr>
          <a:xfrm>
            <a:off x="6272784" y="2871216"/>
            <a:ext cx="2377440" cy="347472"/>
          </a:xfrm>
          <a:prstGeom prst="rect">
            <a:avLst/>
          </a:prstGeom>
          <a:noFill/>
          <a:ln/>
        </p:spPr>
        <p:txBody>
          <a:bodyPr wrap="square" lIns="0" tIns="0" rIns="0" bIns="0" rtlCol="0" anchor="ctr"/>
          <a:lstStyle/>
          <a:p>
            <a:pPr marL="0" indent="0">
              <a:buNone/>
            </a:pPr>
            <a:r>
              <a:rPr lang="en-US" sz="950" dirty="0">
                <a:solidFill>
                  <a:srgbClr val="0F172A"/>
                </a:solidFill>
                <a:latin typeface="Calibri" pitchFamily="34" charset="0"/>
                <a:ea typeface="Calibri" pitchFamily="34" charset="-122"/>
                <a:cs typeface="Calibri" pitchFamily="34" charset="-120"/>
              </a:rPr>
              <a:t>✓  IoT sensor on critical bunds</a:t>
            </a:r>
            <a:endParaRPr lang="en-US" sz="950" dirty="0"/>
          </a:p>
        </p:txBody>
      </p:sp>
      <p:sp>
        <p:nvSpPr>
          <p:cNvPr id="45" name="Shape 43"/>
          <p:cNvSpPr/>
          <p:nvPr/>
        </p:nvSpPr>
        <p:spPr>
          <a:xfrm>
            <a:off x="6199632" y="3337560"/>
            <a:ext cx="2523744" cy="420624"/>
          </a:xfrm>
          <a:prstGeom prst="rect">
            <a:avLst/>
          </a:prstGeom>
          <a:solidFill>
            <a:srgbClr val="FFFFFF"/>
          </a:solidFill>
          <a:ln w="12700">
            <a:solidFill>
              <a:srgbClr val="E2E8F0"/>
            </a:solidFill>
            <a:prstDash val="solid"/>
          </a:ln>
        </p:spPr>
        <p:txBody>
          <a:bodyPr/>
          <a:lstStyle/>
          <a:p>
            <a:endParaRPr lang="en-IN"/>
          </a:p>
        </p:txBody>
      </p:sp>
      <p:sp>
        <p:nvSpPr>
          <p:cNvPr id="46" name="Text 44"/>
          <p:cNvSpPr/>
          <p:nvPr/>
        </p:nvSpPr>
        <p:spPr>
          <a:xfrm>
            <a:off x="6272784" y="3374136"/>
            <a:ext cx="2377440" cy="347472"/>
          </a:xfrm>
          <a:prstGeom prst="rect">
            <a:avLst/>
          </a:prstGeom>
          <a:noFill/>
          <a:ln/>
        </p:spPr>
        <p:txBody>
          <a:bodyPr wrap="square" lIns="0" tIns="0" rIns="0" bIns="0" rtlCol="0" anchor="ctr"/>
          <a:lstStyle/>
          <a:p>
            <a:pPr marL="0" indent="0">
              <a:buNone/>
            </a:pPr>
            <a:r>
              <a:rPr lang="en-US" sz="950" dirty="0">
                <a:solidFill>
                  <a:srgbClr val="0F172A"/>
                </a:solidFill>
                <a:latin typeface="Calibri" pitchFamily="34" charset="0"/>
                <a:ea typeface="Calibri" pitchFamily="34" charset="-122"/>
                <a:cs typeface="Calibri" pitchFamily="34" charset="-120"/>
              </a:rPr>
              <a:t>✓  Predictive maintenance module</a:t>
            </a:r>
            <a:endParaRPr lang="en-US" sz="950" dirty="0"/>
          </a:p>
        </p:txBody>
      </p:sp>
      <p:sp>
        <p:nvSpPr>
          <p:cNvPr id="47" name="Shape 45"/>
          <p:cNvSpPr/>
          <p:nvPr/>
        </p:nvSpPr>
        <p:spPr>
          <a:xfrm>
            <a:off x="6199632" y="3840480"/>
            <a:ext cx="2523744" cy="420624"/>
          </a:xfrm>
          <a:prstGeom prst="rect">
            <a:avLst/>
          </a:prstGeom>
          <a:solidFill>
            <a:srgbClr val="F8FAFC"/>
          </a:solidFill>
          <a:ln w="12700">
            <a:solidFill>
              <a:srgbClr val="E2E8F0"/>
            </a:solidFill>
            <a:prstDash val="solid"/>
          </a:ln>
        </p:spPr>
        <p:txBody>
          <a:bodyPr/>
          <a:lstStyle/>
          <a:p>
            <a:endParaRPr lang="en-IN"/>
          </a:p>
        </p:txBody>
      </p:sp>
      <p:sp>
        <p:nvSpPr>
          <p:cNvPr id="48" name="Text 46"/>
          <p:cNvSpPr/>
          <p:nvPr/>
        </p:nvSpPr>
        <p:spPr>
          <a:xfrm>
            <a:off x="6272784" y="3877056"/>
            <a:ext cx="2377440" cy="347472"/>
          </a:xfrm>
          <a:prstGeom prst="rect">
            <a:avLst/>
          </a:prstGeom>
          <a:noFill/>
          <a:ln/>
        </p:spPr>
        <p:txBody>
          <a:bodyPr wrap="square" lIns="0" tIns="0" rIns="0" bIns="0" rtlCol="0" anchor="ctr"/>
          <a:lstStyle/>
          <a:p>
            <a:pPr marL="0" indent="0">
              <a:buNone/>
            </a:pPr>
            <a:r>
              <a:rPr lang="en-US" sz="950" dirty="0">
                <a:solidFill>
                  <a:srgbClr val="0F172A"/>
                </a:solidFill>
                <a:latin typeface="Calibri" pitchFamily="34" charset="0"/>
                <a:ea typeface="Calibri" pitchFamily="34" charset="-122"/>
                <a:cs typeface="Calibri" pitchFamily="34" charset="-120"/>
              </a:rPr>
              <a:t>✓  NDRF auto-coordination</a:t>
            </a:r>
            <a:endParaRPr lang="en-US" sz="950" dirty="0"/>
          </a:p>
        </p:txBody>
      </p:sp>
      <p:sp>
        <p:nvSpPr>
          <p:cNvPr id="49" name="Shape 47"/>
          <p:cNvSpPr/>
          <p:nvPr/>
        </p:nvSpPr>
        <p:spPr>
          <a:xfrm>
            <a:off x="274320" y="4645152"/>
            <a:ext cx="8595360" cy="182880"/>
          </a:xfrm>
          <a:prstGeom prst="rect">
            <a:avLst/>
          </a:prstGeom>
          <a:solidFill>
            <a:srgbClr val="EFF6FF"/>
          </a:solidFill>
          <a:ln w="12700">
            <a:solidFill>
              <a:srgbClr val="BFDBFE"/>
            </a:solidFill>
            <a:prstDash val="solid"/>
          </a:ln>
        </p:spPr>
        <p:txBody>
          <a:bodyPr/>
          <a:lstStyle/>
          <a:p>
            <a:endParaRPr lang="en-IN"/>
          </a:p>
        </p:txBody>
      </p:sp>
      <p:sp>
        <p:nvSpPr>
          <p:cNvPr id="50" name="Text 48"/>
          <p:cNvSpPr/>
          <p:nvPr/>
        </p:nvSpPr>
        <p:spPr>
          <a:xfrm>
            <a:off x="365760" y="4654296"/>
            <a:ext cx="8412480" cy="164592"/>
          </a:xfrm>
          <a:prstGeom prst="rect">
            <a:avLst/>
          </a:prstGeom>
          <a:noFill/>
          <a:ln/>
        </p:spPr>
        <p:txBody>
          <a:bodyPr wrap="square" lIns="0" tIns="0" rIns="0" bIns="0" rtlCol="0" anchor="ctr"/>
          <a:lstStyle/>
          <a:p>
            <a:pPr marL="0" indent="0">
              <a:buNone/>
            </a:pPr>
            <a:r>
              <a:rPr lang="en-US" sz="850" dirty="0">
                <a:solidFill>
                  <a:srgbClr val="0284C7"/>
                </a:solidFill>
                <a:latin typeface="Calibri" pitchFamily="34" charset="0"/>
                <a:ea typeface="Calibri" pitchFamily="34" charset="-122"/>
                <a:cs typeface="Calibri" pitchFamily="34" charset="-120"/>
              </a:rPr>
              <a:t>🚁 Drone Integration: Satellite flags risk zones → Drone dispatches only to flagged areas → 95% cost reduction vs full drone coverage</a:t>
            </a:r>
            <a:endParaRPr lang="en-US" sz="850" dirty="0"/>
          </a:p>
        </p:txBody>
      </p:sp>
      <p:sp>
        <p:nvSpPr>
          <p:cNvPr id="51" name="Shape 49"/>
          <p:cNvSpPr/>
          <p:nvPr/>
        </p:nvSpPr>
        <p:spPr>
          <a:xfrm>
            <a:off x="0" y="4818888"/>
            <a:ext cx="9144000" cy="324612"/>
          </a:xfrm>
          <a:prstGeom prst="rect">
            <a:avLst/>
          </a:prstGeom>
          <a:solidFill>
            <a:srgbClr val="E2E8F0"/>
          </a:solidFill>
          <a:ln w="12700">
            <a:solidFill>
              <a:srgbClr val="E2E8F0"/>
            </a:solidFill>
            <a:prstDash val="solid"/>
          </a:ln>
        </p:spPr>
        <p:txBody>
          <a:bodyPr/>
          <a:lstStyle/>
          <a:p>
            <a:endParaRPr lang="en-IN"/>
          </a:p>
        </p:txBody>
      </p:sp>
      <p:sp>
        <p:nvSpPr>
          <p:cNvPr id="52" name="Text 50"/>
          <p:cNvSpPr/>
          <p:nvPr/>
        </p:nvSpPr>
        <p:spPr>
          <a:xfrm>
            <a:off x="274320" y="4837176"/>
            <a:ext cx="7772400" cy="27432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AP-Wrims Early Warning System  |  HierachAI Technologies Pvt. Ltd.  |  DPIIT Recognised · Women-Led · Andhra Pradesh</a:t>
            </a:r>
            <a:endParaRPr lang="en-US" sz="800" dirty="0"/>
          </a:p>
        </p:txBody>
      </p:sp>
      <p:sp>
        <p:nvSpPr>
          <p:cNvPr id="53" name="Text 51"/>
          <p:cNvSpPr/>
          <p:nvPr/>
        </p:nvSpPr>
        <p:spPr>
          <a:xfrm>
            <a:off x="8046720" y="4837176"/>
            <a:ext cx="914400" cy="274320"/>
          </a:xfrm>
          <a:prstGeom prst="rect">
            <a:avLst/>
          </a:prstGeom>
          <a:noFill/>
          <a:ln/>
        </p:spPr>
        <p:txBody>
          <a:bodyPr wrap="square" lIns="0" tIns="0" rIns="0" bIns="0" rtlCol="0" anchor="ctr"/>
          <a:lstStyle/>
          <a:p>
            <a:pPr marL="0" indent="0" algn="r">
              <a:buNone/>
            </a:pPr>
            <a:r>
              <a:rPr lang="en-US" sz="800" dirty="0">
                <a:solidFill>
                  <a:srgbClr val="1E3A5F"/>
                </a:solidFill>
                <a:latin typeface="Calibri" pitchFamily="34" charset="0"/>
                <a:ea typeface="Calibri" pitchFamily="34" charset="-122"/>
                <a:cs typeface="Calibri" pitchFamily="34" charset="-120"/>
              </a:rPr>
              <a:t>14 / 16</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3A5F"/>
          </a:solidFill>
          <a:ln w="12700">
            <a:solidFill>
              <a:srgbClr val="1E3A5F"/>
            </a:solidFill>
            <a:prstDash val="solid"/>
          </a:ln>
        </p:spPr>
        <p:txBody>
          <a:bodyPr/>
          <a:lstStyle/>
          <a:p>
            <a:endParaRPr lang="en-IN"/>
          </a:p>
        </p:txBody>
      </p:sp>
      <p:sp>
        <p:nvSpPr>
          <p:cNvPr id="3" name="Shape 1"/>
          <p:cNvSpPr/>
          <p:nvPr/>
        </p:nvSpPr>
        <p:spPr>
          <a:xfrm>
            <a:off x="0" y="73152"/>
            <a:ext cx="9144000" cy="658368"/>
          </a:xfrm>
          <a:prstGeom prst="rect">
            <a:avLst/>
          </a:prstGeom>
          <a:solidFill>
            <a:srgbClr val="FFFFFF"/>
          </a:solidFill>
          <a:ln w="12700">
            <a:solidFill>
              <a:srgbClr val="E2E8F0"/>
            </a:solidFill>
            <a:prstDash val="solid"/>
          </a:ln>
        </p:spPr>
        <p:txBody>
          <a:bodyPr/>
          <a:lstStyle/>
          <a:p>
            <a:endParaRPr lang="en-IN"/>
          </a:p>
        </p:txBody>
      </p:sp>
      <p:sp>
        <p:nvSpPr>
          <p:cNvPr id="4" name="Text 2"/>
          <p:cNvSpPr/>
          <p:nvPr/>
        </p:nvSpPr>
        <p:spPr>
          <a:xfrm>
            <a:off x="365760" y="91440"/>
            <a:ext cx="8412480" cy="475488"/>
          </a:xfrm>
          <a:prstGeom prst="rect">
            <a:avLst/>
          </a:prstGeom>
          <a:noFill/>
          <a:ln/>
        </p:spPr>
        <p:txBody>
          <a:bodyPr wrap="square" lIns="0" tIns="0" rIns="0" bIns="0" rtlCol="0" anchor="ctr"/>
          <a:lstStyle/>
          <a:p>
            <a:pPr marL="0" indent="0">
              <a:buNone/>
            </a:pPr>
            <a:r>
              <a:rPr lang="en-US" sz="2000" b="1" dirty="0">
                <a:solidFill>
                  <a:srgbClr val="0F172A"/>
                </a:solidFill>
                <a:latin typeface="Calibri" pitchFamily="34" charset="0"/>
                <a:ea typeface="Calibri" pitchFamily="34" charset="-122"/>
                <a:cs typeface="Calibri" pitchFamily="34" charset="-120"/>
              </a:rPr>
              <a:t>🔧  Accuracy, Maintenance &amp; Why This Model</a:t>
            </a:r>
            <a:endParaRPr lang="en-US" sz="2000" dirty="0"/>
          </a:p>
        </p:txBody>
      </p:sp>
      <p:sp>
        <p:nvSpPr>
          <p:cNvPr id="5" name="Shape 3"/>
          <p:cNvSpPr/>
          <p:nvPr/>
        </p:nvSpPr>
        <p:spPr>
          <a:xfrm>
            <a:off x="0" y="731520"/>
            <a:ext cx="9144000" cy="256032"/>
          </a:xfrm>
          <a:prstGeom prst="rect">
            <a:avLst/>
          </a:prstGeom>
          <a:solidFill>
            <a:srgbClr val="EFF6FF"/>
          </a:solidFill>
          <a:ln w="12700">
            <a:solidFill>
              <a:srgbClr val="BFDBFE"/>
            </a:solidFill>
            <a:prstDash val="solid"/>
          </a:ln>
        </p:spPr>
        <p:txBody>
          <a:bodyPr/>
          <a:lstStyle/>
          <a:p>
            <a:endParaRPr lang="en-IN"/>
          </a:p>
        </p:txBody>
      </p:sp>
      <p:sp>
        <p:nvSpPr>
          <p:cNvPr id="6" name="Text 4"/>
          <p:cNvSpPr/>
          <p:nvPr/>
        </p:nvSpPr>
        <p:spPr>
          <a:xfrm>
            <a:off x="365760" y="749808"/>
            <a:ext cx="8412480" cy="219456"/>
          </a:xfrm>
          <a:prstGeom prst="rect">
            <a:avLst/>
          </a:prstGeom>
          <a:noFill/>
          <a:ln/>
        </p:spPr>
        <p:txBody>
          <a:bodyPr wrap="square" lIns="0" tIns="0" rIns="0" bIns="0" rtlCol="0" anchor="ctr"/>
          <a:lstStyle/>
          <a:p>
            <a:pPr marL="0" indent="0">
              <a:buNone/>
            </a:pPr>
            <a:r>
              <a:rPr lang="en-US" sz="950" dirty="0">
                <a:solidFill>
                  <a:srgbClr val="0284C7"/>
                </a:solidFill>
                <a:latin typeface="Calibri" pitchFamily="34" charset="0"/>
                <a:ea typeface="Calibri" pitchFamily="34" charset="-122"/>
                <a:cs typeface="Calibri" pitchFamily="34" charset="-120"/>
              </a:rPr>
              <a:t>Validated on real breach · Designed for government engineers · Built to last</a:t>
            </a:r>
            <a:endParaRPr lang="en-US" sz="950" dirty="0"/>
          </a:p>
        </p:txBody>
      </p:sp>
      <p:sp>
        <p:nvSpPr>
          <p:cNvPr id="7" name="Text 5"/>
          <p:cNvSpPr/>
          <p:nvPr/>
        </p:nvSpPr>
        <p:spPr>
          <a:xfrm>
            <a:off x="274320" y="1051560"/>
            <a:ext cx="8595360" cy="274320"/>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  System Accuracy — Validated on Nov 2021 Event</a:t>
            </a:r>
            <a:endParaRPr lang="en-US" sz="1200" dirty="0"/>
          </a:p>
        </p:txBody>
      </p:sp>
      <p:sp>
        <p:nvSpPr>
          <p:cNvPr id="8" name="Shape 6"/>
          <p:cNvSpPr/>
          <p:nvPr/>
        </p:nvSpPr>
        <p:spPr>
          <a:xfrm>
            <a:off x="274320" y="1389888"/>
            <a:ext cx="8595360" cy="320040"/>
          </a:xfrm>
          <a:prstGeom prst="rect">
            <a:avLst/>
          </a:prstGeom>
          <a:solidFill>
            <a:srgbClr val="FFF7ED"/>
          </a:solidFill>
          <a:ln w="12700">
            <a:solidFill>
              <a:srgbClr val="E2E8F0"/>
            </a:solidFill>
            <a:prstDash val="solid"/>
          </a:ln>
        </p:spPr>
        <p:txBody>
          <a:bodyPr/>
          <a:lstStyle/>
          <a:p>
            <a:endParaRPr lang="en-IN"/>
          </a:p>
        </p:txBody>
      </p:sp>
      <p:sp>
        <p:nvSpPr>
          <p:cNvPr id="9" name="Text 7"/>
          <p:cNvSpPr/>
          <p:nvPr/>
        </p:nvSpPr>
        <p:spPr>
          <a:xfrm>
            <a:off x="365760" y="1435608"/>
            <a:ext cx="822960" cy="228600"/>
          </a:xfrm>
          <a:prstGeom prst="rect">
            <a:avLst/>
          </a:prstGeom>
          <a:noFill/>
          <a:ln/>
        </p:spPr>
        <p:txBody>
          <a:bodyPr wrap="square" lIns="0" tIns="0" rIns="0" bIns="0" rtlCol="0" anchor="ctr"/>
          <a:lstStyle/>
          <a:p>
            <a:pPr marL="0" indent="0">
              <a:buNone/>
            </a:pPr>
            <a:r>
              <a:rPr lang="en-US" sz="950" b="1" dirty="0">
                <a:solidFill>
                  <a:srgbClr val="EA580C"/>
                </a:solidFill>
                <a:latin typeface="Calibri" pitchFamily="34" charset="0"/>
                <a:ea typeface="Calibri" pitchFamily="34" charset="-122"/>
                <a:cs typeface="Calibri" pitchFamily="34" charset="-120"/>
              </a:rPr>
              <a:t>Nov 17</a:t>
            </a:r>
            <a:endParaRPr lang="en-US" sz="950" dirty="0"/>
          </a:p>
        </p:txBody>
      </p:sp>
      <p:sp>
        <p:nvSpPr>
          <p:cNvPr id="10" name="Text 8"/>
          <p:cNvSpPr/>
          <p:nvPr/>
        </p:nvSpPr>
        <p:spPr>
          <a:xfrm>
            <a:off x="1234440" y="1435608"/>
            <a:ext cx="1463040" cy="228600"/>
          </a:xfrm>
          <a:prstGeom prst="rect">
            <a:avLst/>
          </a:prstGeom>
          <a:noFill/>
          <a:ln/>
        </p:spPr>
        <p:txBody>
          <a:bodyPr wrap="square" lIns="0" tIns="0" rIns="0" bIns="0" rtlCol="0" anchor="ctr"/>
          <a:lstStyle/>
          <a:p>
            <a:pPr marL="0" indent="0">
              <a:buNone/>
            </a:pPr>
            <a:r>
              <a:rPr lang="en-US" sz="950" b="1" dirty="0">
                <a:solidFill>
                  <a:srgbClr val="EA580C"/>
                </a:solidFill>
                <a:latin typeface="Calibri" pitchFamily="34" charset="0"/>
                <a:ea typeface="Calibri" pitchFamily="34" charset="-122"/>
                <a:cs typeface="Calibri" pitchFamily="34" charset="-120"/>
              </a:rPr>
              <a:t>67.9 HIGH</a:t>
            </a:r>
            <a:endParaRPr lang="en-US" sz="950" dirty="0"/>
          </a:p>
        </p:txBody>
      </p:sp>
      <p:sp>
        <p:nvSpPr>
          <p:cNvPr id="11" name="Text 9"/>
          <p:cNvSpPr/>
          <p:nvPr/>
        </p:nvSpPr>
        <p:spPr>
          <a:xfrm>
            <a:off x="2743200" y="1435608"/>
            <a:ext cx="1097280" cy="22860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TTF: 24–48 hrs</a:t>
            </a:r>
            <a:endParaRPr lang="en-US" sz="950" dirty="0"/>
          </a:p>
        </p:txBody>
      </p:sp>
      <p:sp>
        <p:nvSpPr>
          <p:cNvPr id="12" name="Text 10"/>
          <p:cNvSpPr/>
          <p:nvPr/>
        </p:nvSpPr>
        <p:spPr>
          <a:xfrm>
            <a:off x="3886200" y="1435608"/>
            <a:ext cx="4846320" cy="228600"/>
          </a:xfrm>
          <a:prstGeom prst="rect">
            <a:avLst/>
          </a:prstGeom>
          <a:noFill/>
          <a:ln/>
        </p:spPr>
        <p:txBody>
          <a:bodyPr wrap="square" lIns="0" tIns="0" rIns="0" bIns="0" rtlCol="0" anchor="ctr"/>
          <a:lstStyle/>
          <a:p>
            <a:pPr marL="0" indent="0">
              <a:buNone/>
            </a:pPr>
            <a:r>
              <a:rPr lang="en-US" sz="950" dirty="0">
                <a:solidFill>
                  <a:srgbClr val="22C55E"/>
                </a:solidFill>
                <a:latin typeface="Calibri" pitchFamily="34" charset="0"/>
                <a:ea typeface="Calibri" pitchFamily="34" charset="-122"/>
                <a:cs typeface="Calibri" pitchFamily="34" charset="-120"/>
              </a:rPr>
              <a:t>✅ Correct — Dam backing up, gates jammed, soil saturated</a:t>
            </a:r>
            <a:endParaRPr lang="en-US" sz="950" dirty="0"/>
          </a:p>
        </p:txBody>
      </p:sp>
      <p:sp>
        <p:nvSpPr>
          <p:cNvPr id="13" name="Shape 11"/>
          <p:cNvSpPr/>
          <p:nvPr/>
        </p:nvSpPr>
        <p:spPr>
          <a:xfrm>
            <a:off x="274320" y="1755648"/>
            <a:ext cx="8595360" cy="320040"/>
          </a:xfrm>
          <a:prstGeom prst="rect">
            <a:avLst/>
          </a:prstGeom>
          <a:solidFill>
            <a:srgbClr val="FEF2F2"/>
          </a:solidFill>
          <a:ln w="12700">
            <a:solidFill>
              <a:srgbClr val="E2E8F0"/>
            </a:solidFill>
            <a:prstDash val="solid"/>
          </a:ln>
        </p:spPr>
        <p:txBody>
          <a:bodyPr/>
          <a:lstStyle/>
          <a:p>
            <a:endParaRPr lang="en-IN"/>
          </a:p>
        </p:txBody>
      </p:sp>
      <p:sp>
        <p:nvSpPr>
          <p:cNvPr id="14" name="Text 12"/>
          <p:cNvSpPr/>
          <p:nvPr/>
        </p:nvSpPr>
        <p:spPr>
          <a:xfrm>
            <a:off x="365760" y="1801368"/>
            <a:ext cx="822960" cy="228600"/>
          </a:xfrm>
          <a:prstGeom prst="rect">
            <a:avLst/>
          </a:prstGeom>
          <a:noFill/>
          <a:ln/>
        </p:spPr>
        <p:txBody>
          <a:bodyPr wrap="square" lIns="0" tIns="0" rIns="0" bIns="0" rtlCol="0" anchor="ctr"/>
          <a:lstStyle/>
          <a:p>
            <a:pPr marL="0" indent="0">
              <a:buNone/>
            </a:pPr>
            <a:r>
              <a:rPr lang="en-US" sz="950" b="1" dirty="0">
                <a:solidFill>
                  <a:srgbClr val="EF4444"/>
                </a:solidFill>
                <a:latin typeface="Calibri" pitchFamily="34" charset="0"/>
                <a:ea typeface="Calibri" pitchFamily="34" charset="-122"/>
                <a:cs typeface="Calibri" pitchFamily="34" charset="-120"/>
              </a:rPr>
              <a:t>Nov 18</a:t>
            </a:r>
            <a:endParaRPr lang="en-US" sz="950" dirty="0"/>
          </a:p>
        </p:txBody>
      </p:sp>
      <p:sp>
        <p:nvSpPr>
          <p:cNvPr id="15" name="Text 13"/>
          <p:cNvSpPr/>
          <p:nvPr/>
        </p:nvSpPr>
        <p:spPr>
          <a:xfrm>
            <a:off x="1234440" y="1801368"/>
            <a:ext cx="1463040" cy="228600"/>
          </a:xfrm>
          <a:prstGeom prst="rect">
            <a:avLst/>
          </a:prstGeom>
          <a:noFill/>
          <a:ln/>
        </p:spPr>
        <p:txBody>
          <a:bodyPr wrap="square" lIns="0" tIns="0" rIns="0" bIns="0" rtlCol="0" anchor="ctr"/>
          <a:lstStyle/>
          <a:p>
            <a:pPr marL="0" indent="0">
              <a:buNone/>
            </a:pPr>
            <a:r>
              <a:rPr lang="en-US" sz="950" b="1" dirty="0">
                <a:solidFill>
                  <a:srgbClr val="EF4444"/>
                </a:solidFill>
                <a:latin typeface="Calibri" pitchFamily="34" charset="0"/>
                <a:ea typeface="Calibri" pitchFamily="34" charset="-122"/>
                <a:cs typeface="Calibri" pitchFamily="34" charset="-120"/>
              </a:rPr>
              <a:t>86.4 CRITICAL</a:t>
            </a:r>
            <a:endParaRPr lang="en-US" sz="950" dirty="0"/>
          </a:p>
        </p:txBody>
      </p:sp>
      <p:sp>
        <p:nvSpPr>
          <p:cNvPr id="16" name="Text 14"/>
          <p:cNvSpPr/>
          <p:nvPr/>
        </p:nvSpPr>
        <p:spPr>
          <a:xfrm>
            <a:off x="2743200" y="1801368"/>
            <a:ext cx="1097280" cy="22860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TTF: 6–12 hrs</a:t>
            </a:r>
            <a:endParaRPr lang="en-US" sz="950" dirty="0"/>
          </a:p>
        </p:txBody>
      </p:sp>
      <p:sp>
        <p:nvSpPr>
          <p:cNvPr id="17" name="Text 15"/>
          <p:cNvSpPr/>
          <p:nvPr/>
        </p:nvSpPr>
        <p:spPr>
          <a:xfrm>
            <a:off x="3886200" y="1801368"/>
            <a:ext cx="4846320" cy="228600"/>
          </a:xfrm>
          <a:prstGeom prst="rect">
            <a:avLst/>
          </a:prstGeom>
          <a:noFill/>
          <a:ln/>
        </p:spPr>
        <p:txBody>
          <a:bodyPr wrap="square" lIns="0" tIns="0" rIns="0" bIns="0" rtlCol="0" anchor="ctr"/>
          <a:lstStyle/>
          <a:p>
            <a:pPr marL="0" indent="0">
              <a:buNone/>
            </a:pPr>
            <a:r>
              <a:rPr lang="en-US" sz="950" dirty="0">
                <a:solidFill>
                  <a:srgbClr val="22C55E"/>
                </a:solidFill>
                <a:latin typeface="Calibri" pitchFamily="34" charset="0"/>
                <a:ea typeface="Calibri" pitchFamily="34" charset="-122"/>
                <a:cs typeface="Calibri" pitchFamily="34" charset="-120"/>
              </a:rPr>
              <a:t>✅ Validated (retrospective) — All signals confirmed, cascade active</a:t>
            </a:r>
            <a:endParaRPr lang="en-US" sz="950" dirty="0"/>
          </a:p>
        </p:txBody>
      </p:sp>
      <p:sp>
        <p:nvSpPr>
          <p:cNvPr id="18" name="Shape 16"/>
          <p:cNvSpPr/>
          <p:nvPr/>
        </p:nvSpPr>
        <p:spPr>
          <a:xfrm>
            <a:off x="274320" y="2121408"/>
            <a:ext cx="8595360" cy="320040"/>
          </a:xfrm>
          <a:prstGeom prst="rect">
            <a:avLst/>
          </a:prstGeom>
          <a:solidFill>
            <a:srgbClr val="FEF2F2"/>
          </a:solidFill>
          <a:ln w="12700">
            <a:solidFill>
              <a:srgbClr val="E2E8F0"/>
            </a:solidFill>
            <a:prstDash val="solid"/>
          </a:ln>
        </p:spPr>
        <p:txBody>
          <a:bodyPr/>
          <a:lstStyle/>
          <a:p>
            <a:endParaRPr lang="en-IN"/>
          </a:p>
        </p:txBody>
      </p:sp>
      <p:sp>
        <p:nvSpPr>
          <p:cNvPr id="19" name="Text 17"/>
          <p:cNvSpPr/>
          <p:nvPr/>
        </p:nvSpPr>
        <p:spPr>
          <a:xfrm>
            <a:off x="365760" y="2167128"/>
            <a:ext cx="822960" cy="228600"/>
          </a:xfrm>
          <a:prstGeom prst="rect">
            <a:avLst/>
          </a:prstGeom>
          <a:noFill/>
          <a:ln/>
        </p:spPr>
        <p:txBody>
          <a:bodyPr wrap="square" lIns="0" tIns="0" rIns="0" bIns="0" rtlCol="0" anchor="ctr"/>
          <a:lstStyle/>
          <a:p>
            <a:pPr marL="0" indent="0">
              <a:buNone/>
            </a:pPr>
            <a:r>
              <a:rPr lang="en-US" sz="950" b="1" dirty="0">
                <a:solidFill>
                  <a:srgbClr val="EF4444"/>
                </a:solidFill>
                <a:latin typeface="Calibri" pitchFamily="34" charset="0"/>
                <a:ea typeface="Calibri" pitchFamily="34" charset="-122"/>
                <a:cs typeface="Calibri" pitchFamily="34" charset="-120"/>
              </a:rPr>
              <a:t>Nov 19</a:t>
            </a:r>
            <a:endParaRPr lang="en-US" sz="950" dirty="0"/>
          </a:p>
        </p:txBody>
      </p:sp>
      <p:sp>
        <p:nvSpPr>
          <p:cNvPr id="20" name="Text 18"/>
          <p:cNvSpPr/>
          <p:nvPr/>
        </p:nvSpPr>
        <p:spPr>
          <a:xfrm>
            <a:off x="1234440" y="2167128"/>
            <a:ext cx="1463040" cy="228600"/>
          </a:xfrm>
          <a:prstGeom prst="rect">
            <a:avLst/>
          </a:prstGeom>
          <a:noFill/>
          <a:ln/>
        </p:spPr>
        <p:txBody>
          <a:bodyPr wrap="square" lIns="0" tIns="0" rIns="0" bIns="0" rtlCol="0" anchor="ctr"/>
          <a:lstStyle/>
          <a:p>
            <a:pPr marL="0" indent="0">
              <a:buNone/>
            </a:pPr>
            <a:r>
              <a:rPr lang="en-US" sz="950" b="1" dirty="0">
                <a:solidFill>
                  <a:srgbClr val="EF4444"/>
                </a:solidFill>
                <a:latin typeface="Calibri" pitchFamily="34" charset="0"/>
                <a:ea typeface="Calibri" pitchFamily="34" charset="-122"/>
                <a:cs typeface="Calibri" pitchFamily="34" charset="-120"/>
              </a:rPr>
              <a:t>91.2 CRITICAL</a:t>
            </a:r>
            <a:endParaRPr lang="en-US" sz="950" dirty="0"/>
          </a:p>
        </p:txBody>
      </p:sp>
      <p:sp>
        <p:nvSpPr>
          <p:cNvPr id="21" name="Text 19"/>
          <p:cNvSpPr/>
          <p:nvPr/>
        </p:nvSpPr>
        <p:spPr>
          <a:xfrm>
            <a:off x="2743200" y="2167128"/>
            <a:ext cx="1097280" cy="22860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TTF: BREACH</a:t>
            </a:r>
            <a:endParaRPr lang="en-US" sz="950" dirty="0"/>
          </a:p>
        </p:txBody>
      </p:sp>
      <p:sp>
        <p:nvSpPr>
          <p:cNvPr id="22" name="Text 20"/>
          <p:cNvSpPr/>
          <p:nvPr/>
        </p:nvSpPr>
        <p:spPr>
          <a:xfrm>
            <a:off x="3886200" y="2167128"/>
            <a:ext cx="4846320" cy="228600"/>
          </a:xfrm>
          <a:prstGeom prst="rect">
            <a:avLst/>
          </a:prstGeom>
          <a:noFill/>
          <a:ln/>
        </p:spPr>
        <p:txBody>
          <a:bodyPr wrap="square" lIns="0" tIns="0" rIns="0" bIns="0" rtlCol="0" anchor="ctr"/>
          <a:lstStyle/>
          <a:p>
            <a:pPr marL="0" indent="0">
              <a:buNone/>
            </a:pPr>
            <a:r>
              <a:rPr lang="en-US" sz="950" dirty="0">
                <a:solidFill>
                  <a:srgbClr val="22C55E"/>
                </a:solidFill>
                <a:latin typeface="Calibri" pitchFamily="34" charset="0"/>
                <a:ea typeface="Calibri" pitchFamily="34" charset="-122"/>
                <a:cs typeface="Calibri" pitchFamily="34" charset="-120"/>
              </a:rPr>
              <a:t>✅ Validated (retrospective) — Annamayya breached 5:30 AM, 33 deaths</a:t>
            </a:r>
            <a:endParaRPr lang="en-US" sz="950" dirty="0"/>
          </a:p>
        </p:txBody>
      </p:sp>
      <p:sp>
        <p:nvSpPr>
          <p:cNvPr id="23" name="Shape 21"/>
          <p:cNvSpPr/>
          <p:nvPr/>
        </p:nvSpPr>
        <p:spPr>
          <a:xfrm>
            <a:off x="274320" y="2487168"/>
            <a:ext cx="8595360" cy="320040"/>
          </a:xfrm>
          <a:prstGeom prst="rect">
            <a:avLst/>
          </a:prstGeom>
          <a:solidFill>
            <a:srgbClr val="FFF7ED"/>
          </a:solidFill>
          <a:ln w="12700">
            <a:solidFill>
              <a:srgbClr val="E2E8F0"/>
            </a:solidFill>
            <a:prstDash val="solid"/>
          </a:ln>
        </p:spPr>
        <p:txBody>
          <a:bodyPr/>
          <a:lstStyle/>
          <a:p>
            <a:endParaRPr lang="en-IN"/>
          </a:p>
        </p:txBody>
      </p:sp>
      <p:sp>
        <p:nvSpPr>
          <p:cNvPr id="24" name="Text 22"/>
          <p:cNvSpPr/>
          <p:nvPr/>
        </p:nvSpPr>
        <p:spPr>
          <a:xfrm>
            <a:off x="365760" y="2532888"/>
            <a:ext cx="822960" cy="228600"/>
          </a:xfrm>
          <a:prstGeom prst="rect">
            <a:avLst/>
          </a:prstGeom>
          <a:noFill/>
          <a:ln/>
        </p:spPr>
        <p:txBody>
          <a:bodyPr wrap="square" lIns="0" tIns="0" rIns="0" bIns="0" rtlCol="0" anchor="ctr"/>
          <a:lstStyle/>
          <a:p>
            <a:pPr marL="0" indent="0">
              <a:buNone/>
            </a:pPr>
            <a:r>
              <a:rPr lang="en-US" sz="950" b="1" dirty="0">
                <a:solidFill>
                  <a:srgbClr val="EA580C"/>
                </a:solidFill>
                <a:latin typeface="Calibri" pitchFamily="34" charset="0"/>
                <a:ea typeface="Calibri" pitchFamily="34" charset="-122"/>
                <a:cs typeface="Calibri" pitchFamily="34" charset="-120"/>
              </a:rPr>
              <a:t>Nov 20</a:t>
            </a:r>
            <a:endParaRPr lang="en-US" sz="950" dirty="0"/>
          </a:p>
        </p:txBody>
      </p:sp>
      <p:sp>
        <p:nvSpPr>
          <p:cNvPr id="25" name="Text 23"/>
          <p:cNvSpPr/>
          <p:nvPr/>
        </p:nvSpPr>
        <p:spPr>
          <a:xfrm>
            <a:off x="1234440" y="2532888"/>
            <a:ext cx="1463040" cy="228600"/>
          </a:xfrm>
          <a:prstGeom prst="rect">
            <a:avLst/>
          </a:prstGeom>
          <a:noFill/>
          <a:ln/>
        </p:spPr>
        <p:txBody>
          <a:bodyPr wrap="square" lIns="0" tIns="0" rIns="0" bIns="0" rtlCol="0" anchor="ctr"/>
          <a:lstStyle/>
          <a:p>
            <a:pPr marL="0" indent="0">
              <a:buNone/>
            </a:pPr>
            <a:r>
              <a:rPr lang="en-US" sz="950" b="1" dirty="0">
                <a:solidFill>
                  <a:srgbClr val="EA580C"/>
                </a:solidFill>
                <a:latin typeface="Calibri" pitchFamily="34" charset="0"/>
                <a:ea typeface="Calibri" pitchFamily="34" charset="-122"/>
                <a:cs typeface="Calibri" pitchFamily="34" charset="-120"/>
              </a:rPr>
              <a:t>66.2 HIGH</a:t>
            </a:r>
            <a:endParaRPr lang="en-US" sz="950" dirty="0"/>
          </a:p>
        </p:txBody>
      </p:sp>
      <p:sp>
        <p:nvSpPr>
          <p:cNvPr id="26" name="Text 24"/>
          <p:cNvSpPr/>
          <p:nvPr/>
        </p:nvSpPr>
        <p:spPr>
          <a:xfrm>
            <a:off x="2743200" y="2532888"/>
            <a:ext cx="1097280" cy="22860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TTF: Receding</a:t>
            </a:r>
            <a:endParaRPr lang="en-US" sz="950" dirty="0"/>
          </a:p>
        </p:txBody>
      </p:sp>
      <p:sp>
        <p:nvSpPr>
          <p:cNvPr id="27" name="Text 25"/>
          <p:cNvSpPr/>
          <p:nvPr/>
        </p:nvSpPr>
        <p:spPr>
          <a:xfrm>
            <a:off x="3886200" y="2532888"/>
            <a:ext cx="4846320" cy="228600"/>
          </a:xfrm>
          <a:prstGeom prst="rect">
            <a:avLst/>
          </a:prstGeom>
          <a:noFill/>
          <a:ln/>
        </p:spPr>
        <p:txBody>
          <a:bodyPr wrap="square" lIns="0" tIns="0" rIns="0" bIns="0" rtlCol="0" anchor="ctr"/>
          <a:lstStyle/>
          <a:p>
            <a:pPr marL="0" indent="0">
              <a:buNone/>
            </a:pPr>
            <a:r>
              <a:rPr lang="en-US" sz="950" dirty="0">
                <a:solidFill>
                  <a:srgbClr val="22C55E"/>
                </a:solidFill>
                <a:latin typeface="Calibri" pitchFamily="34" charset="0"/>
                <a:ea typeface="Calibri" pitchFamily="34" charset="-122"/>
                <a:cs typeface="Calibri" pitchFamily="34" charset="-120"/>
              </a:rPr>
              <a:t>✅ Validated (retrospective) — Post-breach elevated, receding at Somasila</a:t>
            </a:r>
            <a:endParaRPr lang="en-US" sz="950" dirty="0"/>
          </a:p>
        </p:txBody>
      </p:sp>
      <p:sp>
        <p:nvSpPr>
          <p:cNvPr id="28" name="Shape 26"/>
          <p:cNvSpPr/>
          <p:nvPr/>
        </p:nvSpPr>
        <p:spPr>
          <a:xfrm>
            <a:off x="274320" y="2907792"/>
            <a:ext cx="4160520" cy="1874520"/>
          </a:xfrm>
          <a:prstGeom prst="rect">
            <a:avLst/>
          </a:prstGeom>
          <a:solidFill>
            <a:srgbClr val="FFFFFF"/>
          </a:solidFill>
          <a:ln w="12700">
            <a:solidFill>
              <a:srgbClr val="0284C7"/>
            </a:solidFill>
            <a:prstDash val="solid"/>
          </a:ln>
          <a:effectLst>
            <a:outerShdw blurRad="76200" dist="25400" dir="8100000" algn="bl" rotWithShape="0">
              <a:srgbClr val="000000">
                <a:alpha val="10000"/>
              </a:srgbClr>
            </a:outerShdw>
          </a:effectLst>
        </p:spPr>
        <p:txBody>
          <a:bodyPr/>
          <a:lstStyle/>
          <a:p>
            <a:endParaRPr lang="en-IN"/>
          </a:p>
        </p:txBody>
      </p:sp>
      <p:sp>
        <p:nvSpPr>
          <p:cNvPr id="29" name="Shape 27"/>
          <p:cNvSpPr/>
          <p:nvPr/>
        </p:nvSpPr>
        <p:spPr>
          <a:xfrm>
            <a:off x="274320" y="2907792"/>
            <a:ext cx="4160520" cy="347472"/>
          </a:xfrm>
          <a:prstGeom prst="rect">
            <a:avLst/>
          </a:prstGeom>
          <a:solidFill>
            <a:srgbClr val="0284C7"/>
          </a:solidFill>
          <a:ln w="12700">
            <a:solidFill>
              <a:srgbClr val="0284C7"/>
            </a:solidFill>
            <a:prstDash val="solid"/>
          </a:ln>
        </p:spPr>
        <p:txBody>
          <a:bodyPr/>
          <a:lstStyle/>
          <a:p>
            <a:endParaRPr lang="en-IN"/>
          </a:p>
        </p:txBody>
      </p:sp>
      <p:sp>
        <p:nvSpPr>
          <p:cNvPr id="30" name="Text 28"/>
          <p:cNvSpPr/>
          <p:nvPr/>
        </p:nvSpPr>
        <p:spPr>
          <a:xfrm>
            <a:off x="365760" y="2944368"/>
            <a:ext cx="393192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Why Hybrid Model (Not Pure ML)</a:t>
            </a:r>
            <a:endParaRPr lang="en-US" sz="1100" dirty="0"/>
          </a:p>
        </p:txBody>
      </p:sp>
      <p:sp>
        <p:nvSpPr>
          <p:cNvPr id="31" name="Text 29"/>
          <p:cNvSpPr/>
          <p:nvPr/>
        </p:nvSpPr>
        <p:spPr>
          <a:xfrm>
            <a:off x="365760" y="3328416"/>
            <a:ext cx="3931920" cy="237744"/>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 Only 4 dates of breach data — pure ML needs thousands</a:t>
            </a:r>
            <a:endParaRPr lang="en-US" sz="900" dirty="0"/>
          </a:p>
        </p:txBody>
      </p:sp>
      <p:sp>
        <p:nvSpPr>
          <p:cNvPr id="32" name="Text 30"/>
          <p:cNvSpPr/>
          <p:nvPr/>
        </p:nvSpPr>
        <p:spPr>
          <a:xfrm>
            <a:off x="365760" y="3602736"/>
            <a:ext cx="3931920" cy="237744"/>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 More explainable — engineers see exactly why score = 86</a:t>
            </a:r>
            <a:endParaRPr lang="en-US" sz="900" dirty="0"/>
          </a:p>
        </p:txBody>
      </p:sp>
      <p:sp>
        <p:nvSpPr>
          <p:cNvPr id="33" name="Text 31"/>
          <p:cNvSpPr/>
          <p:nvPr/>
        </p:nvSpPr>
        <p:spPr>
          <a:xfrm>
            <a:off x="365760" y="3877056"/>
            <a:ext cx="3931920" cy="237744"/>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 Validated against known Nov 2021 breach conditions</a:t>
            </a:r>
            <a:endParaRPr lang="en-US" sz="900" dirty="0"/>
          </a:p>
        </p:txBody>
      </p:sp>
      <p:sp>
        <p:nvSpPr>
          <p:cNvPr id="34" name="Text 32"/>
          <p:cNvSpPr/>
          <p:nvPr/>
        </p:nvSpPr>
        <p:spPr>
          <a:xfrm>
            <a:off x="365760" y="4151376"/>
            <a:ext cx="3931920" cy="237744"/>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 Domain hydrology knowledge prevents false positives</a:t>
            </a:r>
            <a:endParaRPr lang="en-US" sz="900" dirty="0"/>
          </a:p>
        </p:txBody>
      </p:sp>
      <p:sp>
        <p:nvSpPr>
          <p:cNvPr id="35" name="Text 33"/>
          <p:cNvSpPr/>
          <p:nvPr/>
        </p:nvSpPr>
        <p:spPr>
          <a:xfrm>
            <a:off x="365760" y="4425696"/>
            <a:ext cx="3931920" cy="237744"/>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 Easily updated with new data as system scales</a:t>
            </a:r>
            <a:endParaRPr lang="en-US" sz="900" dirty="0"/>
          </a:p>
        </p:txBody>
      </p:sp>
      <p:sp>
        <p:nvSpPr>
          <p:cNvPr id="36" name="Shape 34"/>
          <p:cNvSpPr/>
          <p:nvPr/>
        </p:nvSpPr>
        <p:spPr>
          <a:xfrm>
            <a:off x="4617720" y="2907792"/>
            <a:ext cx="4251960" cy="1874520"/>
          </a:xfrm>
          <a:prstGeom prst="rect">
            <a:avLst/>
          </a:prstGeom>
          <a:solidFill>
            <a:srgbClr val="FFFFFF"/>
          </a:solidFill>
          <a:ln w="12700">
            <a:solidFill>
              <a:srgbClr val="F59E0B"/>
            </a:solidFill>
            <a:prstDash val="solid"/>
          </a:ln>
          <a:effectLst>
            <a:outerShdw blurRad="76200" dist="25400" dir="8100000" algn="bl" rotWithShape="0">
              <a:srgbClr val="000000">
                <a:alpha val="10000"/>
              </a:srgbClr>
            </a:outerShdw>
          </a:effectLst>
        </p:spPr>
        <p:txBody>
          <a:bodyPr/>
          <a:lstStyle/>
          <a:p>
            <a:endParaRPr lang="en-IN"/>
          </a:p>
        </p:txBody>
      </p:sp>
      <p:sp>
        <p:nvSpPr>
          <p:cNvPr id="37" name="Shape 35"/>
          <p:cNvSpPr/>
          <p:nvPr/>
        </p:nvSpPr>
        <p:spPr>
          <a:xfrm>
            <a:off x="4617720" y="2907792"/>
            <a:ext cx="4251960" cy="347472"/>
          </a:xfrm>
          <a:prstGeom prst="rect">
            <a:avLst/>
          </a:prstGeom>
          <a:solidFill>
            <a:srgbClr val="F59E0B"/>
          </a:solidFill>
          <a:ln w="12700">
            <a:solidFill>
              <a:srgbClr val="F59E0B"/>
            </a:solidFill>
            <a:prstDash val="solid"/>
          </a:ln>
        </p:spPr>
        <p:txBody>
          <a:bodyPr/>
          <a:lstStyle/>
          <a:p>
            <a:endParaRPr lang="en-IN"/>
          </a:p>
        </p:txBody>
      </p:sp>
      <p:sp>
        <p:nvSpPr>
          <p:cNvPr id="38" name="Text 36"/>
          <p:cNvSpPr/>
          <p:nvPr/>
        </p:nvSpPr>
        <p:spPr>
          <a:xfrm>
            <a:off x="4709160" y="2944368"/>
            <a:ext cx="406908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Maintenance Intelligence (Proxy)</a:t>
            </a:r>
            <a:endParaRPr lang="en-US" sz="1100" dirty="0"/>
          </a:p>
        </p:txBody>
      </p:sp>
      <p:sp>
        <p:nvSpPr>
          <p:cNvPr id="39" name="Text 37"/>
          <p:cNvSpPr/>
          <p:nvPr/>
        </p:nvSpPr>
        <p:spPr>
          <a:xfrm>
            <a:off x="4709160" y="3310128"/>
            <a:ext cx="4069080" cy="201168"/>
          </a:xfrm>
          <a:prstGeom prst="rect">
            <a:avLst/>
          </a:prstGeom>
          <a:noFill/>
          <a:ln/>
        </p:spPr>
        <p:txBody>
          <a:bodyPr wrap="square" lIns="0" tIns="0" rIns="0" bIns="0" rtlCol="0" anchor="ctr"/>
          <a:lstStyle/>
          <a:p>
            <a:pPr marL="0" indent="0">
              <a:buNone/>
            </a:pPr>
            <a:r>
              <a:rPr lang="en-US" sz="900" b="1" dirty="0">
                <a:solidFill>
                  <a:srgbClr val="F59E0B"/>
                </a:solidFill>
                <a:latin typeface="Calibri" pitchFamily="34" charset="0"/>
                <a:ea typeface="Calibri" pitchFamily="34" charset="-122"/>
                <a:cs typeface="Calibri" pitchFamily="34" charset="-120"/>
              </a:rPr>
              <a:t>Score 30–50 (dry season)</a:t>
            </a:r>
            <a:endParaRPr lang="en-US" sz="900" dirty="0"/>
          </a:p>
        </p:txBody>
      </p:sp>
      <p:sp>
        <p:nvSpPr>
          <p:cNvPr id="40" name="Text 38"/>
          <p:cNvSpPr/>
          <p:nvPr/>
        </p:nvSpPr>
        <p:spPr>
          <a:xfrm>
            <a:off x="4709160" y="3493008"/>
            <a:ext cx="4069080" cy="201168"/>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 Schedule inspection before June</a:t>
            </a:r>
            <a:endParaRPr lang="en-US" sz="900" dirty="0"/>
          </a:p>
        </p:txBody>
      </p:sp>
      <p:sp>
        <p:nvSpPr>
          <p:cNvPr id="41" name="Text 39"/>
          <p:cNvSpPr/>
          <p:nvPr/>
        </p:nvSpPr>
        <p:spPr>
          <a:xfrm>
            <a:off x="4709160" y="3813048"/>
            <a:ext cx="4069080" cy="201168"/>
          </a:xfrm>
          <a:prstGeom prst="rect">
            <a:avLst/>
          </a:prstGeom>
          <a:noFill/>
          <a:ln/>
        </p:spPr>
        <p:txBody>
          <a:bodyPr wrap="square" lIns="0" tIns="0" rIns="0" bIns="0" rtlCol="0" anchor="ctr"/>
          <a:lstStyle/>
          <a:p>
            <a:pPr marL="0" indent="0">
              <a:buNone/>
            </a:pPr>
            <a:r>
              <a:rPr lang="en-US" sz="900" b="1" dirty="0">
                <a:solidFill>
                  <a:srgbClr val="F59E0B"/>
                </a:solidFill>
                <a:latin typeface="Calibri" pitchFamily="34" charset="0"/>
                <a:ea typeface="Calibri" pitchFamily="34" charset="-122"/>
                <a:cs typeface="Calibri" pitchFamily="34" charset="-120"/>
              </a:rPr>
              <a:t>Score 50–70 (dry season)</a:t>
            </a:r>
            <a:endParaRPr lang="en-US" sz="900" dirty="0"/>
          </a:p>
        </p:txBody>
      </p:sp>
      <p:sp>
        <p:nvSpPr>
          <p:cNvPr id="42" name="Text 40"/>
          <p:cNvSpPr/>
          <p:nvPr/>
        </p:nvSpPr>
        <p:spPr>
          <a:xfrm>
            <a:off x="4709160" y="3995928"/>
            <a:ext cx="4069080" cy="201168"/>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 Urgent inspection within 2 weeks</a:t>
            </a:r>
            <a:endParaRPr lang="en-US" sz="900" dirty="0"/>
          </a:p>
        </p:txBody>
      </p:sp>
      <p:sp>
        <p:nvSpPr>
          <p:cNvPr id="43" name="Text 41"/>
          <p:cNvSpPr/>
          <p:nvPr/>
        </p:nvSpPr>
        <p:spPr>
          <a:xfrm>
            <a:off x="4709160" y="4315968"/>
            <a:ext cx="4069080" cy="201168"/>
          </a:xfrm>
          <a:prstGeom prst="rect">
            <a:avLst/>
          </a:prstGeom>
          <a:noFill/>
          <a:ln/>
        </p:spPr>
        <p:txBody>
          <a:bodyPr wrap="square" lIns="0" tIns="0" rIns="0" bIns="0" rtlCol="0" anchor="ctr"/>
          <a:lstStyle/>
          <a:p>
            <a:pPr marL="0" indent="0">
              <a:buNone/>
            </a:pPr>
            <a:r>
              <a:rPr lang="en-US" sz="900" b="1" dirty="0">
                <a:solidFill>
                  <a:srgbClr val="F59E0B"/>
                </a:solidFill>
                <a:latin typeface="Calibri" pitchFamily="34" charset="0"/>
                <a:ea typeface="Calibri" pitchFamily="34" charset="-122"/>
                <a:cs typeface="Calibri" pitchFamily="34" charset="-120"/>
              </a:rPr>
              <a:t>Score 70+ (dry season)</a:t>
            </a:r>
            <a:endParaRPr lang="en-US" sz="900" dirty="0"/>
          </a:p>
        </p:txBody>
      </p:sp>
      <p:sp>
        <p:nvSpPr>
          <p:cNvPr id="44" name="Text 42"/>
          <p:cNvSpPr/>
          <p:nvPr/>
        </p:nvSpPr>
        <p:spPr>
          <a:xfrm>
            <a:off x="4709160" y="4498848"/>
            <a:ext cx="4069080" cy="201168"/>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 Immediate structural assessment</a:t>
            </a:r>
            <a:endParaRPr lang="en-US" sz="900" dirty="0"/>
          </a:p>
        </p:txBody>
      </p:sp>
      <p:sp>
        <p:nvSpPr>
          <p:cNvPr id="45" name="Text 43"/>
          <p:cNvSpPr/>
          <p:nvPr/>
        </p:nvSpPr>
        <p:spPr>
          <a:xfrm>
            <a:off x="4709160" y="4434840"/>
            <a:ext cx="4069080" cy="274320"/>
          </a:xfrm>
          <a:prstGeom prst="rect">
            <a:avLst/>
          </a:prstGeom>
          <a:noFill/>
          <a:ln/>
        </p:spPr>
        <p:txBody>
          <a:bodyPr wrap="square" lIns="0" tIns="0" rIns="0" bIns="0"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Dry season high scores indicate structural vulnerability — not rainfall related.</a:t>
            </a:r>
            <a:endParaRPr lang="en-US" sz="850" dirty="0"/>
          </a:p>
        </p:txBody>
      </p:sp>
      <p:sp>
        <p:nvSpPr>
          <p:cNvPr id="46" name="Shape 44"/>
          <p:cNvSpPr/>
          <p:nvPr/>
        </p:nvSpPr>
        <p:spPr>
          <a:xfrm>
            <a:off x="0" y="4818888"/>
            <a:ext cx="9144000" cy="324612"/>
          </a:xfrm>
          <a:prstGeom prst="rect">
            <a:avLst/>
          </a:prstGeom>
          <a:solidFill>
            <a:srgbClr val="E2E8F0"/>
          </a:solidFill>
          <a:ln w="12700">
            <a:solidFill>
              <a:srgbClr val="E2E8F0"/>
            </a:solidFill>
            <a:prstDash val="solid"/>
          </a:ln>
        </p:spPr>
        <p:txBody>
          <a:bodyPr/>
          <a:lstStyle/>
          <a:p>
            <a:endParaRPr lang="en-IN"/>
          </a:p>
        </p:txBody>
      </p:sp>
      <p:sp>
        <p:nvSpPr>
          <p:cNvPr id="47" name="Text 45"/>
          <p:cNvSpPr/>
          <p:nvPr/>
        </p:nvSpPr>
        <p:spPr>
          <a:xfrm>
            <a:off x="274320" y="4837176"/>
            <a:ext cx="7772400" cy="27432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AP-Wrims Early Warning System  |  HierachAI Technologies Pvt. Ltd.  |  DPIIT Recognised · Women-Led · Andhra Pradesh</a:t>
            </a:r>
            <a:endParaRPr lang="en-US" sz="800" dirty="0"/>
          </a:p>
        </p:txBody>
      </p:sp>
      <p:sp>
        <p:nvSpPr>
          <p:cNvPr id="48" name="Text 46"/>
          <p:cNvSpPr/>
          <p:nvPr/>
        </p:nvSpPr>
        <p:spPr>
          <a:xfrm>
            <a:off x="8046720" y="4837176"/>
            <a:ext cx="914400" cy="274320"/>
          </a:xfrm>
          <a:prstGeom prst="rect">
            <a:avLst/>
          </a:prstGeom>
          <a:noFill/>
          <a:ln/>
        </p:spPr>
        <p:txBody>
          <a:bodyPr wrap="square" lIns="0" tIns="0" rIns="0" bIns="0" rtlCol="0" anchor="ctr"/>
          <a:lstStyle/>
          <a:p>
            <a:pPr marL="0" indent="0" algn="r">
              <a:buNone/>
            </a:pPr>
            <a:r>
              <a:rPr lang="en-US" sz="800" dirty="0">
                <a:solidFill>
                  <a:srgbClr val="1E3A5F"/>
                </a:solidFill>
                <a:latin typeface="Calibri" pitchFamily="34" charset="0"/>
                <a:ea typeface="Calibri" pitchFamily="34" charset="-122"/>
                <a:cs typeface="Calibri" pitchFamily="34" charset="-120"/>
              </a:rPr>
              <a:t>15 / 16</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w="12700">
            <a:solidFill>
              <a:srgbClr val="F59E0B"/>
            </a:solidFill>
            <a:prstDash val="solid"/>
          </a:ln>
        </p:spPr>
        <p:txBody>
          <a:bodyPr/>
          <a:lstStyle/>
          <a:p>
            <a:endParaRPr lang="en-IN"/>
          </a:p>
        </p:txBody>
      </p:sp>
      <p:sp>
        <p:nvSpPr>
          <p:cNvPr id="3" name="Shape 1"/>
          <p:cNvSpPr/>
          <p:nvPr/>
        </p:nvSpPr>
        <p:spPr>
          <a:xfrm>
            <a:off x="0" y="73152"/>
            <a:ext cx="109728" cy="5070348"/>
          </a:xfrm>
          <a:prstGeom prst="rect">
            <a:avLst/>
          </a:prstGeom>
          <a:solidFill>
            <a:srgbClr val="0A7EA4"/>
          </a:solidFill>
          <a:ln w="12700">
            <a:solidFill>
              <a:srgbClr val="0A7EA4"/>
            </a:solidFill>
            <a:prstDash val="solid"/>
          </a:ln>
        </p:spPr>
        <p:txBody>
          <a:bodyPr/>
          <a:lstStyle/>
          <a:p>
            <a:endParaRPr lang="en-IN"/>
          </a:p>
        </p:txBody>
      </p:sp>
      <p:sp>
        <p:nvSpPr>
          <p:cNvPr id="4" name="Shape 2"/>
          <p:cNvSpPr/>
          <p:nvPr/>
        </p:nvSpPr>
        <p:spPr>
          <a:xfrm>
            <a:off x="109728" y="73152"/>
            <a:ext cx="9034272" cy="594360"/>
          </a:xfrm>
          <a:prstGeom prst="rect">
            <a:avLst/>
          </a:prstGeom>
          <a:solidFill>
            <a:srgbClr val="0D1B2A"/>
          </a:solidFill>
          <a:ln w="12700">
            <a:solidFill>
              <a:srgbClr val="0D1B2A"/>
            </a:solidFill>
            <a:prstDash val="solid"/>
          </a:ln>
        </p:spPr>
        <p:txBody>
          <a:bodyPr/>
          <a:lstStyle/>
          <a:p>
            <a:endParaRPr lang="en-IN"/>
          </a:p>
        </p:txBody>
      </p:sp>
      <p:sp>
        <p:nvSpPr>
          <p:cNvPr id="5" name="Text 3"/>
          <p:cNvSpPr/>
          <p:nvPr/>
        </p:nvSpPr>
        <p:spPr>
          <a:xfrm>
            <a:off x="228600" y="109728"/>
            <a:ext cx="8686800" cy="47548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  About HierachAI Technologies — Company Profile</a:t>
            </a:r>
            <a:endParaRPr lang="en-US" sz="2000" dirty="0"/>
          </a:p>
        </p:txBody>
      </p:sp>
      <p:sp>
        <p:nvSpPr>
          <p:cNvPr id="6" name="Shape 4"/>
          <p:cNvSpPr/>
          <p:nvPr/>
        </p:nvSpPr>
        <p:spPr>
          <a:xfrm>
            <a:off x="109728" y="667512"/>
            <a:ext cx="9034272" cy="36576"/>
          </a:xfrm>
          <a:prstGeom prst="rect">
            <a:avLst/>
          </a:prstGeom>
          <a:solidFill>
            <a:srgbClr val="F59E0B"/>
          </a:solidFill>
          <a:ln w="12700">
            <a:solidFill>
              <a:srgbClr val="F59E0B"/>
            </a:solidFill>
            <a:prstDash val="solid"/>
          </a:ln>
        </p:spPr>
        <p:txBody>
          <a:bodyPr/>
          <a:lstStyle/>
          <a:p>
            <a:endParaRPr lang="en-IN"/>
          </a:p>
        </p:txBody>
      </p:sp>
      <p:sp>
        <p:nvSpPr>
          <p:cNvPr id="7" name="Text 5"/>
          <p:cNvSpPr/>
          <p:nvPr/>
        </p:nvSpPr>
        <p:spPr>
          <a:xfrm>
            <a:off x="228600" y="804672"/>
            <a:ext cx="8686800" cy="530352"/>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HierachAI Technologies Pvt. Ltd.</a:t>
            </a:r>
            <a:endParaRPr lang="en-US" sz="2600" dirty="0"/>
          </a:p>
        </p:txBody>
      </p:sp>
      <p:sp>
        <p:nvSpPr>
          <p:cNvPr id="8" name="Shape 6"/>
          <p:cNvSpPr/>
          <p:nvPr/>
        </p:nvSpPr>
        <p:spPr>
          <a:xfrm>
            <a:off x="228600" y="1389888"/>
            <a:ext cx="2011680" cy="310896"/>
          </a:xfrm>
          <a:prstGeom prst="rect">
            <a:avLst/>
          </a:prstGeom>
          <a:solidFill>
            <a:srgbClr val="0A7EA4"/>
          </a:solidFill>
          <a:ln w="12700">
            <a:solidFill>
              <a:srgbClr val="1AABDA"/>
            </a:solidFill>
            <a:prstDash val="solid"/>
          </a:ln>
        </p:spPr>
        <p:txBody>
          <a:bodyPr/>
          <a:lstStyle/>
          <a:p>
            <a:endParaRPr lang="en-IN"/>
          </a:p>
        </p:txBody>
      </p:sp>
      <p:sp>
        <p:nvSpPr>
          <p:cNvPr id="9" name="Text 7"/>
          <p:cNvSpPr/>
          <p:nvPr/>
        </p:nvSpPr>
        <p:spPr>
          <a:xfrm>
            <a:off x="228600" y="1389888"/>
            <a:ext cx="2011680" cy="310896"/>
          </a:xfrm>
          <a:prstGeom prst="rect">
            <a:avLst/>
          </a:prstGeom>
          <a:noFill/>
          <a:ln/>
        </p:spPr>
        <p:txBody>
          <a:bodyPr wrap="square" lIns="0" tIns="0" rIns="0" bIns="0" rtlCol="0" anchor="ctr"/>
          <a:lstStyle/>
          <a:p>
            <a:pPr marL="0" indent="0" algn="ctr">
              <a:buNone/>
            </a:pPr>
            <a:r>
              <a:rPr lang="en-US" sz="900" b="1" dirty="0">
                <a:solidFill>
                  <a:srgbClr val="FCD34D"/>
                </a:solidFill>
                <a:latin typeface="Calibri" pitchFamily="34" charset="0"/>
                <a:ea typeface="Calibri" pitchFamily="34" charset="-122"/>
                <a:cs typeface="Calibri" pitchFamily="34" charset="-120"/>
              </a:rPr>
              <a:t>👩 Women-Led AI Startup</a:t>
            </a:r>
            <a:endParaRPr lang="en-US" sz="900" dirty="0"/>
          </a:p>
        </p:txBody>
      </p:sp>
      <p:sp>
        <p:nvSpPr>
          <p:cNvPr id="10" name="Shape 8"/>
          <p:cNvSpPr/>
          <p:nvPr/>
        </p:nvSpPr>
        <p:spPr>
          <a:xfrm>
            <a:off x="2404872" y="1389888"/>
            <a:ext cx="2011680" cy="310896"/>
          </a:xfrm>
          <a:prstGeom prst="rect">
            <a:avLst/>
          </a:prstGeom>
          <a:solidFill>
            <a:srgbClr val="065A7A"/>
          </a:solidFill>
          <a:ln w="12700">
            <a:solidFill>
              <a:srgbClr val="1AABDA"/>
            </a:solidFill>
            <a:prstDash val="solid"/>
          </a:ln>
        </p:spPr>
        <p:txBody>
          <a:bodyPr/>
          <a:lstStyle/>
          <a:p>
            <a:endParaRPr lang="en-IN"/>
          </a:p>
        </p:txBody>
      </p:sp>
      <p:sp>
        <p:nvSpPr>
          <p:cNvPr id="11" name="Text 9"/>
          <p:cNvSpPr/>
          <p:nvPr/>
        </p:nvSpPr>
        <p:spPr>
          <a:xfrm>
            <a:off x="2404872" y="1389888"/>
            <a:ext cx="2011680" cy="310896"/>
          </a:xfrm>
          <a:prstGeom prst="rect">
            <a:avLst/>
          </a:prstGeom>
          <a:noFill/>
          <a:ln/>
        </p:spPr>
        <p:txBody>
          <a:bodyPr wrap="square" lIns="0" tIns="0" rIns="0" bIns="0" rtlCol="0" anchor="ctr"/>
          <a:lstStyle/>
          <a:p>
            <a:pPr marL="0" indent="0" algn="ctr">
              <a:buNone/>
            </a:pPr>
            <a:r>
              <a:rPr lang="en-US" sz="900" b="1" dirty="0">
                <a:solidFill>
                  <a:srgbClr val="FCD34D"/>
                </a:solidFill>
                <a:latin typeface="Calibri" pitchFamily="34" charset="0"/>
                <a:ea typeface="Calibri" pitchFamily="34" charset="-122"/>
                <a:cs typeface="Calibri" pitchFamily="34" charset="-120"/>
              </a:rPr>
              <a:t>🏛️ DPIIT Recognised</a:t>
            </a:r>
            <a:endParaRPr lang="en-US" sz="900" dirty="0"/>
          </a:p>
        </p:txBody>
      </p:sp>
      <p:sp>
        <p:nvSpPr>
          <p:cNvPr id="12" name="Shape 10"/>
          <p:cNvSpPr/>
          <p:nvPr/>
        </p:nvSpPr>
        <p:spPr>
          <a:xfrm>
            <a:off x="4581144" y="1389888"/>
            <a:ext cx="2011680" cy="310896"/>
          </a:xfrm>
          <a:prstGeom prst="rect">
            <a:avLst/>
          </a:prstGeom>
          <a:solidFill>
            <a:srgbClr val="065A7A"/>
          </a:solidFill>
          <a:ln w="12700">
            <a:solidFill>
              <a:srgbClr val="F59E0B"/>
            </a:solidFill>
            <a:prstDash val="solid"/>
          </a:ln>
        </p:spPr>
        <p:txBody>
          <a:bodyPr/>
          <a:lstStyle/>
          <a:p>
            <a:endParaRPr lang="en-IN"/>
          </a:p>
        </p:txBody>
      </p:sp>
      <p:sp>
        <p:nvSpPr>
          <p:cNvPr id="13" name="Text 11"/>
          <p:cNvSpPr/>
          <p:nvPr/>
        </p:nvSpPr>
        <p:spPr>
          <a:xfrm>
            <a:off x="4581144" y="1389888"/>
            <a:ext cx="2011680" cy="310896"/>
          </a:xfrm>
          <a:prstGeom prst="rect">
            <a:avLst/>
          </a:prstGeom>
          <a:noFill/>
          <a:ln/>
        </p:spPr>
        <p:txBody>
          <a:bodyPr wrap="square" lIns="0" tIns="0" rIns="0" bIns="0" rtlCol="0" anchor="ctr"/>
          <a:lstStyle/>
          <a:p>
            <a:pPr marL="0" indent="0" algn="ctr">
              <a:buNone/>
            </a:pPr>
            <a:r>
              <a:rPr lang="en-US" sz="900" b="1" dirty="0">
                <a:solidFill>
                  <a:srgbClr val="FCD34D"/>
                </a:solidFill>
                <a:latin typeface="Calibri" pitchFamily="34" charset="0"/>
                <a:ea typeface="Calibri" pitchFamily="34" charset="-122"/>
                <a:cs typeface="Calibri" pitchFamily="34" charset="-120"/>
              </a:rPr>
              <a:t>📋 MSME Registered</a:t>
            </a:r>
            <a:endParaRPr lang="en-US" sz="900" dirty="0"/>
          </a:p>
        </p:txBody>
      </p:sp>
      <p:sp>
        <p:nvSpPr>
          <p:cNvPr id="14" name="Shape 12"/>
          <p:cNvSpPr/>
          <p:nvPr/>
        </p:nvSpPr>
        <p:spPr>
          <a:xfrm>
            <a:off x="6757416" y="1389888"/>
            <a:ext cx="2011680" cy="310896"/>
          </a:xfrm>
          <a:prstGeom prst="rect">
            <a:avLst/>
          </a:prstGeom>
          <a:solidFill>
            <a:srgbClr val="065A7A"/>
          </a:solidFill>
          <a:ln w="12700">
            <a:solidFill>
              <a:srgbClr val="F59E0B"/>
            </a:solidFill>
            <a:prstDash val="solid"/>
          </a:ln>
        </p:spPr>
        <p:txBody>
          <a:bodyPr/>
          <a:lstStyle/>
          <a:p>
            <a:endParaRPr lang="en-IN"/>
          </a:p>
        </p:txBody>
      </p:sp>
      <p:sp>
        <p:nvSpPr>
          <p:cNvPr id="15" name="Text 13"/>
          <p:cNvSpPr/>
          <p:nvPr/>
        </p:nvSpPr>
        <p:spPr>
          <a:xfrm>
            <a:off x="6757416" y="1389888"/>
            <a:ext cx="2011680" cy="310896"/>
          </a:xfrm>
          <a:prstGeom prst="rect">
            <a:avLst/>
          </a:prstGeom>
          <a:noFill/>
          <a:ln/>
        </p:spPr>
        <p:txBody>
          <a:bodyPr wrap="square" lIns="0" tIns="0" rIns="0" bIns="0" rtlCol="0" anchor="ctr"/>
          <a:lstStyle/>
          <a:p>
            <a:pPr marL="0" indent="0" algn="ctr">
              <a:buNone/>
            </a:pPr>
            <a:r>
              <a:rPr lang="en-US" sz="900" b="1" dirty="0">
                <a:solidFill>
                  <a:srgbClr val="FCD34D"/>
                </a:solidFill>
                <a:latin typeface="Calibri" pitchFamily="34" charset="0"/>
                <a:ea typeface="Calibri" pitchFamily="34" charset="-122"/>
                <a:cs typeface="Calibri" pitchFamily="34" charset="-120"/>
              </a:rPr>
              <a:t>🌾 Agriculture Roots</a:t>
            </a:r>
            <a:endParaRPr lang="en-US" sz="900" dirty="0"/>
          </a:p>
        </p:txBody>
      </p:sp>
      <p:sp>
        <p:nvSpPr>
          <p:cNvPr id="16" name="Shape 14"/>
          <p:cNvSpPr/>
          <p:nvPr/>
        </p:nvSpPr>
        <p:spPr>
          <a:xfrm>
            <a:off x="228600" y="1792224"/>
            <a:ext cx="8686800" cy="27432"/>
          </a:xfrm>
          <a:prstGeom prst="rect">
            <a:avLst/>
          </a:prstGeom>
          <a:solidFill>
            <a:srgbClr val="0A7EA4"/>
          </a:solidFill>
          <a:ln w="12700">
            <a:solidFill>
              <a:srgbClr val="0A7EA4"/>
            </a:solidFill>
            <a:prstDash val="solid"/>
          </a:ln>
        </p:spPr>
        <p:txBody>
          <a:bodyPr/>
          <a:lstStyle/>
          <a:p>
            <a:endParaRPr lang="en-IN"/>
          </a:p>
        </p:txBody>
      </p:sp>
      <p:sp>
        <p:nvSpPr>
          <p:cNvPr id="17" name="Shape 15"/>
          <p:cNvSpPr/>
          <p:nvPr/>
        </p:nvSpPr>
        <p:spPr>
          <a:xfrm>
            <a:off x="228600" y="1901952"/>
            <a:ext cx="4114800" cy="384048"/>
          </a:xfrm>
          <a:prstGeom prst="rect">
            <a:avLst/>
          </a:prstGeom>
          <a:solidFill>
            <a:srgbClr val="0A1F35"/>
          </a:solidFill>
          <a:ln w="12700">
            <a:solidFill>
              <a:srgbClr val="0A7EA4"/>
            </a:solidFill>
            <a:prstDash val="solid"/>
          </a:ln>
        </p:spPr>
        <p:txBody>
          <a:bodyPr/>
          <a:lstStyle/>
          <a:p>
            <a:endParaRPr lang="en-IN"/>
          </a:p>
        </p:txBody>
      </p:sp>
      <p:sp>
        <p:nvSpPr>
          <p:cNvPr id="18" name="Text 16"/>
          <p:cNvSpPr/>
          <p:nvPr/>
        </p:nvSpPr>
        <p:spPr>
          <a:xfrm>
            <a:off x="320040" y="1975104"/>
            <a:ext cx="1188720" cy="237744"/>
          </a:xfrm>
          <a:prstGeom prst="rect">
            <a:avLst/>
          </a:prstGeom>
          <a:noFill/>
          <a:ln/>
        </p:spPr>
        <p:txBody>
          <a:bodyPr wrap="square" lIns="0" tIns="0" rIns="0" bIns="0" rtlCol="0" anchor="ctr"/>
          <a:lstStyle/>
          <a:p>
            <a:pPr marL="0" indent="0">
              <a:buNone/>
            </a:pPr>
            <a:r>
              <a:rPr lang="en-US" sz="900" b="1" dirty="0">
                <a:solidFill>
                  <a:srgbClr val="1AABDA"/>
                </a:solidFill>
                <a:latin typeface="Calibri" pitchFamily="34" charset="0"/>
                <a:ea typeface="Calibri" pitchFamily="34" charset="-122"/>
                <a:cs typeface="Calibri" pitchFamily="34" charset="-120"/>
              </a:rPr>
              <a:t>Director:</a:t>
            </a:r>
            <a:endParaRPr lang="en-US" sz="900" dirty="0"/>
          </a:p>
        </p:txBody>
      </p:sp>
      <p:sp>
        <p:nvSpPr>
          <p:cNvPr id="19" name="Text 17"/>
          <p:cNvSpPr/>
          <p:nvPr/>
        </p:nvSpPr>
        <p:spPr>
          <a:xfrm>
            <a:off x="1554480" y="1975104"/>
            <a:ext cx="2697480" cy="237744"/>
          </a:xfrm>
          <a:prstGeom prst="rect">
            <a:avLst/>
          </a:prstGeom>
          <a:noFill/>
          <a:ln/>
        </p:spPr>
        <p:txBody>
          <a:bodyPr wrap="square" lIns="0" tIns="0" rIns="0" bIns="0" rtlCol="0" anchor="ctr"/>
          <a:lstStyle/>
          <a:p>
            <a:pPr marL="0" indent="0">
              <a:buNone/>
            </a:pPr>
            <a:r>
              <a:rPr lang="en-US" sz="950" dirty="0">
                <a:solidFill>
                  <a:srgbClr val="E2EEF4"/>
                </a:solidFill>
                <a:latin typeface="Calibri" pitchFamily="34" charset="0"/>
                <a:ea typeface="Calibri" pitchFamily="34" charset="-122"/>
                <a:cs typeface="Calibri" pitchFamily="34" charset="-120"/>
              </a:rPr>
              <a:t>Eeda Nagamani</a:t>
            </a:r>
            <a:endParaRPr lang="en-US" sz="950" dirty="0"/>
          </a:p>
        </p:txBody>
      </p:sp>
      <p:sp>
        <p:nvSpPr>
          <p:cNvPr id="20" name="Shape 18"/>
          <p:cNvSpPr/>
          <p:nvPr/>
        </p:nvSpPr>
        <p:spPr>
          <a:xfrm>
            <a:off x="228600" y="2340864"/>
            <a:ext cx="4114800" cy="384048"/>
          </a:xfrm>
          <a:prstGeom prst="rect">
            <a:avLst/>
          </a:prstGeom>
          <a:solidFill>
            <a:srgbClr val="0D1B2A"/>
          </a:solidFill>
          <a:ln w="12700">
            <a:solidFill>
              <a:srgbClr val="0A7EA4"/>
            </a:solidFill>
            <a:prstDash val="solid"/>
          </a:ln>
        </p:spPr>
        <p:txBody>
          <a:bodyPr/>
          <a:lstStyle/>
          <a:p>
            <a:endParaRPr lang="en-IN"/>
          </a:p>
        </p:txBody>
      </p:sp>
      <p:sp>
        <p:nvSpPr>
          <p:cNvPr id="21" name="Text 19"/>
          <p:cNvSpPr/>
          <p:nvPr/>
        </p:nvSpPr>
        <p:spPr>
          <a:xfrm>
            <a:off x="320040" y="2414016"/>
            <a:ext cx="1188720" cy="237744"/>
          </a:xfrm>
          <a:prstGeom prst="rect">
            <a:avLst/>
          </a:prstGeom>
          <a:noFill/>
          <a:ln/>
        </p:spPr>
        <p:txBody>
          <a:bodyPr wrap="square" lIns="0" tIns="0" rIns="0" bIns="0" rtlCol="0" anchor="ctr"/>
          <a:lstStyle/>
          <a:p>
            <a:pPr marL="0" indent="0">
              <a:buNone/>
            </a:pPr>
            <a:r>
              <a:rPr lang="en-US" sz="900" b="1" dirty="0">
                <a:solidFill>
                  <a:srgbClr val="1AABDA"/>
                </a:solidFill>
                <a:latin typeface="Calibri" pitchFamily="34" charset="0"/>
                <a:ea typeface="Calibri" pitchFamily="34" charset="-122"/>
                <a:cs typeface="Calibri" pitchFamily="34" charset="-120"/>
              </a:rPr>
              <a:t>Founded:</a:t>
            </a:r>
            <a:endParaRPr lang="en-US" sz="900" dirty="0"/>
          </a:p>
        </p:txBody>
      </p:sp>
      <p:sp>
        <p:nvSpPr>
          <p:cNvPr id="22" name="Text 20"/>
          <p:cNvSpPr/>
          <p:nvPr/>
        </p:nvSpPr>
        <p:spPr>
          <a:xfrm>
            <a:off x="1554480" y="2414016"/>
            <a:ext cx="2697480" cy="237744"/>
          </a:xfrm>
          <a:prstGeom prst="rect">
            <a:avLst/>
          </a:prstGeom>
          <a:noFill/>
          <a:ln/>
        </p:spPr>
        <p:txBody>
          <a:bodyPr wrap="square" lIns="0" tIns="0" rIns="0" bIns="0" rtlCol="0" anchor="ctr"/>
          <a:lstStyle/>
          <a:p>
            <a:pPr marL="0" indent="0">
              <a:buNone/>
            </a:pPr>
            <a:r>
              <a:rPr lang="en-US" sz="950" dirty="0">
                <a:solidFill>
                  <a:srgbClr val="E2EEF4"/>
                </a:solidFill>
                <a:latin typeface="Calibri" pitchFamily="34" charset="0"/>
                <a:ea typeface="Calibri" pitchFamily="34" charset="-122"/>
                <a:cs typeface="Calibri" pitchFamily="34" charset="-120"/>
              </a:rPr>
              <a:t>2025, Andhra Pradesh</a:t>
            </a:r>
            <a:endParaRPr lang="en-US" sz="950" dirty="0"/>
          </a:p>
        </p:txBody>
      </p:sp>
      <p:sp>
        <p:nvSpPr>
          <p:cNvPr id="23" name="Shape 21"/>
          <p:cNvSpPr/>
          <p:nvPr/>
        </p:nvSpPr>
        <p:spPr>
          <a:xfrm>
            <a:off x="228600" y="2779776"/>
            <a:ext cx="4114800" cy="384048"/>
          </a:xfrm>
          <a:prstGeom prst="rect">
            <a:avLst/>
          </a:prstGeom>
          <a:solidFill>
            <a:srgbClr val="0A1F35"/>
          </a:solidFill>
          <a:ln w="12700">
            <a:solidFill>
              <a:srgbClr val="0A7EA4"/>
            </a:solidFill>
            <a:prstDash val="solid"/>
          </a:ln>
        </p:spPr>
        <p:txBody>
          <a:bodyPr/>
          <a:lstStyle/>
          <a:p>
            <a:endParaRPr lang="en-IN"/>
          </a:p>
        </p:txBody>
      </p:sp>
      <p:sp>
        <p:nvSpPr>
          <p:cNvPr id="24" name="Text 22"/>
          <p:cNvSpPr/>
          <p:nvPr/>
        </p:nvSpPr>
        <p:spPr>
          <a:xfrm>
            <a:off x="320040" y="2852928"/>
            <a:ext cx="1188720" cy="237744"/>
          </a:xfrm>
          <a:prstGeom prst="rect">
            <a:avLst/>
          </a:prstGeom>
          <a:noFill/>
          <a:ln/>
        </p:spPr>
        <p:txBody>
          <a:bodyPr wrap="square" lIns="0" tIns="0" rIns="0" bIns="0" rtlCol="0" anchor="ctr"/>
          <a:lstStyle/>
          <a:p>
            <a:pPr marL="0" indent="0">
              <a:buNone/>
            </a:pPr>
            <a:r>
              <a:rPr lang="en-US" sz="900" b="1" dirty="0">
                <a:solidFill>
                  <a:srgbClr val="1AABDA"/>
                </a:solidFill>
                <a:latin typeface="Calibri" pitchFamily="34" charset="0"/>
                <a:ea typeface="Calibri" pitchFamily="34" charset="-122"/>
                <a:cs typeface="Calibri" pitchFamily="34" charset="-120"/>
              </a:rPr>
              <a:t>Team:</a:t>
            </a:r>
            <a:endParaRPr lang="en-US" sz="900" dirty="0"/>
          </a:p>
        </p:txBody>
      </p:sp>
      <p:sp>
        <p:nvSpPr>
          <p:cNvPr id="25" name="Text 23"/>
          <p:cNvSpPr/>
          <p:nvPr/>
        </p:nvSpPr>
        <p:spPr>
          <a:xfrm>
            <a:off x="1554480" y="2852928"/>
            <a:ext cx="2697480" cy="237744"/>
          </a:xfrm>
          <a:prstGeom prst="rect">
            <a:avLst/>
          </a:prstGeom>
          <a:noFill/>
          <a:ln/>
        </p:spPr>
        <p:txBody>
          <a:bodyPr wrap="square" lIns="0" tIns="0" rIns="0" bIns="0" rtlCol="0" anchor="ctr"/>
          <a:lstStyle/>
          <a:p>
            <a:pPr marL="0" indent="0">
              <a:buNone/>
            </a:pPr>
            <a:r>
              <a:rPr lang="en-US" sz="950" dirty="0">
                <a:solidFill>
                  <a:srgbClr val="E2EEF4"/>
                </a:solidFill>
                <a:latin typeface="Calibri" pitchFamily="34" charset="0"/>
                <a:ea typeface="Calibri" pitchFamily="34" charset="-122"/>
                <a:cs typeface="Calibri" pitchFamily="34" charset="-120"/>
              </a:rPr>
              <a:t>4 Members</a:t>
            </a:r>
            <a:endParaRPr lang="en-US" sz="950" dirty="0"/>
          </a:p>
        </p:txBody>
      </p:sp>
      <p:sp>
        <p:nvSpPr>
          <p:cNvPr id="26" name="Shape 24"/>
          <p:cNvSpPr/>
          <p:nvPr/>
        </p:nvSpPr>
        <p:spPr>
          <a:xfrm>
            <a:off x="228600" y="3218688"/>
            <a:ext cx="4114800" cy="384048"/>
          </a:xfrm>
          <a:prstGeom prst="rect">
            <a:avLst/>
          </a:prstGeom>
          <a:solidFill>
            <a:srgbClr val="0D1B2A"/>
          </a:solidFill>
          <a:ln w="12700">
            <a:solidFill>
              <a:srgbClr val="0A7EA4"/>
            </a:solidFill>
            <a:prstDash val="solid"/>
          </a:ln>
        </p:spPr>
        <p:txBody>
          <a:bodyPr/>
          <a:lstStyle/>
          <a:p>
            <a:endParaRPr lang="en-IN"/>
          </a:p>
        </p:txBody>
      </p:sp>
      <p:sp>
        <p:nvSpPr>
          <p:cNvPr id="27" name="Text 25"/>
          <p:cNvSpPr/>
          <p:nvPr/>
        </p:nvSpPr>
        <p:spPr>
          <a:xfrm>
            <a:off x="320040" y="3291840"/>
            <a:ext cx="1188720" cy="237744"/>
          </a:xfrm>
          <a:prstGeom prst="rect">
            <a:avLst/>
          </a:prstGeom>
          <a:noFill/>
          <a:ln/>
        </p:spPr>
        <p:txBody>
          <a:bodyPr wrap="square" lIns="0" tIns="0" rIns="0" bIns="0" rtlCol="0" anchor="ctr"/>
          <a:lstStyle/>
          <a:p>
            <a:pPr marL="0" indent="0">
              <a:buNone/>
            </a:pPr>
            <a:r>
              <a:rPr lang="en-US" sz="900" b="1" dirty="0">
                <a:solidFill>
                  <a:srgbClr val="1AABDA"/>
                </a:solidFill>
                <a:latin typeface="Calibri" pitchFamily="34" charset="0"/>
                <a:ea typeface="Calibri" pitchFamily="34" charset="-122"/>
                <a:cs typeface="Calibri" pitchFamily="34" charset="-120"/>
              </a:rPr>
              <a:t>Location:</a:t>
            </a:r>
            <a:endParaRPr lang="en-US" sz="900" dirty="0"/>
          </a:p>
        </p:txBody>
      </p:sp>
      <p:sp>
        <p:nvSpPr>
          <p:cNvPr id="28" name="Text 26"/>
          <p:cNvSpPr/>
          <p:nvPr/>
        </p:nvSpPr>
        <p:spPr>
          <a:xfrm>
            <a:off x="1554480" y="3291840"/>
            <a:ext cx="2697480" cy="237744"/>
          </a:xfrm>
          <a:prstGeom prst="rect">
            <a:avLst/>
          </a:prstGeom>
          <a:noFill/>
          <a:ln/>
        </p:spPr>
        <p:txBody>
          <a:bodyPr wrap="square" lIns="0" tIns="0" rIns="0" bIns="0" rtlCol="0" anchor="ctr"/>
          <a:lstStyle/>
          <a:p>
            <a:pPr marL="0" indent="0">
              <a:buNone/>
            </a:pPr>
            <a:r>
              <a:rPr lang="en-US" sz="950" dirty="0">
                <a:solidFill>
                  <a:srgbClr val="E2EEF4"/>
                </a:solidFill>
                <a:latin typeface="Calibri" pitchFamily="34" charset="0"/>
                <a:ea typeface="Calibri" pitchFamily="34" charset="-122"/>
                <a:cs typeface="Calibri" pitchFamily="34" charset="-120"/>
              </a:rPr>
              <a:t>Chatrai/Arugolanupeta, Eluru District, AP</a:t>
            </a:r>
            <a:endParaRPr lang="en-US" sz="950" dirty="0"/>
          </a:p>
        </p:txBody>
      </p:sp>
      <p:sp>
        <p:nvSpPr>
          <p:cNvPr id="29" name="Shape 27"/>
          <p:cNvSpPr/>
          <p:nvPr/>
        </p:nvSpPr>
        <p:spPr>
          <a:xfrm>
            <a:off x="228600" y="3657600"/>
            <a:ext cx="4114800" cy="384048"/>
          </a:xfrm>
          <a:prstGeom prst="rect">
            <a:avLst/>
          </a:prstGeom>
          <a:solidFill>
            <a:srgbClr val="0A1F35"/>
          </a:solidFill>
          <a:ln w="12700">
            <a:solidFill>
              <a:srgbClr val="0A7EA4"/>
            </a:solidFill>
            <a:prstDash val="solid"/>
          </a:ln>
        </p:spPr>
        <p:txBody>
          <a:bodyPr/>
          <a:lstStyle/>
          <a:p>
            <a:endParaRPr lang="en-IN"/>
          </a:p>
        </p:txBody>
      </p:sp>
      <p:sp>
        <p:nvSpPr>
          <p:cNvPr id="30" name="Text 28"/>
          <p:cNvSpPr/>
          <p:nvPr/>
        </p:nvSpPr>
        <p:spPr>
          <a:xfrm>
            <a:off x="320040" y="3730752"/>
            <a:ext cx="1188720" cy="237744"/>
          </a:xfrm>
          <a:prstGeom prst="rect">
            <a:avLst/>
          </a:prstGeom>
          <a:noFill/>
          <a:ln/>
        </p:spPr>
        <p:txBody>
          <a:bodyPr wrap="square" lIns="0" tIns="0" rIns="0" bIns="0" rtlCol="0" anchor="ctr"/>
          <a:lstStyle/>
          <a:p>
            <a:pPr marL="0" indent="0">
              <a:buNone/>
            </a:pPr>
            <a:r>
              <a:rPr lang="en-US" sz="900" b="1" dirty="0">
                <a:solidFill>
                  <a:srgbClr val="1AABDA"/>
                </a:solidFill>
                <a:latin typeface="Calibri" pitchFamily="34" charset="0"/>
                <a:ea typeface="Calibri" pitchFamily="34" charset="-122"/>
                <a:cs typeface="Calibri" pitchFamily="34" charset="-120"/>
              </a:rPr>
              <a:t>Website:</a:t>
            </a:r>
            <a:endParaRPr lang="en-US" sz="900" dirty="0"/>
          </a:p>
        </p:txBody>
      </p:sp>
      <p:sp>
        <p:nvSpPr>
          <p:cNvPr id="31" name="Text 29"/>
          <p:cNvSpPr/>
          <p:nvPr/>
        </p:nvSpPr>
        <p:spPr>
          <a:xfrm>
            <a:off x="1554480" y="3730752"/>
            <a:ext cx="2697480" cy="237744"/>
          </a:xfrm>
          <a:prstGeom prst="rect">
            <a:avLst/>
          </a:prstGeom>
          <a:noFill/>
          <a:ln/>
        </p:spPr>
        <p:txBody>
          <a:bodyPr wrap="square" lIns="0" tIns="0" rIns="0" bIns="0" rtlCol="0" anchor="ctr"/>
          <a:lstStyle/>
          <a:p>
            <a:pPr marL="0" indent="0">
              <a:buNone/>
            </a:pPr>
            <a:r>
              <a:rPr lang="en-US" sz="950" dirty="0">
                <a:solidFill>
                  <a:srgbClr val="E2EEF4"/>
                </a:solidFill>
                <a:latin typeface="Calibri" pitchFamily="34" charset="0"/>
                <a:ea typeface="Calibri" pitchFamily="34" charset="-122"/>
                <a:cs typeface="Calibri" pitchFamily="34" charset="-120"/>
              </a:rPr>
              <a:t>hierachai.com</a:t>
            </a:r>
            <a:endParaRPr lang="en-US" sz="950" dirty="0"/>
          </a:p>
        </p:txBody>
      </p:sp>
      <p:sp>
        <p:nvSpPr>
          <p:cNvPr id="32" name="Shape 30"/>
          <p:cNvSpPr/>
          <p:nvPr/>
        </p:nvSpPr>
        <p:spPr>
          <a:xfrm>
            <a:off x="228600" y="4096512"/>
            <a:ext cx="4114800" cy="384048"/>
          </a:xfrm>
          <a:prstGeom prst="rect">
            <a:avLst/>
          </a:prstGeom>
          <a:solidFill>
            <a:srgbClr val="0D1B2A"/>
          </a:solidFill>
          <a:ln w="12700">
            <a:solidFill>
              <a:srgbClr val="0A7EA4"/>
            </a:solidFill>
            <a:prstDash val="solid"/>
          </a:ln>
        </p:spPr>
        <p:txBody>
          <a:bodyPr/>
          <a:lstStyle/>
          <a:p>
            <a:endParaRPr lang="en-IN"/>
          </a:p>
        </p:txBody>
      </p:sp>
      <p:sp>
        <p:nvSpPr>
          <p:cNvPr id="33" name="Text 31"/>
          <p:cNvSpPr/>
          <p:nvPr/>
        </p:nvSpPr>
        <p:spPr>
          <a:xfrm>
            <a:off x="320040" y="4169664"/>
            <a:ext cx="1188720" cy="237744"/>
          </a:xfrm>
          <a:prstGeom prst="rect">
            <a:avLst/>
          </a:prstGeom>
          <a:noFill/>
          <a:ln/>
        </p:spPr>
        <p:txBody>
          <a:bodyPr wrap="square" lIns="0" tIns="0" rIns="0" bIns="0" rtlCol="0" anchor="ctr"/>
          <a:lstStyle/>
          <a:p>
            <a:pPr marL="0" indent="0">
              <a:buNone/>
            </a:pPr>
            <a:r>
              <a:rPr lang="en-US" sz="900" b="1" dirty="0">
                <a:solidFill>
                  <a:srgbClr val="1AABDA"/>
                </a:solidFill>
                <a:latin typeface="Calibri" pitchFamily="34" charset="0"/>
                <a:ea typeface="Calibri" pitchFamily="34" charset="-122"/>
                <a:cs typeface="Calibri" pitchFamily="34" charset="-120"/>
              </a:rPr>
              <a:t>Contact:</a:t>
            </a:r>
            <a:endParaRPr lang="en-US" sz="900" dirty="0"/>
          </a:p>
        </p:txBody>
      </p:sp>
      <p:sp>
        <p:nvSpPr>
          <p:cNvPr id="34" name="Text 32"/>
          <p:cNvSpPr/>
          <p:nvPr/>
        </p:nvSpPr>
        <p:spPr>
          <a:xfrm>
            <a:off x="1554480" y="4169664"/>
            <a:ext cx="2697480" cy="237744"/>
          </a:xfrm>
          <a:prstGeom prst="rect">
            <a:avLst/>
          </a:prstGeom>
          <a:noFill/>
          <a:ln/>
        </p:spPr>
        <p:txBody>
          <a:bodyPr wrap="square" lIns="0" tIns="0" rIns="0" bIns="0" rtlCol="0" anchor="ctr"/>
          <a:lstStyle/>
          <a:p>
            <a:pPr marL="0" indent="0">
              <a:buNone/>
            </a:pPr>
            <a:r>
              <a:rPr lang="en-US" sz="950" dirty="0">
                <a:solidFill>
                  <a:srgbClr val="E2EEF4"/>
                </a:solidFill>
                <a:latin typeface="Calibri" pitchFamily="34" charset="0"/>
                <a:ea typeface="Calibri" pitchFamily="34" charset="-122"/>
                <a:cs typeface="Calibri" pitchFamily="34" charset="-120"/>
              </a:rPr>
              <a:t>9494762558 (WhatsApp)</a:t>
            </a:r>
            <a:endParaRPr lang="en-US" sz="950" dirty="0"/>
          </a:p>
        </p:txBody>
      </p:sp>
      <p:sp>
        <p:nvSpPr>
          <p:cNvPr id="35" name="Text 33"/>
          <p:cNvSpPr/>
          <p:nvPr/>
        </p:nvSpPr>
        <p:spPr>
          <a:xfrm>
            <a:off x="4663440" y="1901952"/>
            <a:ext cx="4206240" cy="256032"/>
          </a:xfrm>
          <a:prstGeom prst="rect">
            <a:avLst/>
          </a:prstGeom>
          <a:noFill/>
          <a:ln/>
        </p:spPr>
        <p:txBody>
          <a:bodyPr wrap="square" lIns="0" tIns="0" rIns="0" bIns="0" rtlCol="0" anchor="ctr"/>
          <a:lstStyle/>
          <a:p>
            <a:pPr marL="0" indent="0">
              <a:buNone/>
            </a:pPr>
            <a:r>
              <a:rPr lang="en-US" sz="1100" b="1" dirty="0">
                <a:solidFill>
                  <a:srgbClr val="FCD34D"/>
                </a:solidFill>
                <a:latin typeface="Calibri" pitchFamily="34" charset="0"/>
                <a:ea typeface="Calibri" pitchFamily="34" charset="-122"/>
                <a:cs typeface="Calibri" pitchFamily="34" charset="-120"/>
              </a:rPr>
              <a:t>Technology Stack</a:t>
            </a:r>
            <a:endParaRPr lang="en-US" sz="1100" dirty="0"/>
          </a:p>
        </p:txBody>
      </p:sp>
      <p:sp>
        <p:nvSpPr>
          <p:cNvPr id="36" name="Shape 34"/>
          <p:cNvSpPr/>
          <p:nvPr/>
        </p:nvSpPr>
        <p:spPr>
          <a:xfrm>
            <a:off x="4663440" y="2212848"/>
            <a:ext cx="201168" cy="201168"/>
          </a:xfrm>
          <a:prstGeom prst="rect">
            <a:avLst/>
          </a:prstGeom>
          <a:solidFill>
            <a:srgbClr val="0A7EA4"/>
          </a:solidFill>
          <a:ln w="12700">
            <a:solidFill>
              <a:srgbClr val="0A7EA4"/>
            </a:solidFill>
            <a:prstDash val="solid"/>
          </a:ln>
        </p:spPr>
        <p:txBody>
          <a:bodyPr/>
          <a:lstStyle/>
          <a:p>
            <a:endParaRPr lang="en-IN"/>
          </a:p>
        </p:txBody>
      </p:sp>
      <p:sp>
        <p:nvSpPr>
          <p:cNvPr id="37" name="Text 35"/>
          <p:cNvSpPr/>
          <p:nvPr/>
        </p:nvSpPr>
        <p:spPr>
          <a:xfrm>
            <a:off x="4937760" y="2221992"/>
            <a:ext cx="3931920" cy="237744"/>
          </a:xfrm>
          <a:prstGeom prst="rect">
            <a:avLst/>
          </a:prstGeom>
          <a:noFill/>
          <a:ln/>
        </p:spPr>
        <p:txBody>
          <a:bodyPr wrap="square" lIns="0" tIns="0" rIns="0" bIns="0" rtlCol="0" anchor="ctr"/>
          <a:lstStyle/>
          <a:p>
            <a:pPr marL="0" indent="0">
              <a:buNone/>
            </a:pPr>
            <a:r>
              <a:rPr lang="en-US" sz="950" dirty="0">
                <a:solidFill>
                  <a:srgbClr val="E2EEF4"/>
                </a:solidFill>
                <a:latin typeface="Calibri" pitchFamily="34" charset="0"/>
                <a:ea typeface="Calibri" pitchFamily="34" charset="-122"/>
                <a:cs typeface="Calibri" pitchFamily="34" charset="-120"/>
              </a:rPr>
              <a:t>Python · FastAPI · PostgreSQL · Redis</a:t>
            </a:r>
            <a:endParaRPr lang="en-US" sz="950" dirty="0"/>
          </a:p>
        </p:txBody>
      </p:sp>
      <p:sp>
        <p:nvSpPr>
          <p:cNvPr id="38" name="Shape 36"/>
          <p:cNvSpPr/>
          <p:nvPr/>
        </p:nvSpPr>
        <p:spPr>
          <a:xfrm>
            <a:off x="4663440" y="2560320"/>
            <a:ext cx="201168" cy="201168"/>
          </a:xfrm>
          <a:prstGeom prst="rect">
            <a:avLst/>
          </a:prstGeom>
          <a:solidFill>
            <a:srgbClr val="0A7EA4"/>
          </a:solidFill>
          <a:ln w="12700">
            <a:solidFill>
              <a:srgbClr val="0A7EA4"/>
            </a:solidFill>
            <a:prstDash val="solid"/>
          </a:ln>
        </p:spPr>
        <p:txBody>
          <a:bodyPr/>
          <a:lstStyle/>
          <a:p>
            <a:endParaRPr lang="en-IN"/>
          </a:p>
        </p:txBody>
      </p:sp>
      <p:sp>
        <p:nvSpPr>
          <p:cNvPr id="39" name="Text 37"/>
          <p:cNvSpPr/>
          <p:nvPr/>
        </p:nvSpPr>
        <p:spPr>
          <a:xfrm>
            <a:off x="4937760" y="2569464"/>
            <a:ext cx="3931920" cy="237744"/>
          </a:xfrm>
          <a:prstGeom prst="rect">
            <a:avLst/>
          </a:prstGeom>
          <a:noFill/>
          <a:ln/>
        </p:spPr>
        <p:txBody>
          <a:bodyPr wrap="square" lIns="0" tIns="0" rIns="0" bIns="0" rtlCol="0" anchor="ctr"/>
          <a:lstStyle/>
          <a:p>
            <a:pPr marL="0" indent="0">
              <a:buNone/>
            </a:pPr>
            <a:r>
              <a:rPr lang="en-US" sz="950" dirty="0">
                <a:solidFill>
                  <a:srgbClr val="E2EEF4"/>
                </a:solidFill>
                <a:latin typeface="Calibri" pitchFamily="34" charset="0"/>
                <a:ea typeface="Calibri" pitchFamily="34" charset="-122"/>
                <a:cs typeface="Calibri" pitchFamily="34" charset="-120"/>
              </a:rPr>
              <a:t>Multi-Agent AI · LLM Integration</a:t>
            </a:r>
            <a:endParaRPr lang="en-US" sz="950" dirty="0"/>
          </a:p>
        </p:txBody>
      </p:sp>
      <p:sp>
        <p:nvSpPr>
          <p:cNvPr id="40" name="Shape 38"/>
          <p:cNvSpPr/>
          <p:nvPr/>
        </p:nvSpPr>
        <p:spPr>
          <a:xfrm>
            <a:off x="4663440" y="2907792"/>
            <a:ext cx="201168" cy="201168"/>
          </a:xfrm>
          <a:prstGeom prst="rect">
            <a:avLst/>
          </a:prstGeom>
          <a:solidFill>
            <a:srgbClr val="0A7EA4"/>
          </a:solidFill>
          <a:ln w="12700">
            <a:solidFill>
              <a:srgbClr val="0A7EA4"/>
            </a:solidFill>
            <a:prstDash val="solid"/>
          </a:ln>
        </p:spPr>
        <p:txBody>
          <a:bodyPr/>
          <a:lstStyle/>
          <a:p>
            <a:endParaRPr lang="en-IN"/>
          </a:p>
        </p:txBody>
      </p:sp>
      <p:sp>
        <p:nvSpPr>
          <p:cNvPr id="41" name="Text 39"/>
          <p:cNvSpPr/>
          <p:nvPr/>
        </p:nvSpPr>
        <p:spPr>
          <a:xfrm>
            <a:off x="4937760" y="2916936"/>
            <a:ext cx="3931920" cy="237744"/>
          </a:xfrm>
          <a:prstGeom prst="rect">
            <a:avLst/>
          </a:prstGeom>
          <a:noFill/>
          <a:ln/>
        </p:spPr>
        <p:txBody>
          <a:bodyPr wrap="square" lIns="0" tIns="0" rIns="0" bIns="0" rtlCol="0" anchor="ctr"/>
          <a:lstStyle/>
          <a:p>
            <a:pPr marL="0" indent="0">
              <a:buNone/>
            </a:pPr>
            <a:r>
              <a:rPr lang="en-US" sz="950" dirty="0">
                <a:solidFill>
                  <a:srgbClr val="E2EEF4"/>
                </a:solidFill>
                <a:latin typeface="Calibri" pitchFamily="34" charset="0"/>
                <a:ea typeface="Calibri" pitchFamily="34" charset="-122"/>
                <a:cs typeface="Calibri" pitchFamily="34" charset="-120"/>
              </a:rPr>
              <a:t>Streamlit · React · Leaflet.js</a:t>
            </a:r>
            <a:endParaRPr lang="en-US" sz="950" dirty="0"/>
          </a:p>
        </p:txBody>
      </p:sp>
      <p:sp>
        <p:nvSpPr>
          <p:cNvPr id="42" name="Shape 40"/>
          <p:cNvSpPr/>
          <p:nvPr/>
        </p:nvSpPr>
        <p:spPr>
          <a:xfrm>
            <a:off x="4663440" y="3255264"/>
            <a:ext cx="201168" cy="201168"/>
          </a:xfrm>
          <a:prstGeom prst="rect">
            <a:avLst/>
          </a:prstGeom>
          <a:solidFill>
            <a:srgbClr val="0A7EA4"/>
          </a:solidFill>
          <a:ln w="12700">
            <a:solidFill>
              <a:srgbClr val="0A7EA4"/>
            </a:solidFill>
            <a:prstDash val="solid"/>
          </a:ln>
        </p:spPr>
        <p:txBody>
          <a:bodyPr/>
          <a:lstStyle/>
          <a:p>
            <a:endParaRPr lang="en-IN"/>
          </a:p>
        </p:txBody>
      </p:sp>
      <p:sp>
        <p:nvSpPr>
          <p:cNvPr id="43" name="Text 41"/>
          <p:cNvSpPr/>
          <p:nvPr/>
        </p:nvSpPr>
        <p:spPr>
          <a:xfrm>
            <a:off x="4937760" y="3264408"/>
            <a:ext cx="3931920" cy="237744"/>
          </a:xfrm>
          <a:prstGeom prst="rect">
            <a:avLst/>
          </a:prstGeom>
          <a:noFill/>
          <a:ln/>
        </p:spPr>
        <p:txBody>
          <a:bodyPr wrap="square" lIns="0" tIns="0" rIns="0" bIns="0" rtlCol="0" anchor="ctr"/>
          <a:lstStyle/>
          <a:p>
            <a:pPr marL="0" indent="0">
              <a:buNone/>
            </a:pPr>
            <a:r>
              <a:rPr lang="en-US" sz="950" dirty="0">
                <a:solidFill>
                  <a:srgbClr val="E2EEF4"/>
                </a:solidFill>
                <a:latin typeface="Calibri" pitchFamily="34" charset="0"/>
                <a:ea typeface="Calibri" pitchFamily="34" charset="-122"/>
                <a:cs typeface="Calibri" pitchFamily="34" charset="-120"/>
              </a:rPr>
              <a:t>Sentinel-1 SAR · Google Earth Engine</a:t>
            </a:r>
            <a:endParaRPr lang="en-US" sz="950" dirty="0"/>
          </a:p>
        </p:txBody>
      </p:sp>
      <p:sp>
        <p:nvSpPr>
          <p:cNvPr id="44" name="Shape 42"/>
          <p:cNvSpPr/>
          <p:nvPr/>
        </p:nvSpPr>
        <p:spPr>
          <a:xfrm>
            <a:off x="4663440" y="3602736"/>
            <a:ext cx="201168" cy="201168"/>
          </a:xfrm>
          <a:prstGeom prst="rect">
            <a:avLst/>
          </a:prstGeom>
          <a:solidFill>
            <a:srgbClr val="0A7EA4"/>
          </a:solidFill>
          <a:ln w="12700">
            <a:solidFill>
              <a:srgbClr val="0A7EA4"/>
            </a:solidFill>
            <a:prstDash val="solid"/>
          </a:ln>
        </p:spPr>
        <p:txBody>
          <a:bodyPr/>
          <a:lstStyle/>
          <a:p>
            <a:endParaRPr lang="en-IN"/>
          </a:p>
        </p:txBody>
      </p:sp>
      <p:sp>
        <p:nvSpPr>
          <p:cNvPr id="45" name="Text 43"/>
          <p:cNvSpPr/>
          <p:nvPr/>
        </p:nvSpPr>
        <p:spPr>
          <a:xfrm>
            <a:off x="4937760" y="3611880"/>
            <a:ext cx="3931920" cy="237744"/>
          </a:xfrm>
          <a:prstGeom prst="rect">
            <a:avLst/>
          </a:prstGeom>
          <a:noFill/>
          <a:ln/>
        </p:spPr>
        <p:txBody>
          <a:bodyPr wrap="square" lIns="0" tIns="0" rIns="0" bIns="0" rtlCol="0" anchor="ctr"/>
          <a:lstStyle/>
          <a:p>
            <a:pPr marL="0" indent="0">
              <a:buNone/>
            </a:pPr>
            <a:r>
              <a:rPr lang="en-US" sz="950" dirty="0">
                <a:solidFill>
                  <a:srgbClr val="E2EEF4"/>
                </a:solidFill>
                <a:latin typeface="Calibri" pitchFamily="34" charset="0"/>
                <a:ea typeface="Calibri" pitchFamily="34" charset="-122"/>
                <a:cs typeface="Calibri" pitchFamily="34" charset="-120"/>
              </a:rPr>
              <a:t>XGBoost · SHAP · Scikit-learn</a:t>
            </a:r>
            <a:endParaRPr lang="en-US" sz="950" dirty="0"/>
          </a:p>
        </p:txBody>
      </p:sp>
      <p:sp>
        <p:nvSpPr>
          <p:cNvPr id="46" name="Text 44"/>
          <p:cNvSpPr/>
          <p:nvPr/>
        </p:nvSpPr>
        <p:spPr>
          <a:xfrm>
            <a:off x="4663440" y="3913409"/>
            <a:ext cx="4206240" cy="256032"/>
          </a:xfrm>
          <a:prstGeom prst="rect">
            <a:avLst/>
          </a:prstGeom>
          <a:noFill/>
          <a:ln/>
        </p:spPr>
        <p:txBody>
          <a:bodyPr wrap="square" lIns="0" tIns="0" rIns="0" bIns="0" rtlCol="0" anchor="ctr"/>
          <a:lstStyle/>
          <a:p>
            <a:pPr marL="0" indent="0">
              <a:buNone/>
            </a:pPr>
            <a:r>
              <a:rPr lang="en-US" sz="1100" b="1" dirty="0">
                <a:solidFill>
                  <a:srgbClr val="FCD34D"/>
                </a:solidFill>
                <a:latin typeface="Calibri" pitchFamily="34" charset="0"/>
                <a:ea typeface="Calibri" pitchFamily="34" charset="-122"/>
                <a:cs typeface="Calibri" pitchFamily="34" charset="-120"/>
              </a:rPr>
              <a:t>Recognition &amp; Legal</a:t>
            </a:r>
            <a:endParaRPr lang="en-US" sz="1100" dirty="0"/>
          </a:p>
        </p:txBody>
      </p:sp>
      <p:sp>
        <p:nvSpPr>
          <p:cNvPr id="47" name="Shape 45"/>
          <p:cNvSpPr/>
          <p:nvPr/>
        </p:nvSpPr>
        <p:spPr>
          <a:xfrm>
            <a:off x="4663440" y="4202560"/>
            <a:ext cx="201168" cy="201168"/>
          </a:xfrm>
          <a:prstGeom prst="rect">
            <a:avLst/>
          </a:prstGeom>
          <a:solidFill>
            <a:srgbClr val="F59E0B"/>
          </a:solidFill>
          <a:ln w="12700">
            <a:solidFill>
              <a:srgbClr val="F59E0B"/>
            </a:solidFill>
            <a:prstDash val="solid"/>
          </a:ln>
        </p:spPr>
        <p:txBody>
          <a:bodyPr/>
          <a:lstStyle/>
          <a:p>
            <a:endParaRPr lang="en-IN"/>
          </a:p>
        </p:txBody>
      </p:sp>
      <p:sp>
        <p:nvSpPr>
          <p:cNvPr id="48" name="Text 46"/>
          <p:cNvSpPr/>
          <p:nvPr/>
        </p:nvSpPr>
        <p:spPr>
          <a:xfrm>
            <a:off x="4937760" y="4196873"/>
            <a:ext cx="3931920" cy="219456"/>
          </a:xfrm>
          <a:prstGeom prst="rect">
            <a:avLst/>
          </a:prstGeom>
          <a:noFill/>
          <a:ln/>
        </p:spPr>
        <p:txBody>
          <a:bodyPr wrap="square" lIns="0" tIns="0" rIns="0" bIns="0" rtlCol="0" anchor="ctr"/>
          <a:lstStyle/>
          <a:p>
            <a:pPr marL="0" indent="0">
              <a:buNone/>
            </a:pPr>
            <a:r>
              <a:rPr lang="en-US" sz="950" dirty="0">
                <a:solidFill>
                  <a:srgbClr val="E2EEF4"/>
                </a:solidFill>
                <a:latin typeface="Calibri" pitchFamily="34" charset="0"/>
                <a:ea typeface="Calibri" pitchFamily="34" charset="-122"/>
                <a:cs typeface="Calibri" pitchFamily="34" charset="-120"/>
              </a:rPr>
              <a:t>DPIIT Recognised Startup · GST Registered</a:t>
            </a:r>
            <a:endParaRPr lang="en-US" sz="950" dirty="0"/>
          </a:p>
        </p:txBody>
      </p:sp>
      <p:sp>
        <p:nvSpPr>
          <p:cNvPr id="49" name="Shape 47"/>
          <p:cNvSpPr/>
          <p:nvPr/>
        </p:nvSpPr>
        <p:spPr>
          <a:xfrm>
            <a:off x="4663440" y="4485132"/>
            <a:ext cx="201168" cy="201168"/>
          </a:xfrm>
          <a:prstGeom prst="rect">
            <a:avLst/>
          </a:prstGeom>
          <a:solidFill>
            <a:srgbClr val="F59E0B"/>
          </a:solidFill>
          <a:ln w="12700">
            <a:solidFill>
              <a:srgbClr val="F59E0B"/>
            </a:solidFill>
            <a:prstDash val="solid"/>
          </a:ln>
        </p:spPr>
        <p:txBody>
          <a:bodyPr/>
          <a:lstStyle/>
          <a:p>
            <a:endParaRPr lang="en-IN"/>
          </a:p>
        </p:txBody>
      </p:sp>
      <p:sp>
        <p:nvSpPr>
          <p:cNvPr id="50" name="Text 48"/>
          <p:cNvSpPr/>
          <p:nvPr/>
        </p:nvSpPr>
        <p:spPr>
          <a:xfrm>
            <a:off x="4937760" y="4470970"/>
            <a:ext cx="3931920" cy="219456"/>
          </a:xfrm>
          <a:prstGeom prst="rect">
            <a:avLst/>
          </a:prstGeom>
          <a:noFill/>
          <a:ln/>
        </p:spPr>
        <p:txBody>
          <a:bodyPr wrap="square" lIns="0" tIns="0" rIns="0" bIns="0" rtlCol="0" anchor="ctr"/>
          <a:lstStyle/>
          <a:p>
            <a:pPr marL="0" indent="0">
              <a:buNone/>
            </a:pPr>
            <a:r>
              <a:rPr lang="en-US" sz="950" dirty="0">
                <a:solidFill>
                  <a:srgbClr val="E2EEF4"/>
                </a:solidFill>
                <a:latin typeface="Calibri" pitchFamily="34" charset="0"/>
                <a:ea typeface="Calibri" pitchFamily="34" charset="-122"/>
                <a:cs typeface="Calibri" pitchFamily="34" charset="-120"/>
              </a:rPr>
              <a:t>Patent application filed (details confidential)</a:t>
            </a:r>
            <a:endParaRPr lang="en-US" sz="950" dirty="0"/>
          </a:p>
        </p:txBody>
      </p:sp>
      <p:sp>
        <p:nvSpPr>
          <p:cNvPr id="51" name="Shape 49"/>
          <p:cNvSpPr/>
          <p:nvPr/>
        </p:nvSpPr>
        <p:spPr>
          <a:xfrm>
            <a:off x="0" y="4709160"/>
            <a:ext cx="9144000" cy="109728"/>
          </a:xfrm>
          <a:prstGeom prst="rect">
            <a:avLst/>
          </a:prstGeom>
          <a:solidFill>
            <a:srgbClr val="065A7A"/>
          </a:solidFill>
          <a:ln w="12700">
            <a:solidFill>
              <a:srgbClr val="065A7A"/>
            </a:solidFill>
            <a:prstDash val="solid"/>
          </a:ln>
        </p:spPr>
        <p:txBody>
          <a:bodyPr/>
          <a:lstStyle/>
          <a:p>
            <a:endParaRPr lang="en-IN"/>
          </a:p>
        </p:txBody>
      </p:sp>
      <p:sp>
        <p:nvSpPr>
          <p:cNvPr id="52" name="Text 50"/>
          <p:cNvSpPr/>
          <p:nvPr/>
        </p:nvSpPr>
        <p:spPr>
          <a:xfrm>
            <a:off x="228600" y="4672806"/>
            <a:ext cx="8686800" cy="164369"/>
          </a:xfrm>
          <a:prstGeom prst="rect">
            <a:avLst/>
          </a:prstGeom>
          <a:noFill/>
          <a:ln/>
        </p:spPr>
        <p:txBody>
          <a:bodyPr wrap="square" lIns="0" tIns="0" rIns="0" bIns="0" rtlCol="0" anchor="ctr"/>
          <a:lstStyle/>
          <a:p>
            <a:pPr marL="0" indent="0">
              <a:buNone/>
            </a:pPr>
            <a:r>
              <a:rPr lang="en-US" sz="850" i="1" dirty="0">
                <a:solidFill>
                  <a:srgbClr val="F59E0B"/>
                </a:solidFill>
                <a:latin typeface="Calibri" pitchFamily="34" charset="0"/>
                <a:ea typeface="Calibri" pitchFamily="34" charset="-122"/>
                <a:cs typeface="Calibri" pitchFamily="34" charset="-120"/>
              </a:rPr>
              <a:t>🌾  Rooted in farming — building AI for the communities we come from.  ·  hierachai.com  ·  — RTGS AP Hackathon 2025</a:t>
            </a:r>
            <a:endParaRPr lang="en-US" sz="850" dirty="0"/>
          </a:p>
        </p:txBody>
      </p:sp>
      <p:sp>
        <p:nvSpPr>
          <p:cNvPr id="53" name="Shape 51"/>
          <p:cNvSpPr/>
          <p:nvPr/>
        </p:nvSpPr>
        <p:spPr>
          <a:xfrm>
            <a:off x="0" y="4818888"/>
            <a:ext cx="9144000" cy="324612"/>
          </a:xfrm>
          <a:prstGeom prst="rect">
            <a:avLst/>
          </a:prstGeom>
          <a:solidFill>
            <a:srgbClr val="0A1628"/>
          </a:solidFill>
          <a:ln w="12700">
            <a:solidFill>
              <a:srgbClr val="0A1628"/>
            </a:solidFill>
            <a:prstDash val="solid"/>
          </a:ln>
        </p:spPr>
        <p:txBody>
          <a:bodyPr/>
          <a:lstStyle/>
          <a:p>
            <a:endParaRPr lang="en-IN"/>
          </a:p>
        </p:txBody>
      </p:sp>
      <p:sp>
        <p:nvSpPr>
          <p:cNvPr id="54" name="Text 52"/>
          <p:cNvSpPr/>
          <p:nvPr/>
        </p:nvSpPr>
        <p:spPr>
          <a:xfrm>
            <a:off x="274320" y="4837176"/>
            <a:ext cx="7772400" cy="274320"/>
          </a:xfrm>
          <a:prstGeom prst="rect">
            <a:avLst/>
          </a:prstGeom>
          <a:noFill/>
          <a:ln/>
        </p:spPr>
        <p:txBody>
          <a:bodyPr wrap="square" lIns="0" tIns="0" rIns="0" bIns="0" rtlCol="0" anchor="ctr"/>
          <a:lstStyle/>
          <a:p>
            <a:pPr marL="0" indent="0">
              <a:buNone/>
            </a:pPr>
            <a:r>
              <a:rPr lang="en-US" sz="800" dirty="0">
                <a:solidFill>
                  <a:srgbClr val="1AABDA"/>
                </a:solidFill>
                <a:latin typeface="Calibri" pitchFamily="34" charset="0"/>
                <a:ea typeface="Calibri" pitchFamily="34" charset="-122"/>
                <a:cs typeface="Calibri" pitchFamily="34" charset="-120"/>
              </a:rPr>
              <a:t>AP-Wrims Early Warning System  |  HierachAI Technologies Pvt. Ltd.  |  DPIIT Recognised · Women-Led · Andhra Pradesh</a:t>
            </a:r>
            <a:endParaRPr lang="en-US" sz="800" dirty="0"/>
          </a:p>
        </p:txBody>
      </p:sp>
      <p:sp>
        <p:nvSpPr>
          <p:cNvPr id="55" name="Text 53"/>
          <p:cNvSpPr/>
          <p:nvPr/>
        </p:nvSpPr>
        <p:spPr>
          <a:xfrm>
            <a:off x="8046720" y="4837176"/>
            <a:ext cx="914400" cy="274320"/>
          </a:xfrm>
          <a:prstGeom prst="rect">
            <a:avLst/>
          </a:prstGeom>
          <a:noFill/>
          <a:ln/>
        </p:spPr>
        <p:txBody>
          <a:bodyPr wrap="square" lIns="0" tIns="0" rIns="0" bIns="0" rtlCol="0" anchor="ctr"/>
          <a:lstStyle/>
          <a:p>
            <a:pPr marL="0" indent="0" algn="r">
              <a:buNone/>
            </a:pPr>
            <a:r>
              <a:rPr lang="en-US" sz="800" dirty="0">
                <a:solidFill>
                  <a:srgbClr val="FCD34D"/>
                </a:solidFill>
                <a:latin typeface="Calibri" pitchFamily="34" charset="0"/>
                <a:ea typeface="Calibri" pitchFamily="34" charset="-122"/>
                <a:cs typeface="Calibri" pitchFamily="34" charset="-120"/>
              </a:rPr>
              <a:t>16 / 16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2818</Words>
  <Application>Microsoft Office PowerPoint</Application>
  <PresentationFormat>On-screen Show (16:9)</PresentationFormat>
  <Paragraphs>486</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AP-Wrims Early Warning System</dc:title>
  <dc:subject>PptxGenJS Presentation</dc:subject>
  <dc:creator>HierachAI Technologies Pvt. Ltd.</dc:creator>
  <cp:lastModifiedBy>Rajesh Eeda</cp:lastModifiedBy>
  <cp:revision>1</cp:revision>
  <dcterms:created xsi:type="dcterms:W3CDTF">2026-04-19T09:09:00Z</dcterms:created>
  <dcterms:modified xsi:type="dcterms:W3CDTF">2026-04-19T20:15:38Z</dcterms:modified>
</cp:coreProperties>
</file>